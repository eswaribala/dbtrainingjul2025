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autoCompressPictures="0">
  <p:sldMasterIdLst>
    <p:sldMasterId id="2147485431" r:id="rId1"/>
    <p:sldMasterId id="2147485382" r:id="rId2"/>
  </p:sldMasterIdLst>
  <p:notesMasterIdLst>
    <p:notesMasterId r:id="rId50"/>
  </p:notesMasterIdLst>
  <p:handoutMasterIdLst>
    <p:handoutMasterId r:id="rId51"/>
  </p:handoutMasterIdLst>
  <p:sldIdLst>
    <p:sldId id="345" r:id="rId3"/>
    <p:sldId id="400" r:id="rId4"/>
    <p:sldId id="401" r:id="rId5"/>
    <p:sldId id="402" r:id="rId6"/>
    <p:sldId id="417" r:id="rId7"/>
    <p:sldId id="436" r:id="rId8"/>
    <p:sldId id="437" r:id="rId9"/>
    <p:sldId id="456" r:id="rId10"/>
    <p:sldId id="457" r:id="rId11"/>
    <p:sldId id="459" r:id="rId12"/>
    <p:sldId id="458" r:id="rId13"/>
    <p:sldId id="460" r:id="rId14"/>
    <p:sldId id="403" r:id="rId15"/>
    <p:sldId id="404" r:id="rId16"/>
    <p:sldId id="397" r:id="rId17"/>
    <p:sldId id="398" r:id="rId18"/>
    <p:sldId id="375" r:id="rId19"/>
    <p:sldId id="399" r:id="rId20"/>
    <p:sldId id="349" r:id="rId21"/>
    <p:sldId id="405" r:id="rId22"/>
    <p:sldId id="407" r:id="rId23"/>
    <p:sldId id="408" r:id="rId24"/>
    <p:sldId id="409" r:id="rId25"/>
    <p:sldId id="410" r:id="rId26"/>
    <p:sldId id="411" r:id="rId27"/>
    <p:sldId id="412" r:id="rId28"/>
    <p:sldId id="413" r:id="rId29"/>
    <p:sldId id="414" r:id="rId30"/>
    <p:sldId id="406" r:id="rId31"/>
    <p:sldId id="425" r:id="rId32"/>
    <p:sldId id="426" r:id="rId33"/>
    <p:sldId id="431" r:id="rId34"/>
    <p:sldId id="432" r:id="rId35"/>
    <p:sldId id="433" r:id="rId36"/>
    <p:sldId id="434" r:id="rId37"/>
    <p:sldId id="435" r:id="rId38"/>
    <p:sldId id="461" r:id="rId39"/>
    <p:sldId id="462" r:id="rId40"/>
    <p:sldId id="465" r:id="rId41"/>
    <p:sldId id="466" r:id="rId42"/>
    <p:sldId id="467" r:id="rId43"/>
    <p:sldId id="418" r:id="rId44"/>
    <p:sldId id="419" r:id="rId45"/>
    <p:sldId id="420" r:id="rId46"/>
    <p:sldId id="415" r:id="rId47"/>
    <p:sldId id="416" r:id="rId48"/>
    <p:sldId id="468" r:id="rId49"/>
  </p:sldIdLst>
  <p:sldSz cx="9144000" cy="5143500" type="screen16x9"/>
  <p:notesSz cx="6794500" cy="9906000"/>
  <p:embeddedFontLst>
    <p:embeddedFont>
      <p:font typeface="Cascadia Code" panose="020B0609020000020004" pitchFamily="49" charset="0"/>
      <p:regular r:id="rId52"/>
      <p:bold r:id="rId53"/>
      <p:italic r:id="rId54"/>
      <p:boldItalic r:id="rId55"/>
    </p:embeddedFont>
    <p:embeddedFont>
      <p:font typeface="Consolas" panose="020B0609020204030204" pitchFamily="49" charset="0"/>
      <p:regular r:id="rId56"/>
      <p:bold r:id="rId57"/>
      <p:italic r:id="rId58"/>
      <p:boldItalic r:id="rId59"/>
    </p:embeddedFont>
    <p:embeddedFont>
      <p:font typeface="Deutsche Bank Text" panose="020B0604020202020204" charset="0"/>
      <p:regular r:id="rId60"/>
      <p:italic r:id="rId61"/>
    </p:embeddedFont>
  </p:embeddedFontLst>
  <p:defaultTextStyle>
    <a:defPPr>
      <a:defRPr lang="de-DE"/>
    </a:defPPr>
    <a:lvl1pPr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1pPr>
    <a:lvl2pPr marL="342353" indent="-31320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2pPr>
    <a:lvl3pPr marL="685785" indent="-63719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029218" indent="-96118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372650" indent="-128518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5pPr>
    <a:lvl6pPr marL="1555166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6pPr>
    <a:lvl7pPr marL="1866199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7pPr>
    <a:lvl8pPr marL="2177232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8pPr>
    <a:lvl9pPr marL="2488265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351150E4-E648-492B-A369-A86BB8D0239A}">
          <p14:sldIdLst>
            <p14:sldId id="345"/>
          </p14:sldIdLst>
        </p14:section>
        <p14:section name="Module 2" id="{85C68534-3672-4727-965F-A1960509D81B}">
          <p14:sldIdLst>
            <p14:sldId id="400"/>
            <p14:sldId id="401"/>
            <p14:sldId id="402"/>
            <p14:sldId id="417"/>
            <p14:sldId id="436"/>
            <p14:sldId id="437"/>
          </p14:sldIdLst>
        </p14:section>
        <p14:section name="Knowledge Check" id="{35DE6D00-B409-4169-B170-8589198AEAB0}">
          <p14:sldIdLst>
            <p14:sldId id="456"/>
            <p14:sldId id="457"/>
            <p14:sldId id="459"/>
            <p14:sldId id="458"/>
            <p14:sldId id="460"/>
          </p14:sldIdLst>
        </p14:section>
        <p14:section name="Module 3" id="{AFFB33D2-C19B-428B-9E4D-B6B60ADF6D5A}">
          <p14:sldIdLst>
            <p14:sldId id="403"/>
            <p14:sldId id="404"/>
            <p14:sldId id="397"/>
            <p14:sldId id="398"/>
            <p14:sldId id="375"/>
            <p14:sldId id="399"/>
            <p14:sldId id="349"/>
            <p14:sldId id="405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06"/>
            <p14:sldId id="425"/>
            <p14:sldId id="426"/>
            <p14:sldId id="431"/>
            <p14:sldId id="432"/>
            <p14:sldId id="433"/>
            <p14:sldId id="434"/>
            <p14:sldId id="435"/>
          </p14:sldIdLst>
        </p14:section>
        <p14:section name="Knowledge check" id="{1D14469D-4A6D-4B92-B778-505C41781394}">
          <p14:sldIdLst>
            <p14:sldId id="461"/>
            <p14:sldId id="462"/>
            <p14:sldId id="465"/>
            <p14:sldId id="466"/>
            <p14:sldId id="467"/>
          </p14:sldIdLst>
        </p14:section>
        <p14:section name="LABS" id="{07E2CD61-3159-4360-A62F-B037708F6DB7}">
          <p14:sldIdLst>
            <p14:sldId id="418"/>
            <p14:sldId id="419"/>
            <p14:sldId id="420"/>
            <p14:sldId id="415"/>
            <p14:sldId id="416"/>
            <p14:sldId id="4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0B14"/>
    <a:srgbClr val="19256D"/>
    <a:srgbClr val="18246A"/>
    <a:srgbClr val="1B1D5F"/>
    <a:srgbClr val="202272"/>
    <a:srgbClr val="23257B"/>
    <a:srgbClr val="671E75"/>
    <a:srgbClr val="E1F5FA"/>
    <a:srgbClr val="CCEDF9"/>
    <a:srgbClr val="1E2A78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75" autoAdjust="0"/>
    <p:restoredTop sz="96339" autoAdjust="0"/>
  </p:normalViewPr>
  <p:slideViewPr>
    <p:cSldViewPr snapToGrid="0" snapToObjects="1" showGuides="1">
      <p:cViewPr varScale="1">
        <p:scale>
          <a:sx n="147" d="100"/>
          <a:sy n="147" d="100"/>
        </p:scale>
        <p:origin x="126" y="2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115" d="100"/>
          <a:sy n="115" d="100"/>
        </p:scale>
        <p:origin x="5491" y="58"/>
      </p:cViewPr>
      <p:guideLst>
        <p:guide orient="horz" pos="3120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4.fntdata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3.xml"/><Relationship Id="rId61" Type="http://schemas.openxmlformats.org/officeDocument/2006/relationships/font" Target="fonts/font10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5.fntdata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8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3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6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BAC376-ACF6-4037-8F33-4FBF19ACBAFA}" type="datetime1">
              <a:rPr lang="en-US">
                <a:latin typeface="Deutsche Bank Text" panose="020B0503020202030204" pitchFamily="34" charset="0"/>
                <a:cs typeface="Deutsche Bank Text" panose="020B0503020202030204" pitchFamily="34" charset="0"/>
              </a:rPr>
              <a:pPr>
                <a:defRPr/>
              </a:pPr>
              <a:t>7/10/2024</a:t>
            </a:fld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9938E28-B09B-447E-BCAC-DE51036E3ED3}" type="slidenum">
              <a:rPr lang="en-GB">
                <a:latin typeface="Deutsche Bank Text" panose="020B0503020202030204" pitchFamily="34" charset="0"/>
                <a:cs typeface="Deutsche Bank Text" panose="020B0503020202030204" pitchFamily="34" charset="0"/>
              </a:rPr>
              <a:pPr>
                <a:defRPr/>
              </a:pPr>
              <a:t>‹#›</a:t>
            </a:fld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1513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Deutsche Bank Text" panose="020B0503020202030204" pitchFamily="34" charset="0"/>
                <a:ea typeface="+mn-ea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fld id="{43EBB1D3-38BD-4B0D-B98C-370541E46E48}" type="datetime1">
              <a:rPr lang="en-US" smtClean="0"/>
              <a:pPr>
                <a:defRPr/>
              </a:pPr>
              <a:t>7/10/2024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" y="742950"/>
            <a:ext cx="6604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Deutsche Bank Text" panose="020B0503020202030204" pitchFamily="34" charset="0"/>
                <a:ea typeface="+mn-ea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58564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ＭＳ Ｐゴシック" pitchFamily="-106" charset="-128"/>
      </a:defRPr>
    </a:lvl1pPr>
    <a:lvl2pPr marL="311033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2pPr>
    <a:lvl3pPr marL="622066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3pPr>
    <a:lvl4pPr marL="933099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4pPr>
    <a:lvl5pPr marL="1244133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5pPr>
    <a:lvl6pPr marL="1555166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6pPr>
    <a:lvl7pPr marL="1866199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7pPr>
    <a:lvl8pPr marL="2177232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8pPr>
    <a:lvl9pPr marL="2488265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5788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675094C-6D1B-DA5D-A98F-A3608A45C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</p:spTree>
    <p:extLst>
      <p:ext uri="{BB962C8B-B14F-4D97-AF65-F5344CB8AC3E}">
        <p14:creationId xmlns:p14="http://schemas.microsoft.com/office/powerpoint/2010/main" val="143737336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5DC8F6-EA8B-0DFB-6CB9-063D3DC092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Google Shape;12;p7">
            <a:extLst>
              <a:ext uri="{FF2B5EF4-FFF2-40B4-BE49-F238E27FC236}">
                <a16:creationId xmlns:a16="http://schemas.microsoft.com/office/drawing/2014/main" id="{C0671CDF-CBD6-A4B5-7F49-5EE9C863640F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26421A6F-196D-40A6-230B-CAC806CB44B5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14D8C02C-9441-F254-5EE6-5CE3B2F8F371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07441855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0EA4A7D6-1DAA-B051-5AED-3861D270795C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047B53F5-4203-E6BF-38DB-A0516B3987A8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63265782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02ED9A7C-65FF-4367-8593-09EFEDC37EE2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3580BBC9-37EC-89A3-2DEA-0582A4D4FC02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54086197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37039A0-AFF2-091B-FE74-0F0F0481FBAD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8C05AF85-84F7-FA11-BB3D-37A3D626CACF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1531847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1B0E698-121E-1017-754B-BB3D946E242E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69BC94E3-938A-09B3-5E44-CB93EF59C0C8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113873569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otif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A1C39-83E4-3A0E-2953-8177B5997A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2;p7">
            <a:extLst>
              <a:ext uri="{FF2B5EF4-FFF2-40B4-BE49-F238E27FC236}">
                <a16:creationId xmlns:a16="http://schemas.microsoft.com/office/drawing/2014/main" id="{672C52A1-3847-B8CF-F905-F2666F2B1032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86E28985-449B-BE87-B1A0-7513213870D2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8BFECFFB-D440-20ED-B182-56633829A3D0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88140168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ark blu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/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rgbClr val="00A3E0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6484FE55-51FD-EE64-5049-84B77457AFCF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02642732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dark blu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noFill/>
          <a:ln>
            <a:solidFill>
              <a:srgbClr val="1E2A78"/>
            </a:solidFill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1E2A78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1E2A78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rgbClr val="00A3E0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1E2A78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ECA304E-EBE3-4C8E-68E1-5712F2D2D803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rgbClr val="1E2A78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05200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ark blue a">
    <p:bg>
      <p:bgPr>
        <a:gradFill>
          <a:gsLst>
            <a:gs pos="0">
              <a:srgbClr val="16184E"/>
            </a:gs>
            <a:gs pos="60000">
              <a:srgbClr val="121D69"/>
            </a:gs>
            <a:gs pos="100000">
              <a:srgbClr val="1E2A7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/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CA990533-1AB6-AD8B-9943-917D9C9EEF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358632534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ark blu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;p7">
            <a:extLst>
              <a:ext uri="{FF2B5EF4-FFF2-40B4-BE49-F238E27FC236}">
                <a16:creationId xmlns:a16="http://schemas.microsoft.com/office/drawing/2014/main" id="{55C03535-6265-42EE-6675-8963596CE341}"/>
              </a:ext>
            </a:extLst>
          </p:cNvPr>
          <p:cNvSpPr/>
          <p:nvPr userDrawn="1"/>
        </p:nvSpPr>
        <p:spPr>
          <a:xfrm>
            <a:off x="2825513" y="898525"/>
            <a:ext cx="3450027" cy="37973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>
                  <a:lumMod val="95209"/>
                  <a:lumOff val="4791"/>
                </a:srgbClr>
              </a:gs>
              <a:gs pos="40000">
                <a:srgbClr val="1E2A78">
                  <a:shade val="67500"/>
                  <a:satMod val="115000"/>
                </a:srgbClr>
              </a:gs>
              <a:gs pos="60000">
                <a:srgbClr val="1A2673"/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6280836" y="448525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3" name="Textplatzhalter 28">
            <a:extLst>
              <a:ext uri="{FF2B5EF4-FFF2-40B4-BE49-F238E27FC236}">
                <a16:creationId xmlns:a16="http://schemas.microsoft.com/office/drawing/2014/main" id="{98EFC762-1F5A-5D2E-0A3E-4D9CA051CE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348525"/>
            <a:ext cx="7342187" cy="13176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500">
                <a:solidFill>
                  <a:srgbClr val="00A3E0"/>
                </a:solidFill>
              </a:defRPr>
            </a:lvl1pPr>
            <a:lvl2pPr>
              <a:defRPr sz="2000"/>
            </a:lvl2pPr>
            <a:lvl3pPr marL="0" indent="0">
              <a:buNone/>
              <a:defRPr sz="3000"/>
            </a:lvl3pPr>
          </a:lstStyle>
          <a:p>
            <a:pPr lvl="0"/>
            <a:r>
              <a:rPr lang="en-GB" noProof="0" dirty="0"/>
              <a:t>Click to edit topline</a:t>
            </a:r>
          </a:p>
          <a:p>
            <a:pPr lvl="2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270095566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84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ark blue c">
    <p:bg>
      <p:bgPr>
        <a:solidFill>
          <a:srgbClr val="1E2A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;p7">
            <a:extLst>
              <a:ext uri="{FF2B5EF4-FFF2-40B4-BE49-F238E27FC236}">
                <a16:creationId xmlns:a16="http://schemas.microsoft.com/office/drawing/2014/main" id="{478F2925-04D1-4766-6CA4-84070AEF58B6}"/>
              </a:ext>
            </a:extLst>
          </p:cNvPr>
          <p:cNvSpPr/>
          <p:nvPr userDrawn="1"/>
        </p:nvSpPr>
        <p:spPr>
          <a:xfrm>
            <a:off x="2825513" y="898525"/>
            <a:ext cx="3450027" cy="37973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>
                  <a:lumMod val="95209"/>
                  <a:lumOff val="4791"/>
                </a:srgbClr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9256D"/>
              </a:gs>
            </a:gsLst>
            <a:lin ang="5400000" scaled="0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6280836" y="448525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2D154478-B3C3-CC94-6883-38EF02BC66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348525"/>
            <a:ext cx="7342187" cy="13176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500">
                <a:solidFill>
                  <a:srgbClr val="00A3E0"/>
                </a:solidFill>
              </a:defRPr>
            </a:lvl1pPr>
            <a:lvl2pPr>
              <a:defRPr sz="2000"/>
            </a:lvl2pPr>
            <a:lvl3pPr marL="0" indent="0">
              <a:buNone/>
              <a:defRPr sz="3000"/>
            </a:lvl3pPr>
          </a:lstStyle>
          <a:p>
            <a:pPr lvl="0"/>
            <a:r>
              <a:rPr lang="en-GB" noProof="0" dirty="0"/>
              <a:t>Click to edit topline</a:t>
            </a:r>
          </a:p>
          <a:p>
            <a:pPr lvl="2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104641233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84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Motif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A1C39-83E4-3A0E-2953-8177B5997A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BB54C801-FE4C-70B2-6F05-BCDA55557D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258351674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Motif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4509FB4-19F7-0C11-F4C6-EC7612DD28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Textplatzhalter 28">
            <a:extLst>
              <a:ext uri="{FF2B5EF4-FFF2-40B4-BE49-F238E27FC236}">
                <a16:creationId xmlns:a16="http://schemas.microsoft.com/office/drawing/2014/main" id="{B42C112B-6D63-7D0F-AE00-6B8EC125D9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186610716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138" y="1016000"/>
            <a:ext cx="8469311" cy="3622675"/>
          </a:xfrm>
        </p:spPr>
        <p:txBody>
          <a:bodyPr numCol="2" spcCol="273600"/>
          <a:lstStyle>
            <a:lvl1pPr marL="269875" indent="-269875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200"/>
            </a:lvl1pPr>
            <a:lvl2pPr marL="538163" indent="-269875">
              <a:lnSpc>
                <a:spcPct val="100000"/>
              </a:lnSpc>
              <a:buFont typeface="+mj-lt"/>
              <a:buNone/>
              <a:tabLst>
                <a:tab pos="538163" algn="l"/>
                <a:tab pos="7175500" algn="r"/>
              </a:tabLst>
              <a:defRPr sz="12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268214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138" y="1016000"/>
            <a:ext cx="8469311" cy="3622675"/>
          </a:xfrm>
        </p:spPr>
        <p:txBody>
          <a:bodyPr numCol="2" spcCol="273600"/>
          <a:lstStyle>
            <a:lvl1pPr marL="269875" indent="-269875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200"/>
            </a:lvl1pPr>
            <a:lvl2pPr marL="538163" indent="-269875">
              <a:lnSpc>
                <a:spcPct val="100000"/>
              </a:lnSpc>
              <a:buFont typeface="+mj-lt"/>
              <a:buNone/>
              <a:tabLst>
                <a:tab pos="538163" algn="l"/>
                <a:tab pos="7175500" algn="r"/>
              </a:tabLst>
              <a:defRPr sz="12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582186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400" y="1015199"/>
            <a:ext cx="8467463" cy="3623475"/>
          </a:xfrm>
        </p:spPr>
        <p:txBody>
          <a:bodyPr numCol="2" spcCol="273600"/>
          <a:lstStyle>
            <a:lvl1pPr marL="252000" indent="-2520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200"/>
            </a:lvl1pPr>
            <a:lvl2pPr marL="504000" indent="-252000">
              <a:lnSpc>
                <a:spcPct val="100000"/>
              </a:lnSpc>
              <a:buFont typeface="+mj-lt"/>
              <a:buNone/>
              <a:tabLst>
                <a:tab pos="7175500" algn="r"/>
              </a:tabLst>
              <a:defRPr sz="10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671075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138" y="1016000"/>
            <a:ext cx="8467725" cy="3622675"/>
          </a:xfrm>
        </p:spPr>
        <p:txBody>
          <a:bodyPr numCol="2" spcCol="273600"/>
          <a:lstStyle>
            <a:lvl1pPr marL="179388" indent="-179388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000"/>
            </a:lvl1pPr>
            <a:lvl2pPr marL="446088" indent="-266700">
              <a:lnSpc>
                <a:spcPct val="100000"/>
              </a:lnSpc>
              <a:buFont typeface="+mj-lt"/>
              <a:buNone/>
              <a:tabLst>
                <a:tab pos="7175500" algn="r"/>
              </a:tabLst>
              <a:defRPr sz="10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787921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5999"/>
            <a:ext cx="8467725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7258233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5999"/>
            <a:ext cx="4144961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1692" y="1015999"/>
            <a:ext cx="4145758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476673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2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6000"/>
            <a:ext cx="4144961" cy="17145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2488" y="1016000"/>
            <a:ext cx="4144962" cy="17145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Inhaltsplatzhalter 13">
            <a:extLst>
              <a:ext uri="{FF2B5EF4-FFF2-40B4-BE49-F238E27FC236}">
                <a16:creationId xmlns:a16="http://schemas.microsoft.com/office/drawing/2014/main" id="{84CC4C7D-7F5D-1ADB-A30E-CEAD08A0BFE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8444" y="2913063"/>
            <a:ext cx="4144961" cy="172561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Inhaltsplatzhalter 13">
            <a:extLst>
              <a:ext uri="{FF2B5EF4-FFF2-40B4-BE49-F238E27FC236}">
                <a16:creationId xmlns:a16="http://schemas.microsoft.com/office/drawing/2014/main" id="{5C26C813-FC2A-E649-F811-FFA8D670A8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62794" y="2913063"/>
            <a:ext cx="4144962" cy="172561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822893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37" userDrawn="1">
          <p15:clr>
            <a:srgbClr val="FBAE40"/>
          </p15:clr>
        </p15:guide>
        <p15:guide id="3" pos="2824" userDrawn="1">
          <p15:clr>
            <a:srgbClr val="FBAE40"/>
          </p15:clr>
        </p15:guide>
        <p15:guide id="4" orient="horz" pos="183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7" y="1015999"/>
            <a:ext cx="2685033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Inhaltsplatzhalter 13">
            <a:extLst>
              <a:ext uri="{FF2B5EF4-FFF2-40B4-BE49-F238E27FC236}">
                <a16:creationId xmlns:a16="http://schemas.microsoft.com/office/drawing/2014/main" id="{5CA372FA-9895-0C5F-1EC7-D1A032F9AA6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200967" y="1018599"/>
            <a:ext cx="2739458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Inhaltsplatzhalter 13">
            <a:extLst>
              <a:ext uri="{FF2B5EF4-FFF2-40B4-BE49-F238E27FC236}">
                <a16:creationId xmlns:a16="http://schemas.microsoft.com/office/drawing/2014/main" id="{883BB2EE-32A9-3A08-7709-8604193B1BD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9813" y="1015998"/>
            <a:ext cx="2686049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215490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4" pos="1905" userDrawn="1">
          <p15:clr>
            <a:srgbClr val="FBAE40"/>
          </p15:clr>
        </p15:guide>
        <p15:guide id="5" pos="2018" userDrawn="1">
          <p15:clr>
            <a:srgbClr val="FBAE40"/>
          </p15:clr>
        </p15:guide>
        <p15:guide id="6" pos="3742" userDrawn="1">
          <p15:clr>
            <a:srgbClr val="FBAE40"/>
          </p15:clr>
        </p15:guide>
        <p15:guide id="7" pos="385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c 2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7" name="Inhaltsplatzhalter 13">
            <a:extLst>
              <a:ext uri="{FF2B5EF4-FFF2-40B4-BE49-F238E27FC236}">
                <a16:creationId xmlns:a16="http://schemas.microsoft.com/office/drawing/2014/main" id="{B30ECE1C-C670-6B68-2F14-86A63985F7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400" y="1016000"/>
            <a:ext cx="2684462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Inhaltsplatzhalter 13">
            <a:extLst>
              <a:ext uri="{FF2B5EF4-FFF2-40B4-BE49-F238E27FC236}">
                <a16:creationId xmlns:a16="http://schemas.microsoft.com/office/drawing/2014/main" id="{EE9A095C-F7B4-ACB2-F2F9-076925C67FC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204474" y="1016000"/>
            <a:ext cx="2736850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2" name="Inhaltsplatzhalter 13">
            <a:extLst>
              <a:ext uri="{FF2B5EF4-FFF2-40B4-BE49-F238E27FC236}">
                <a16:creationId xmlns:a16="http://schemas.microsoft.com/office/drawing/2014/main" id="{353DE1C3-A7F2-83E9-A120-4FE2A1FA9AF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27512" y="1016000"/>
            <a:ext cx="2680837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3" name="Inhaltsplatzhalter 13">
            <a:extLst>
              <a:ext uri="{FF2B5EF4-FFF2-40B4-BE49-F238E27FC236}">
                <a16:creationId xmlns:a16="http://schemas.microsoft.com/office/drawing/2014/main" id="{E47B2B28-13D4-5795-3ABD-B70AF78F25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9726" y="2909888"/>
            <a:ext cx="2684462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5" name="Inhaltsplatzhalter 13">
            <a:extLst>
              <a:ext uri="{FF2B5EF4-FFF2-40B4-BE49-F238E27FC236}">
                <a16:creationId xmlns:a16="http://schemas.microsoft.com/office/drawing/2014/main" id="{0779CD6A-02D9-4FC6-91F7-5992E2F89E9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03575" y="2909888"/>
            <a:ext cx="2736850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6" name="Inhaltsplatzhalter 13">
            <a:extLst>
              <a:ext uri="{FF2B5EF4-FFF2-40B4-BE49-F238E27FC236}">
                <a16:creationId xmlns:a16="http://schemas.microsoft.com/office/drawing/2014/main" id="{62C094EA-31F1-49C8-6434-500F1546138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26613" y="2909888"/>
            <a:ext cx="2680837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789673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4" orient="horz" pos="1833" userDrawn="1">
          <p15:clr>
            <a:srgbClr val="FBAE40"/>
          </p15:clr>
        </p15:guide>
        <p15:guide id="5" pos="1905" userDrawn="1">
          <p15:clr>
            <a:srgbClr val="FBAE40"/>
          </p15:clr>
        </p15:guide>
        <p15:guide id="6" pos="2018" userDrawn="1">
          <p15:clr>
            <a:srgbClr val="FBAE40"/>
          </p15:clr>
        </p15:guide>
        <p15:guide id="7" pos="3742" userDrawn="1">
          <p15:clr>
            <a:srgbClr val="FBAE40"/>
          </p15:clr>
        </p15:guide>
        <p15:guide id="8" pos="385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 blue box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9" y="1015999"/>
            <a:ext cx="4144965" cy="3622675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0900" y="1015999"/>
            <a:ext cx="4146550" cy="3622675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40309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 blue box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9" y="1460500"/>
            <a:ext cx="4144966" cy="3178174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2484" y="1460500"/>
            <a:ext cx="4144966" cy="3178174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857D3E1-ED2A-BFB9-AD11-2FCA92D5B0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1016000"/>
            <a:ext cx="4144966" cy="406400"/>
          </a:xfrm>
          <a:solidFill>
            <a:srgbClr val="1E2A78"/>
          </a:solidFill>
        </p:spPr>
        <p:txBody>
          <a:bodyPr lIns="108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Edit Master </a:t>
            </a:r>
            <a:r>
              <a:rPr lang="de-DE" dirty="0" err="1"/>
              <a:t>text</a:t>
            </a:r>
            <a:r>
              <a:rPr lang="de-DE" dirty="0"/>
              <a:t> style</a:t>
            </a: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9F643515-DC98-8830-840D-88F0A16EF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0896" y="1016000"/>
            <a:ext cx="4144966" cy="406400"/>
          </a:xfrm>
          <a:solidFill>
            <a:srgbClr val="1E2A78"/>
          </a:solidFill>
        </p:spPr>
        <p:txBody>
          <a:bodyPr lIns="108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Edit Master </a:t>
            </a:r>
            <a:r>
              <a:rPr lang="de-DE" dirty="0" err="1"/>
              <a:t>text</a:t>
            </a:r>
            <a:r>
              <a:rPr lang="de-DE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251009314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  <p15:guide id="4" pos="288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8674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092774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34A8AF-6BA9-11CB-30CE-F32AC5ED34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1015999"/>
            <a:ext cx="7788275" cy="362267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  <a:lvl2pPr>
              <a:defRPr sz="1000">
                <a:solidFill>
                  <a:srgbClr val="8794A1"/>
                </a:solidFill>
              </a:defRPr>
            </a:lvl2pPr>
            <a:lvl3pPr>
              <a:defRPr sz="1000">
                <a:solidFill>
                  <a:schemeClr val="tx1"/>
                </a:solidFill>
              </a:defRPr>
            </a:lvl3pPr>
            <a:lvl4pPr>
              <a:defRPr sz="800">
                <a:solidFill>
                  <a:schemeClr val="tx1"/>
                </a:solidFill>
              </a:defRPr>
            </a:lvl4pPr>
            <a:lvl5pPr>
              <a:defRPr>
                <a:solidFill>
                  <a:srgbClr val="8794A1"/>
                </a:solidFill>
              </a:defRPr>
            </a:lvl5pPr>
          </a:lstStyle>
          <a:p>
            <a:pPr lvl="0"/>
            <a:r>
              <a:rPr lang="de-DE" dirty="0"/>
              <a:t>Disclaimer </a:t>
            </a:r>
            <a:r>
              <a:rPr lang="de-DE" dirty="0" err="1"/>
              <a:t>text</a:t>
            </a:r>
            <a:endParaRPr lang="de-DE" dirty="0"/>
          </a:p>
          <a:p>
            <a:pPr lvl="2"/>
            <a:r>
              <a:rPr lang="de-DE" dirty="0"/>
              <a:t>Second Level</a:t>
            </a:r>
          </a:p>
          <a:p>
            <a:pPr lvl="3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03837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ntent a">
    <p:bg>
      <p:bgPr>
        <a:gradFill>
          <a:gsLst>
            <a:gs pos="0">
              <a:srgbClr val="16184E"/>
            </a:gs>
            <a:gs pos="60000">
              <a:srgbClr val="121D69"/>
            </a:gs>
            <a:gs pos="100000">
              <a:srgbClr val="1E2A78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bg1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0" name="Grafik 9">
            <a:extLst>
              <a:ext uri="{FF2B5EF4-FFF2-40B4-BE49-F238E27FC236}">
                <a16:creationId xmlns:a16="http://schemas.microsoft.com/office/drawing/2014/main" id="{0B884D4E-2E62-A2AC-08DE-431DAE758A58}"/>
              </a:ext>
            </a:extLst>
          </p:cNvPr>
          <p:cNvSpPr>
            <a:spLocks noChangeAspect="1"/>
          </p:cNvSpPr>
          <p:nvPr userDrawn="1"/>
        </p:nvSpPr>
        <p:spPr>
          <a:xfrm>
            <a:off x="8467463" y="338400"/>
            <a:ext cx="338400" cy="338400"/>
          </a:xfrm>
          <a:custGeom>
            <a:avLst/>
            <a:gdLst>
              <a:gd name="connsiteX0" fmla="*/ 385667 w 2699994"/>
              <a:gd name="connsiteY0" fmla="*/ 2314346 h 2700004"/>
              <a:gd name="connsiteX1" fmla="*/ 2314146 w 2699994"/>
              <a:gd name="connsiteY1" fmla="*/ 2314346 h 2700004"/>
              <a:gd name="connsiteX2" fmla="*/ 2314146 w 2699994"/>
              <a:gd name="connsiteY2" fmla="*/ 385658 h 2700004"/>
              <a:gd name="connsiteX3" fmla="*/ 385667 w 2699994"/>
              <a:gd name="connsiteY3" fmla="*/ 385658 h 2700004"/>
              <a:gd name="connsiteX4" fmla="*/ 385667 w 2699994"/>
              <a:gd name="connsiteY4" fmla="*/ 2314346 h 2700004"/>
              <a:gd name="connsiteX5" fmla="*/ 0 w 2699994"/>
              <a:gd name="connsiteY5" fmla="*/ 0 h 2700004"/>
              <a:gd name="connsiteX6" fmla="*/ 2699995 w 2699994"/>
              <a:gd name="connsiteY6" fmla="*/ 0 h 2700004"/>
              <a:gd name="connsiteX7" fmla="*/ 2699995 w 2699994"/>
              <a:gd name="connsiteY7" fmla="*/ 2700004 h 2700004"/>
              <a:gd name="connsiteX8" fmla="*/ 0 w 2699994"/>
              <a:gd name="connsiteY8" fmla="*/ 2700004 h 2700004"/>
              <a:gd name="connsiteX9" fmla="*/ 0 w 2699994"/>
              <a:gd name="connsiteY9" fmla="*/ 0 h 2700004"/>
              <a:gd name="connsiteX10" fmla="*/ 582549 w 2699994"/>
              <a:gd name="connsiteY10" fmla="*/ 2051971 h 2700004"/>
              <a:gd name="connsiteX11" fmla="*/ 1635709 w 2699994"/>
              <a:gd name="connsiteY11" fmla="*/ 648033 h 2700004"/>
              <a:gd name="connsiteX12" fmla="*/ 2117874 w 2699994"/>
              <a:gd name="connsiteY12" fmla="*/ 648033 h 2700004"/>
              <a:gd name="connsiteX13" fmla="*/ 1064714 w 2699994"/>
              <a:gd name="connsiteY13" fmla="*/ 2051971 h 2700004"/>
              <a:gd name="connsiteX14" fmla="*/ 582549 w 2699994"/>
              <a:gd name="connsiteY14" fmla="*/ 2051971 h 270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9994" h="2700004">
                <a:moveTo>
                  <a:pt x="385667" y="2314346"/>
                </a:moveTo>
                <a:lnTo>
                  <a:pt x="2314146" y="2314346"/>
                </a:lnTo>
                <a:lnTo>
                  <a:pt x="2314146" y="385658"/>
                </a:lnTo>
                <a:lnTo>
                  <a:pt x="385667" y="385658"/>
                </a:lnTo>
                <a:lnTo>
                  <a:pt x="385667" y="2314346"/>
                </a:lnTo>
                <a:close/>
                <a:moveTo>
                  <a:pt x="0" y="0"/>
                </a:moveTo>
                <a:lnTo>
                  <a:pt x="2699995" y="0"/>
                </a:lnTo>
                <a:lnTo>
                  <a:pt x="2699995" y="2700004"/>
                </a:lnTo>
                <a:lnTo>
                  <a:pt x="0" y="2700004"/>
                </a:lnTo>
                <a:lnTo>
                  <a:pt x="0" y="0"/>
                </a:lnTo>
                <a:close/>
                <a:moveTo>
                  <a:pt x="582549" y="2051971"/>
                </a:moveTo>
                <a:lnTo>
                  <a:pt x="1635709" y="648033"/>
                </a:lnTo>
                <a:lnTo>
                  <a:pt x="2117874" y="648033"/>
                </a:lnTo>
                <a:lnTo>
                  <a:pt x="1064714" y="2051971"/>
                </a:lnTo>
                <a:lnTo>
                  <a:pt x="582549" y="2051971"/>
                </a:ln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34A8AF-6BA9-11CB-30CE-F32AC5ED34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1015999"/>
            <a:ext cx="7788275" cy="3622675"/>
          </a:xfrm>
        </p:spPr>
        <p:txBody>
          <a:bodyPr/>
          <a:lstStyle>
            <a:lvl1pPr>
              <a:defRPr sz="1200">
                <a:solidFill>
                  <a:srgbClr val="00A3E0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EE5C55C-FC6F-43BD-470C-E7A30DD15F0B}"/>
              </a:ext>
            </a:extLst>
          </p:cNvPr>
          <p:cNvSpPr/>
          <p:nvPr userDrawn="1"/>
        </p:nvSpPr>
        <p:spPr>
          <a:xfrm>
            <a:off x="338138" y="4805100"/>
            <a:ext cx="1798363" cy="2415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 marL="0" indent="0">
              <a:lnSpc>
                <a:spcPts val="800"/>
              </a:lnSpc>
              <a:defRPr/>
            </a:pPr>
            <a:r>
              <a:rPr lang="en-GB" sz="700" noProof="1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Bank. </a:t>
            </a:r>
            <a:r>
              <a:rPr lang="en-GB" sz="700" noProof="1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81264078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otif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A1C39-83E4-3A0E-2953-8177B5997A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61" y="0"/>
            <a:ext cx="914303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2;p7">
            <a:extLst>
              <a:ext uri="{FF2B5EF4-FFF2-40B4-BE49-F238E27FC236}">
                <a16:creationId xmlns:a16="http://schemas.microsoft.com/office/drawing/2014/main" id="{C3B6050F-8762-847A-D7AF-AD0EA366019F}"/>
              </a:ext>
            </a:extLst>
          </p:cNvPr>
          <p:cNvSpPr/>
          <p:nvPr userDrawn="1"/>
        </p:nvSpPr>
        <p:spPr>
          <a:xfrm>
            <a:off x="571466" y="856531"/>
            <a:ext cx="7429175" cy="3858326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665AAA21-3876-BCB5-F3B2-26F223D9EBCF}"/>
              </a:ext>
            </a:extLst>
          </p:cNvPr>
          <p:cNvSpPr txBox="1"/>
          <p:nvPr userDrawn="1"/>
        </p:nvSpPr>
        <p:spPr bwMode="auto">
          <a:xfrm>
            <a:off x="859681" y="107255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089"/>
              </a:lnSpc>
              <a:defRPr/>
            </a:pPr>
            <a:r>
              <a:rPr lang="en-GB" sz="1089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089"/>
              </a:lnSpc>
              <a:defRPr/>
            </a:pPr>
            <a:r>
              <a:rPr lang="en-GB" sz="1089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5" name="Textplatzhalter 28">
            <a:extLst>
              <a:ext uri="{FF2B5EF4-FFF2-40B4-BE49-F238E27FC236}">
                <a16:creationId xmlns:a16="http://schemas.microsoft.com/office/drawing/2014/main" id="{B111BE9E-0B24-3B98-352B-5D1D4D58E3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9681" y="1493492"/>
            <a:ext cx="6857280" cy="116207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90000"/>
              </a:lnSpc>
              <a:defRPr sz="2722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0965BC-C2B6-DAE3-AA4F-41037C4A4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9681" y="4160597"/>
            <a:ext cx="6857280" cy="334227"/>
          </a:xfrm>
          <a:prstGeom prst="rect">
            <a:avLst/>
          </a:prstGeom>
        </p:spPr>
        <p:txBody>
          <a:bodyPr anchor="b" anchorCtr="0"/>
          <a:lstStyle>
            <a:lvl1pPr>
              <a:defRPr sz="816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Speaker name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F2B3B9FB-6AEC-0DCB-FE8B-A75DCE2AE9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9681" y="2655569"/>
            <a:ext cx="6857280" cy="150502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6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6C1D52DF-B30D-D46E-0C2E-71E40D41E98A}"/>
              </a:ext>
            </a:extLst>
          </p:cNvPr>
          <p:cNvSpPr>
            <a:spLocks noEditPoints="1"/>
          </p:cNvSpPr>
          <p:nvPr userDrawn="1"/>
        </p:nvSpPr>
        <p:spPr bwMode="black">
          <a:xfrm>
            <a:off x="8001071" y="428644"/>
            <a:ext cx="571465" cy="428643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45343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65C97-7830-49FC-9697-6D19DA82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688" y="1120459"/>
            <a:ext cx="2676862" cy="14512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C2B49-C94A-476B-8639-FC6E77CEDC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5C3C28A-B976-B1E4-63A7-9E463F950C8F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80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69" r:id="rId1"/>
    <p:sldLayoutId id="2147485468" r:id="rId2"/>
    <p:sldLayoutId id="2147485455" r:id="rId3"/>
    <p:sldLayoutId id="2147485471" r:id="rId4"/>
    <p:sldLayoutId id="2147485472" r:id="rId5"/>
    <p:sldLayoutId id="2147485475" r:id="rId6"/>
    <p:sldLayoutId id="2147485474" r:id="rId7"/>
    <p:sldLayoutId id="2147485449" r:id="rId8"/>
    <p:sldLayoutId id="2147485476" r:id="rId9"/>
    <p:sldLayoutId id="2147485457" r:id="rId10"/>
    <p:sldLayoutId id="2147485464" r:id="rId11"/>
    <p:sldLayoutId id="2147485465" r:id="rId12"/>
    <p:sldLayoutId id="2147485460" r:id="rId13"/>
    <p:sldLayoutId id="2147485470" r:id="rId14"/>
    <p:sldLayoutId id="2147485477" r:id="rId15"/>
  </p:sldLayoutIdLst>
  <p:transition>
    <p:wipe dir="r"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/>
        <a:defRPr sz="1400" kern="1200" baseline="0">
          <a:solidFill>
            <a:srgbClr val="1E2A78"/>
          </a:solidFill>
          <a:latin typeface="+mj-lt"/>
          <a:ea typeface="Deutsche Bank Display" panose="020F0403020203030304" pitchFamily="34" charset="0"/>
          <a:cs typeface="Deutsche Bank Display" panose="020F04030202030303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5pPr>
      <a:lvl6pPr marL="3422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6pPr>
      <a:lvl7pPr marL="68450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7pPr>
      <a:lvl8pPr marL="102676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8pPr>
      <a:lvl9pPr marL="136901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rgbClr val="00A3E0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chemeClr val="bg1"/>
          </a:solidFill>
          <a:latin typeface="+mn-lt"/>
          <a:ea typeface="ＭＳ Ｐゴシック" pitchFamily="-109" charset="-128"/>
        </a:defRPr>
      </a:lvl2pPr>
      <a:lvl3pPr marL="252000" indent="-252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200" kern="1200" baseline="0">
          <a:solidFill>
            <a:schemeClr val="bg1"/>
          </a:solidFill>
          <a:latin typeface="+mn-lt"/>
          <a:ea typeface="Deutsche Bank Text" panose="020B0503020202030204" pitchFamily="34" charset="0"/>
          <a:cs typeface="Deutsche Bank Text" panose="020B0503020202030204" pitchFamily="34" charset="0"/>
        </a:defRPr>
      </a:lvl3pPr>
      <a:lvl4pPr marL="468000" indent="-216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bg1"/>
          </a:solidFill>
          <a:latin typeface="+mn-lt"/>
          <a:ea typeface="ＭＳ Ｐゴシック" pitchFamily="-109" charset="-128"/>
        </a:defRPr>
      </a:lvl4pPr>
      <a:lvl5pPr marL="717550" indent="-227013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bg1"/>
          </a:solidFill>
          <a:latin typeface="+mn-lt"/>
          <a:ea typeface="ＭＳ Ｐゴシック" pitchFamily="-109" charset="-128"/>
        </a:defRPr>
      </a:lvl5pPr>
      <a:lvl6pPr marL="88296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6pPr>
      <a:lvl7pPr marL="1225221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7pPr>
      <a:lvl8pPr marL="1567475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8pPr>
      <a:lvl9pPr marL="190972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1pPr>
      <a:lvl2pPr marL="34225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2pPr>
      <a:lvl3pPr marL="684508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3pPr>
      <a:lvl4pPr marL="1026762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4pPr>
      <a:lvl5pPr marL="136901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5pPr>
      <a:lvl6pPr marL="1711269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6pPr>
      <a:lvl7pPr marL="2053523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7pPr>
      <a:lvl8pPr marL="2395776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8pPr>
      <a:lvl9pPr marL="273803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476" userDrawn="1">
          <p15:clr>
            <a:srgbClr val="F26B43"/>
          </p15:clr>
        </p15:guide>
        <p15:guide id="12" pos="283" userDrawn="1">
          <p15:clr>
            <a:srgbClr val="F26B43"/>
          </p15:clr>
        </p15:guide>
        <p15:guide id="13" orient="horz" pos="283" userDrawn="1">
          <p15:clr>
            <a:srgbClr val="F26B43"/>
          </p15:clr>
        </p15:guide>
        <p15:guide id="17" orient="horz" pos="565" userDrawn="1">
          <p15:clr>
            <a:srgbClr val="F26B43"/>
          </p15:clr>
        </p15:guide>
        <p15:guide id="18" orient="horz" pos="2958" userDrawn="1">
          <p15:clr>
            <a:srgbClr val="F26B43"/>
          </p15:clr>
        </p15:guide>
        <p15:guide id="19" orient="horz" pos="2822" userDrawn="1">
          <p15:clr>
            <a:srgbClr val="F26B43"/>
          </p15:clr>
        </p15:guide>
        <p15:guide id="22" pos="5050" userDrawn="1">
          <p15:clr>
            <a:srgbClr val="F26B43"/>
          </p15:clr>
        </p15:guide>
        <p15:guide id="23" orient="horz" pos="707" userDrawn="1">
          <p15:clr>
            <a:srgbClr val="F26B43"/>
          </p15:clr>
        </p15:guide>
        <p15:guide id="24" pos="5193" userDrawn="1">
          <p15:clr>
            <a:srgbClr val="F26B43"/>
          </p15:clr>
        </p15:guide>
        <p15:guide id="27" pos="425" userDrawn="1">
          <p15:clr>
            <a:srgbClr val="F26B43"/>
          </p15:clr>
        </p15:guide>
        <p15:guide id="28" orient="horz" pos="16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9FD7A-E47D-464F-908E-0A898F099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65C97-7830-49FC-9697-6D19DA82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138" y="1015199"/>
            <a:ext cx="8467725" cy="36234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429F3B1B-8104-4CBB-A285-B4B3ADCCE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6EDBBC0-08FC-4FF5-93D8-319C27CD84CB}"/>
              </a:ext>
            </a:extLst>
          </p:cNvPr>
          <p:cNvSpPr/>
          <p:nvPr userDrawn="1"/>
        </p:nvSpPr>
        <p:spPr>
          <a:xfrm>
            <a:off x="338138" y="4805100"/>
            <a:ext cx="1798363" cy="2415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 marL="0" indent="0">
              <a:lnSpc>
                <a:spcPts val="800"/>
              </a:lnSpc>
              <a:defRPr/>
            </a:pPr>
            <a:r>
              <a:rPr lang="en-GB" sz="700" noProof="1">
                <a:solidFill>
                  <a:srgbClr val="1E2A78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Bank. </a:t>
            </a:r>
            <a:r>
              <a:rPr lang="en-GB" sz="700" noProof="1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4A4B362-19DC-4728-8691-B4DF4C9AA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C2B49-C94A-476B-8639-FC6E77CEDC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2" name="Grafik 9">
            <a:extLst>
              <a:ext uri="{FF2B5EF4-FFF2-40B4-BE49-F238E27FC236}">
                <a16:creationId xmlns:a16="http://schemas.microsoft.com/office/drawing/2014/main" id="{B29001C1-63DA-2119-A100-853E4B7B6C6E}"/>
              </a:ext>
            </a:extLst>
          </p:cNvPr>
          <p:cNvSpPr>
            <a:spLocks noChangeAspect="1"/>
          </p:cNvSpPr>
          <p:nvPr userDrawn="1"/>
        </p:nvSpPr>
        <p:spPr>
          <a:xfrm>
            <a:off x="8467463" y="338400"/>
            <a:ext cx="338400" cy="338400"/>
          </a:xfrm>
          <a:custGeom>
            <a:avLst/>
            <a:gdLst>
              <a:gd name="connsiteX0" fmla="*/ 385667 w 2699994"/>
              <a:gd name="connsiteY0" fmla="*/ 2314346 h 2700004"/>
              <a:gd name="connsiteX1" fmla="*/ 2314146 w 2699994"/>
              <a:gd name="connsiteY1" fmla="*/ 2314346 h 2700004"/>
              <a:gd name="connsiteX2" fmla="*/ 2314146 w 2699994"/>
              <a:gd name="connsiteY2" fmla="*/ 385658 h 2700004"/>
              <a:gd name="connsiteX3" fmla="*/ 385667 w 2699994"/>
              <a:gd name="connsiteY3" fmla="*/ 385658 h 2700004"/>
              <a:gd name="connsiteX4" fmla="*/ 385667 w 2699994"/>
              <a:gd name="connsiteY4" fmla="*/ 2314346 h 2700004"/>
              <a:gd name="connsiteX5" fmla="*/ 0 w 2699994"/>
              <a:gd name="connsiteY5" fmla="*/ 0 h 2700004"/>
              <a:gd name="connsiteX6" fmla="*/ 2699995 w 2699994"/>
              <a:gd name="connsiteY6" fmla="*/ 0 h 2700004"/>
              <a:gd name="connsiteX7" fmla="*/ 2699995 w 2699994"/>
              <a:gd name="connsiteY7" fmla="*/ 2700004 h 2700004"/>
              <a:gd name="connsiteX8" fmla="*/ 0 w 2699994"/>
              <a:gd name="connsiteY8" fmla="*/ 2700004 h 2700004"/>
              <a:gd name="connsiteX9" fmla="*/ 0 w 2699994"/>
              <a:gd name="connsiteY9" fmla="*/ 0 h 2700004"/>
              <a:gd name="connsiteX10" fmla="*/ 582549 w 2699994"/>
              <a:gd name="connsiteY10" fmla="*/ 2051971 h 2700004"/>
              <a:gd name="connsiteX11" fmla="*/ 1635709 w 2699994"/>
              <a:gd name="connsiteY11" fmla="*/ 648033 h 2700004"/>
              <a:gd name="connsiteX12" fmla="*/ 2117874 w 2699994"/>
              <a:gd name="connsiteY12" fmla="*/ 648033 h 2700004"/>
              <a:gd name="connsiteX13" fmla="*/ 1064714 w 2699994"/>
              <a:gd name="connsiteY13" fmla="*/ 2051971 h 2700004"/>
              <a:gd name="connsiteX14" fmla="*/ 582549 w 2699994"/>
              <a:gd name="connsiteY14" fmla="*/ 2051971 h 270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9994" h="2700004">
                <a:moveTo>
                  <a:pt x="385667" y="2314346"/>
                </a:moveTo>
                <a:lnTo>
                  <a:pt x="2314146" y="2314346"/>
                </a:lnTo>
                <a:lnTo>
                  <a:pt x="2314146" y="385658"/>
                </a:lnTo>
                <a:lnTo>
                  <a:pt x="385667" y="385658"/>
                </a:lnTo>
                <a:lnTo>
                  <a:pt x="385667" y="2314346"/>
                </a:lnTo>
                <a:close/>
                <a:moveTo>
                  <a:pt x="0" y="0"/>
                </a:moveTo>
                <a:lnTo>
                  <a:pt x="2699995" y="0"/>
                </a:lnTo>
                <a:lnTo>
                  <a:pt x="2699995" y="2700004"/>
                </a:lnTo>
                <a:lnTo>
                  <a:pt x="0" y="2700004"/>
                </a:lnTo>
                <a:lnTo>
                  <a:pt x="0" y="0"/>
                </a:lnTo>
                <a:close/>
                <a:moveTo>
                  <a:pt x="582549" y="2051971"/>
                </a:moveTo>
                <a:lnTo>
                  <a:pt x="1635709" y="648033"/>
                </a:lnTo>
                <a:lnTo>
                  <a:pt x="2117874" y="648033"/>
                </a:lnTo>
                <a:lnTo>
                  <a:pt x="1064714" y="2051971"/>
                </a:lnTo>
                <a:lnTo>
                  <a:pt x="582549" y="2051971"/>
                </a:lnTo>
              </a:path>
            </a:pathLst>
          </a:custGeom>
          <a:solidFill>
            <a:srgbClr val="1E2A7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59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85" r:id="rId1"/>
    <p:sldLayoutId id="2147485423" r:id="rId2"/>
    <p:sldLayoutId id="2147485424" r:id="rId3"/>
    <p:sldLayoutId id="2147485411" r:id="rId4"/>
    <p:sldLayoutId id="2147485422" r:id="rId5"/>
    <p:sldLayoutId id="2147485425" r:id="rId6"/>
    <p:sldLayoutId id="2147485426" r:id="rId7"/>
    <p:sldLayoutId id="2147485427" r:id="rId8"/>
    <p:sldLayoutId id="2147485462" r:id="rId9"/>
    <p:sldLayoutId id="2147485463" r:id="rId10"/>
    <p:sldLayoutId id="2147485428" r:id="rId11"/>
    <p:sldLayoutId id="2147485429" r:id="rId12"/>
    <p:sldLayoutId id="2147485430" r:id="rId13"/>
    <p:sldLayoutId id="2147485466" r:id="rId14"/>
    <p:sldLayoutId id="2147485478" r:id="rId15"/>
  </p:sldLayoutIdLst>
  <p:transition>
    <p:wipe dir="r"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/>
        <a:defRPr sz="1400" kern="1200" baseline="0">
          <a:solidFill>
            <a:srgbClr val="1E2A78"/>
          </a:solidFill>
          <a:latin typeface="+mj-lt"/>
          <a:ea typeface="Deutsche Bank Text" panose="020B0503020202030204" pitchFamily="34" charset="0"/>
          <a:cs typeface="Deutsche Bank Text" panose="020B050302020203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5pPr>
      <a:lvl6pPr marL="3422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6pPr>
      <a:lvl7pPr marL="68450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7pPr>
      <a:lvl8pPr marL="102676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8pPr>
      <a:lvl9pPr marL="136901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rgbClr val="00A3E0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chemeClr val="tx1"/>
          </a:solidFill>
          <a:latin typeface="+mn-lt"/>
          <a:ea typeface="ＭＳ Ｐゴシック" pitchFamily="-109" charset="-128"/>
        </a:defRPr>
      </a:lvl2pPr>
      <a:lvl3pPr marL="252000" indent="-252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200" kern="1200" baseline="0">
          <a:solidFill>
            <a:schemeClr val="tx1"/>
          </a:solidFill>
          <a:latin typeface="+mn-lt"/>
          <a:ea typeface="Deutsche Bank Text" panose="020B0503020202030204" pitchFamily="34" charset="0"/>
          <a:cs typeface="Deutsche Bank Text" panose="020B0503020202030204" pitchFamily="34" charset="0"/>
        </a:defRPr>
      </a:lvl3pPr>
      <a:lvl4pPr marL="468000" indent="-216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tx1"/>
          </a:solidFill>
          <a:latin typeface="+mn-lt"/>
          <a:ea typeface="ＭＳ Ｐゴシック" pitchFamily="-109" charset="-128"/>
        </a:defRPr>
      </a:lvl4pPr>
      <a:lvl5pPr marL="717550" indent="-227013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tx1"/>
          </a:solidFill>
          <a:latin typeface="+mn-lt"/>
          <a:ea typeface="ＭＳ Ｐゴシック" pitchFamily="-109" charset="-128"/>
        </a:defRPr>
      </a:lvl5pPr>
      <a:lvl6pPr marL="88296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6pPr>
      <a:lvl7pPr marL="1225221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7pPr>
      <a:lvl8pPr marL="1567475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8pPr>
      <a:lvl9pPr marL="190972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1pPr>
      <a:lvl2pPr marL="34225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2pPr>
      <a:lvl3pPr marL="684508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3pPr>
      <a:lvl4pPr marL="1026762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4pPr>
      <a:lvl5pPr marL="136901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5pPr>
      <a:lvl6pPr marL="1711269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6pPr>
      <a:lvl7pPr marL="2053523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7pPr>
      <a:lvl8pPr marL="2395776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8pPr>
      <a:lvl9pPr marL="273803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548">
          <p15:clr>
            <a:srgbClr val="F26B43"/>
          </p15:clr>
        </p15:guide>
        <p15:guide id="12" pos="213">
          <p15:clr>
            <a:srgbClr val="F26B43"/>
          </p15:clr>
        </p15:guide>
        <p15:guide id="13" orient="horz" pos="211">
          <p15:clr>
            <a:srgbClr val="F26B43"/>
          </p15:clr>
        </p15:guide>
        <p15:guide id="17" orient="horz" pos="427">
          <p15:clr>
            <a:srgbClr val="F26B43"/>
          </p15:clr>
        </p15:guide>
        <p15:guide id="18" orient="horz" pos="3028">
          <p15:clr>
            <a:srgbClr val="F26B43"/>
          </p15:clr>
        </p15:guide>
        <p15:guide id="19" orient="horz" pos="2599">
          <p15:clr>
            <a:srgbClr val="F26B43"/>
          </p15:clr>
        </p15:guide>
        <p15:guide id="21" orient="horz" pos="2813">
          <p15:clr>
            <a:srgbClr val="F26B43"/>
          </p15:clr>
        </p15:guide>
        <p15:guide id="22" pos="5332">
          <p15:clr>
            <a:srgbClr val="F26B43"/>
          </p15:clr>
        </p15:guide>
        <p15:guide id="23" orient="horz" pos="640">
          <p15:clr>
            <a:srgbClr val="F26B43"/>
          </p15:clr>
        </p15:guide>
        <p15:guide id="24" pos="5119">
          <p15:clr>
            <a:srgbClr val="F26B43"/>
          </p15:clr>
        </p15:guide>
        <p15:guide id="25" orient="horz" pos="1720">
          <p15:clr>
            <a:srgbClr val="F26B43"/>
          </p15:clr>
        </p15:guide>
        <p15:guide id="26" pos="425">
          <p15:clr>
            <a:srgbClr val="F26B43"/>
          </p15:clr>
        </p15:guide>
        <p15:guide id="27" pos="639">
          <p15:clr>
            <a:srgbClr val="F26B43"/>
          </p15:clr>
        </p15:guide>
        <p15:guide id="28" orient="horz" pos="292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Hamburger_icon.sv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78155-icons-light-idea-computer-lighting-incandescent-bulb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78155-icons-light-idea-computer-lighting-incandescent-bulb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650CF02-3B46-4AC8-A1D7-3EE3D59D7E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Introduction to React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6AE81D8-1F01-456C-B7E9-0E09995C35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4D4890-D5F9-46D6-8590-FEE139B99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687" y="2026610"/>
            <a:ext cx="7342187" cy="872164"/>
          </a:xfrm>
        </p:spPr>
        <p:txBody>
          <a:bodyPr/>
          <a:lstStyle/>
          <a:p>
            <a:r>
              <a:rPr lang="en-GB" dirty="0"/>
              <a:t>Day 6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49BCC54-58D2-1039-62CB-BE5C4450FB58}"/>
              </a:ext>
            </a:extLst>
          </p:cNvPr>
          <p:cNvSpPr txBox="1"/>
          <p:nvPr/>
        </p:nvSpPr>
        <p:spPr>
          <a:xfrm>
            <a:off x="7531101" y="3201535"/>
            <a:ext cx="1612899" cy="461665"/>
          </a:xfrm>
          <a:prstGeom prst="rect">
            <a:avLst/>
          </a:prstGeom>
          <a:solidFill>
            <a:srgbClr val="FF0027"/>
          </a:solidFill>
          <a:ln>
            <a:solidFill>
              <a:srgbClr val="FF0027"/>
            </a:solidFill>
          </a:ln>
        </p:spPr>
        <p:txBody>
          <a:bodyPr wrap="square">
            <a:spAutoFit/>
          </a:bodyPr>
          <a:lstStyle/>
          <a:p>
            <a:r>
              <a:rPr lang="en-GB" sz="600" dirty="0">
                <a:solidFill>
                  <a:schemeClr val="bg1"/>
                </a:solidFill>
              </a:rPr>
              <a:t>PPT-Master </a:t>
            </a:r>
            <a:r>
              <a:rPr lang="en-GB" sz="600">
                <a:solidFill>
                  <a:schemeClr val="bg1"/>
                </a:solidFill>
              </a:rPr>
              <a:t>Version 01</a:t>
            </a:r>
            <a:r>
              <a:rPr lang="en-GB" sz="600" dirty="0">
                <a:solidFill>
                  <a:schemeClr val="bg1"/>
                </a:solidFill>
              </a:rPr>
              <a:t>. There will be an extensive update with the new Deutsche Bank font and sample charts at the end of August 2024.</a:t>
            </a:r>
          </a:p>
        </p:txBody>
      </p:sp>
    </p:spTree>
    <p:extLst>
      <p:ext uri="{BB962C8B-B14F-4D97-AF65-F5344CB8AC3E}">
        <p14:creationId xmlns:p14="http://schemas.microsoft.com/office/powerpoint/2010/main" val="4039500496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C10303-B431-F7FF-D3D1-086B9F2A9F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Props Drilling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D8633-DED0-97F9-A391-9B5CA1837D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76F7F-E1B8-2F26-B2A4-4583B53387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Passing props to react components (DEMO)</a:t>
            </a:r>
          </a:p>
        </p:txBody>
      </p:sp>
    </p:spTree>
    <p:extLst>
      <p:ext uri="{BB962C8B-B14F-4D97-AF65-F5344CB8AC3E}">
        <p14:creationId xmlns:p14="http://schemas.microsoft.com/office/powerpoint/2010/main" val="2235071330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DD5128-D5EC-5A4C-6EE4-A0E286E371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Handling Event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46D3A-A374-AF7F-AC5C-3DFE909CCF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3374-5FB7-678C-9191-9CD9906BC0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429736499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FDF177-1A99-4F73-2F38-7AC3871CB9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Dynamic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09DA0-CA83-F5B5-EEB2-20CDC1ECFF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9A1A8-76D5-03B1-0DF8-E61F65A32E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046026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D5EAE1-1E20-DC75-8E8E-0988539DD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4</a:t>
            </a:fld>
            <a:endParaRPr lang="en-GB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73C76C-05A4-F9A0-3B89-89E7DC681EAF}"/>
              </a:ext>
            </a:extLst>
          </p:cNvPr>
          <p:cNvSpPr/>
          <p:nvPr/>
        </p:nvSpPr>
        <p:spPr bwMode="auto">
          <a:xfrm>
            <a:off x="1998133" y="524933"/>
            <a:ext cx="5638800" cy="4207934"/>
          </a:xfrm>
          <a:prstGeom prst="rect">
            <a:avLst/>
          </a:prstGeom>
          <a:noFill/>
          <a:ln w="6350">
            <a:solidFill>
              <a:srgbClr val="1E2A78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6F972A-2EEE-0975-DA28-763848820640}"/>
              </a:ext>
            </a:extLst>
          </p:cNvPr>
          <p:cNvSpPr/>
          <p:nvPr/>
        </p:nvSpPr>
        <p:spPr bwMode="auto">
          <a:xfrm>
            <a:off x="2150533" y="677334"/>
            <a:ext cx="5080000" cy="939800"/>
          </a:xfrm>
          <a:prstGeom prst="rect">
            <a:avLst/>
          </a:prstGeom>
          <a:noFill/>
          <a:ln w="6350">
            <a:solidFill>
              <a:srgbClr val="1E2A78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C0C91C-AAC9-0417-991E-E740419C7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654637" y="957659"/>
            <a:ext cx="324515" cy="3245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161D7C-A560-DB1D-18DE-A61270D76F95}"/>
              </a:ext>
            </a:extLst>
          </p:cNvPr>
          <p:cNvSpPr txBox="1"/>
          <p:nvPr/>
        </p:nvSpPr>
        <p:spPr bwMode="ltGray">
          <a:xfrm>
            <a:off x="2301825" y="1027744"/>
            <a:ext cx="787400" cy="311316"/>
          </a:xfrm>
          <a:prstGeom prst="rect">
            <a:avLst/>
          </a:prstGeom>
          <a:noFill/>
          <a:ln w="6350">
            <a:solidFill>
              <a:srgbClr val="1E2A78"/>
            </a:solidFill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b="1" dirty="0">
                <a:latin typeface="+mn-lt"/>
              </a:rPr>
              <a:t>LOGO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292EE7A-F083-1FB0-1A40-6E00ABE043A8}"/>
              </a:ext>
            </a:extLst>
          </p:cNvPr>
          <p:cNvGrpSpPr/>
          <p:nvPr/>
        </p:nvGrpSpPr>
        <p:grpSpPr>
          <a:xfrm>
            <a:off x="2471922" y="1831448"/>
            <a:ext cx="1278468" cy="1309271"/>
            <a:chOff x="2471922" y="1831448"/>
            <a:chExt cx="1278468" cy="130927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8E7819C-44DC-B231-0A4B-CDB9986DA91A}"/>
                </a:ext>
              </a:extLst>
            </p:cNvPr>
            <p:cNvSpPr/>
            <p:nvPr/>
          </p:nvSpPr>
          <p:spPr bwMode="auto">
            <a:xfrm>
              <a:off x="2471922" y="1831448"/>
              <a:ext cx="1278468" cy="513822"/>
            </a:xfrm>
            <a:prstGeom prst="rect">
              <a:avLst/>
            </a:prstGeom>
            <a:noFill/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06DEF37-A16F-E4FD-14DF-500B9902D627}"/>
                </a:ext>
              </a:extLst>
            </p:cNvPr>
            <p:cNvSpPr/>
            <p:nvPr/>
          </p:nvSpPr>
          <p:spPr bwMode="auto">
            <a:xfrm>
              <a:off x="2695525" y="2861733"/>
              <a:ext cx="775808" cy="19473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F6F0E4-D707-CDA1-B140-2987CBF7E2A2}"/>
                </a:ext>
              </a:extLst>
            </p:cNvPr>
            <p:cNvSpPr txBox="1"/>
            <p:nvPr/>
          </p:nvSpPr>
          <p:spPr bwMode="ltGray">
            <a:xfrm>
              <a:off x="2471922" y="2346322"/>
              <a:ext cx="1278468" cy="794397"/>
            </a:xfrm>
            <a:prstGeom prst="rect">
              <a:avLst/>
            </a:prstGeom>
            <a:noFill/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>
                  <a:latin typeface="+mn-lt"/>
                </a:rPr>
                <a:t>Name:</a:t>
              </a:r>
            </a:p>
            <a:p>
              <a:pPr eaLnBrk="0" hangingPunct="0"/>
              <a:r>
                <a:rPr lang="en-US" sz="900" dirty="0">
                  <a:latin typeface="+mn-lt"/>
                </a:rPr>
                <a:t>Category:</a:t>
              </a:r>
            </a:p>
            <a:p>
              <a:pPr eaLnBrk="0" hangingPunct="0"/>
              <a:r>
                <a:rPr lang="en-US" sz="900" dirty="0">
                  <a:latin typeface="+mn-lt"/>
                </a:rPr>
                <a:t>Price:</a:t>
              </a:r>
            </a:p>
            <a:p>
              <a:pPr eaLnBrk="0" hangingPunct="0"/>
              <a:endParaRPr lang="en-US" sz="900" dirty="0">
                <a:latin typeface="+mn-lt"/>
              </a:endParaRPr>
            </a:p>
            <a:p>
              <a:pPr eaLnBrk="0" hangingPunct="0"/>
              <a:endParaRPr lang="en-US" sz="900" dirty="0">
                <a:latin typeface="+mn-l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BE1BFD-E561-EAF2-5BD3-485A2FB69399}"/>
                </a:ext>
              </a:extLst>
            </p:cNvPr>
            <p:cNvSpPr txBox="1"/>
            <p:nvPr/>
          </p:nvSpPr>
          <p:spPr bwMode="ltGray">
            <a:xfrm>
              <a:off x="2695869" y="2826812"/>
              <a:ext cx="999067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>
                  <a:solidFill>
                    <a:schemeClr val="bg1"/>
                  </a:solidFill>
                  <a:latin typeface="+mn-lt"/>
                </a:rPr>
                <a:t>Add to Cart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33F0BA0-BE8C-857E-8245-CB1460281AB6}"/>
              </a:ext>
            </a:extLst>
          </p:cNvPr>
          <p:cNvGrpSpPr/>
          <p:nvPr/>
        </p:nvGrpSpPr>
        <p:grpSpPr>
          <a:xfrm>
            <a:off x="4198435" y="1843034"/>
            <a:ext cx="1278468" cy="1309271"/>
            <a:chOff x="2471922" y="1831448"/>
            <a:chExt cx="1278468" cy="130927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3D91091-BDA8-9107-FBBC-04625CC539E3}"/>
                </a:ext>
              </a:extLst>
            </p:cNvPr>
            <p:cNvSpPr/>
            <p:nvPr/>
          </p:nvSpPr>
          <p:spPr bwMode="auto">
            <a:xfrm>
              <a:off x="2471922" y="1831448"/>
              <a:ext cx="1278468" cy="513822"/>
            </a:xfrm>
            <a:prstGeom prst="rect">
              <a:avLst/>
            </a:prstGeom>
            <a:noFill/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37AA19F-96EF-2411-D67E-7B7AA1C3850E}"/>
                </a:ext>
              </a:extLst>
            </p:cNvPr>
            <p:cNvSpPr/>
            <p:nvPr/>
          </p:nvSpPr>
          <p:spPr bwMode="auto">
            <a:xfrm>
              <a:off x="2695525" y="2861733"/>
              <a:ext cx="775808" cy="19473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ED9C887-FB04-14F8-218C-0966FECD6993}"/>
                </a:ext>
              </a:extLst>
            </p:cNvPr>
            <p:cNvSpPr txBox="1"/>
            <p:nvPr/>
          </p:nvSpPr>
          <p:spPr bwMode="ltGray">
            <a:xfrm>
              <a:off x="2471922" y="2346322"/>
              <a:ext cx="1278468" cy="794397"/>
            </a:xfrm>
            <a:prstGeom prst="rect">
              <a:avLst/>
            </a:prstGeom>
            <a:noFill/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>
                  <a:latin typeface="+mn-lt"/>
                </a:rPr>
                <a:t>Name:</a:t>
              </a:r>
            </a:p>
            <a:p>
              <a:pPr eaLnBrk="0" hangingPunct="0"/>
              <a:r>
                <a:rPr lang="en-US" sz="900" dirty="0">
                  <a:latin typeface="+mn-lt"/>
                </a:rPr>
                <a:t>Category:</a:t>
              </a:r>
            </a:p>
            <a:p>
              <a:pPr eaLnBrk="0" hangingPunct="0"/>
              <a:r>
                <a:rPr lang="en-US" sz="900" dirty="0">
                  <a:latin typeface="+mn-lt"/>
                </a:rPr>
                <a:t>Price:</a:t>
              </a:r>
            </a:p>
            <a:p>
              <a:pPr eaLnBrk="0" hangingPunct="0"/>
              <a:endParaRPr lang="en-US" sz="900" dirty="0">
                <a:latin typeface="+mn-lt"/>
              </a:endParaRPr>
            </a:p>
            <a:p>
              <a:pPr eaLnBrk="0" hangingPunct="0"/>
              <a:endParaRPr lang="en-US" sz="900" dirty="0">
                <a:latin typeface="+mn-lt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A93494B-7983-910A-C7D8-0D6B7E670962}"/>
                </a:ext>
              </a:extLst>
            </p:cNvPr>
            <p:cNvSpPr txBox="1"/>
            <p:nvPr/>
          </p:nvSpPr>
          <p:spPr bwMode="ltGray">
            <a:xfrm>
              <a:off x="2695869" y="2826812"/>
              <a:ext cx="999067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>
                  <a:solidFill>
                    <a:schemeClr val="bg1"/>
                  </a:solidFill>
                  <a:latin typeface="+mn-lt"/>
                </a:rPr>
                <a:t>Add to Cart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5C32013-85E6-1E18-7F70-1BAAECF37E7F}"/>
              </a:ext>
            </a:extLst>
          </p:cNvPr>
          <p:cNvGrpSpPr/>
          <p:nvPr/>
        </p:nvGrpSpPr>
        <p:grpSpPr>
          <a:xfrm>
            <a:off x="5823195" y="1844086"/>
            <a:ext cx="1278468" cy="1309271"/>
            <a:chOff x="2471922" y="1831448"/>
            <a:chExt cx="1278468" cy="130927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64BDD74-F452-9A52-DE31-18AEED284F58}"/>
                </a:ext>
              </a:extLst>
            </p:cNvPr>
            <p:cNvSpPr/>
            <p:nvPr/>
          </p:nvSpPr>
          <p:spPr bwMode="auto">
            <a:xfrm>
              <a:off x="2471922" y="1831448"/>
              <a:ext cx="1278468" cy="513822"/>
            </a:xfrm>
            <a:prstGeom prst="rect">
              <a:avLst/>
            </a:prstGeom>
            <a:noFill/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78B6D62F-5FAB-F300-6A5D-ADE40DEDBA30}"/>
                </a:ext>
              </a:extLst>
            </p:cNvPr>
            <p:cNvSpPr/>
            <p:nvPr/>
          </p:nvSpPr>
          <p:spPr bwMode="auto">
            <a:xfrm>
              <a:off x="2695525" y="2861733"/>
              <a:ext cx="775808" cy="19473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81EB5E7-A1BB-D9F2-5F74-02FEE591CD0B}"/>
                </a:ext>
              </a:extLst>
            </p:cNvPr>
            <p:cNvSpPr txBox="1"/>
            <p:nvPr/>
          </p:nvSpPr>
          <p:spPr bwMode="ltGray">
            <a:xfrm>
              <a:off x="2471922" y="2346322"/>
              <a:ext cx="1278468" cy="794397"/>
            </a:xfrm>
            <a:prstGeom prst="rect">
              <a:avLst/>
            </a:prstGeom>
            <a:noFill/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>
                  <a:latin typeface="+mn-lt"/>
                </a:rPr>
                <a:t>Name:</a:t>
              </a:r>
            </a:p>
            <a:p>
              <a:pPr eaLnBrk="0" hangingPunct="0"/>
              <a:r>
                <a:rPr lang="en-US" sz="900" dirty="0">
                  <a:latin typeface="+mn-lt"/>
                </a:rPr>
                <a:t>Category:</a:t>
              </a:r>
            </a:p>
            <a:p>
              <a:pPr eaLnBrk="0" hangingPunct="0"/>
              <a:r>
                <a:rPr lang="en-US" sz="900" dirty="0">
                  <a:latin typeface="+mn-lt"/>
                </a:rPr>
                <a:t>Price:</a:t>
              </a:r>
            </a:p>
            <a:p>
              <a:pPr eaLnBrk="0" hangingPunct="0"/>
              <a:endParaRPr lang="en-US" sz="900" dirty="0">
                <a:latin typeface="+mn-lt"/>
              </a:endParaRPr>
            </a:p>
            <a:p>
              <a:pPr eaLnBrk="0" hangingPunct="0"/>
              <a:endParaRPr lang="en-US" sz="900" dirty="0">
                <a:latin typeface="+mn-lt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665E696-EE7D-010C-4DA3-145514030A9F}"/>
                </a:ext>
              </a:extLst>
            </p:cNvPr>
            <p:cNvSpPr txBox="1"/>
            <p:nvPr/>
          </p:nvSpPr>
          <p:spPr bwMode="ltGray">
            <a:xfrm>
              <a:off x="2695869" y="2826812"/>
              <a:ext cx="999067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>
                  <a:solidFill>
                    <a:schemeClr val="bg1"/>
                  </a:solidFill>
                  <a:latin typeface="+mn-lt"/>
                </a:rPr>
                <a:t>Add to Cart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36620F7-53AA-A3E8-9093-2064BD0A956E}"/>
              </a:ext>
            </a:extLst>
          </p:cNvPr>
          <p:cNvGrpSpPr/>
          <p:nvPr/>
        </p:nvGrpSpPr>
        <p:grpSpPr>
          <a:xfrm>
            <a:off x="2471922" y="3273055"/>
            <a:ext cx="1278468" cy="1309271"/>
            <a:chOff x="2471922" y="1831448"/>
            <a:chExt cx="1278468" cy="130927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23D9279-7A04-EAF3-63F7-0CDFBB1CB332}"/>
                </a:ext>
              </a:extLst>
            </p:cNvPr>
            <p:cNvSpPr/>
            <p:nvPr/>
          </p:nvSpPr>
          <p:spPr bwMode="auto">
            <a:xfrm>
              <a:off x="2471922" y="1831448"/>
              <a:ext cx="1278468" cy="513822"/>
            </a:xfrm>
            <a:prstGeom prst="rect">
              <a:avLst/>
            </a:prstGeom>
            <a:noFill/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F871757-A7FC-6952-B995-C899C3FEBB20}"/>
                </a:ext>
              </a:extLst>
            </p:cNvPr>
            <p:cNvSpPr/>
            <p:nvPr/>
          </p:nvSpPr>
          <p:spPr bwMode="auto">
            <a:xfrm>
              <a:off x="2695525" y="2861733"/>
              <a:ext cx="775808" cy="19473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67D3638-CDED-2E64-86AF-215A7FED6290}"/>
                </a:ext>
              </a:extLst>
            </p:cNvPr>
            <p:cNvSpPr txBox="1"/>
            <p:nvPr/>
          </p:nvSpPr>
          <p:spPr bwMode="ltGray">
            <a:xfrm>
              <a:off x="2471922" y="2346322"/>
              <a:ext cx="1278468" cy="794397"/>
            </a:xfrm>
            <a:prstGeom prst="rect">
              <a:avLst/>
            </a:prstGeom>
            <a:noFill/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>
                  <a:latin typeface="+mn-lt"/>
                </a:rPr>
                <a:t>Name:</a:t>
              </a:r>
            </a:p>
            <a:p>
              <a:pPr eaLnBrk="0" hangingPunct="0"/>
              <a:r>
                <a:rPr lang="en-US" sz="900" dirty="0">
                  <a:latin typeface="+mn-lt"/>
                </a:rPr>
                <a:t>Category:</a:t>
              </a:r>
            </a:p>
            <a:p>
              <a:pPr eaLnBrk="0" hangingPunct="0"/>
              <a:r>
                <a:rPr lang="en-US" sz="900" dirty="0">
                  <a:latin typeface="+mn-lt"/>
                </a:rPr>
                <a:t>Price:</a:t>
              </a:r>
            </a:p>
            <a:p>
              <a:pPr eaLnBrk="0" hangingPunct="0"/>
              <a:endParaRPr lang="en-US" sz="900" dirty="0">
                <a:latin typeface="+mn-lt"/>
              </a:endParaRPr>
            </a:p>
            <a:p>
              <a:pPr eaLnBrk="0" hangingPunct="0"/>
              <a:endParaRPr lang="en-US" sz="900" dirty="0">
                <a:latin typeface="+mn-lt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8098876-D758-BDDE-E573-12737E00AC3F}"/>
                </a:ext>
              </a:extLst>
            </p:cNvPr>
            <p:cNvSpPr txBox="1"/>
            <p:nvPr/>
          </p:nvSpPr>
          <p:spPr bwMode="ltGray">
            <a:xfrm>
              <a:off x="2695869" y="2826812"/>
              <a:ext cx="999067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>
                  <a:solidFill>
                    <a:schemeClr val="bg1"/>
                  </a:solidFill>
                  <a:latin typeface="+mn-lt"/>
                </a:rPr>
                <a:t>Add to Cart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9156489-0E5F-73A1-AB31-2B0254230ED3}"/>
              </a:ext>
            </a:extLst>
          </p:cNvPr>
          <p:cNvGrpSpPr/>
          <p:nvPr/>
        </p:nvGrpSpPr>
        <p:grpSpPr>
          <a:xfrm>
            <a:off x="4198435" y="3273055"/>
            <a:ext cx="1278468" cy="1309271"/>
            <a:chOff x="2471922" y="1831448"/>
            <a:chExt cx="1278468" cy="130927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A6AAB09-E9FA-A166-882C-5F6F5AB4EA1F}"/>
                </a:ext>
              </a:extLst>
            </p:cNvPr>
            <p:cNvSpPr/>
            <p:nvPr/>
          </p:nvSpPr>
          <p:spPr bwMode="auto">
            <a:xfrm>
              <a:off x="2471922" y="1831448"/>
              <a:ext cx="1278468" cy="513822"/>
            </a:xfrm>
            <a:prstGeom prst="rect">
              <a:avLst/>
            </a:prstGeom>
            <a:noFill/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4CFA5BEB-0603-D3EA-9691-486440F7C391}"/>
                </a:ext>
              </a:extLst>
            </p:cNvPr>
            <p:cNvSpPr/>
            <p:nvPr/>
          </p:nvSpPr>
          <p:spPr bwMode="auto">
            <a:xfrm>
              <a:off x="2695525" y="2861733"/>
              <a:ext cx="775808" cy="19473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BE76491-23D8-9B1D-1A5A-A2E060B905D8}"/>
                </a:ext>
              </a:extLst>
            </p:cNvPr>
            <p:cNvSpPr txBox="1"/>
            <p:nvPr/>
          </p:nvSpPr>
          <p:spPr bwMode="ltGray">
            <a:xfrm>
              <a:off x="2471922" y="2346322"/>
              <a:ext cx="1278468" cy="794397"/>
            </a:xfrm>
            <a:prstGeom prst="rect">
              <a:avLst/>
            </a:prstGeom>
            <a:noFill/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>
                  <a:latin typeface="+mn-lt"/>
                </a:rPr>
                <a:t>Name:</a:t>
              </a:r>
            </a:p>
            <a:p>
              <a:pPr eaLnBrk="0" hangingPunct="0"/>
              <a:r>
                <a:rPr lang="en-US" sz="900" dirty="0">
                  <a:latin typeface="+mn-lt"/>
                </a:rPr>
                <a:t>Category:</a:t>
              </a:r>
            </a:p>
            <a:p>
              <a:pPr eaLnBrk="0" hangingPunct="0"/>
              <a:r>
                <a:rPr lang="en-US" sz="900" dirty="0">
                  <a:latin typeface="+mn-lt"/>
                </a:rPr>
                <a:t>Price:</a:t>
              </a:r>
            </a:p>
            <a:p>
              <a:pPr eaLnBrk="0" hangingPunct="0"/>
              <a:endParaRPr lang="en-US" sz="900" dirty="0">
                <a:latin typeface="+mn-lt"/>
              </a:endParaRPr>
            </a:p>
            <a:p>
              <a:pPr eaLnBrk="0" hangingPunct="0"/>
              <a:endParaRPr lang="en-US" sz="900" dirty="0">
                <a:latin typeface="+mn-lt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256CA97-3F9C-2864-EE16-847FCDD1FEB8}"/>
                </a:ext>
              </a:extLst>
            </p:cNvPr>
            <p:cNvSpPr txBox="1"/>
            <p:nvPr/>
          </p:nvSpPr>
          <p:spPr bwMode="ltGray">
            <a:xfrm>
              <a:off x="2695869" y="2826812"/>
              <a:ext cx="999067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>
                  <a:solidFill>
                    <a:schemeClr val="bg1"/>
                  </a:solidFill>
                  <a:latin typeface="+mn-lt"/>
                </a:rPr>
                <a:t>Add to Cart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EAB602A-E6D9-7885-0CDE-DDA91AB54927}"/>
              </a:ext>
            </a:extLst>
          </p:cNvPr>
          <p:cNvGrpSpPr/>
          <p:nvPr/>
        </p:nvGrpSpPr>
        <p:grpSpPr>
          <a:xfrm>
            <a:off x="5831318" y="3271037"/>
            <a:ext cx="1278468" cy="1309271"/>
            <a:chOff x="2471922" y="1831448"/>
            <a:chExt cx="1278468" cy="130927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0230EC0-5036-F120-70B1-0EE31AC6A645}"/>
                </a:ext>
              </a:extLst>
            </p:cNvPr>
            <p:cNvSpPr/>
            <p:nvPr/>
          </p:nvSpPr>
          <p:spPr bwMode="auto">
            <a:xfrm>
              <a:off x="2471922" y="1831448"/>
              <a:ext cx="1278468" cy="513822"/>
            </a:xfrm>
            <a:prstGeom prst="rect">
              <a:avLst/>
            </a:prstGeom>
            <a:noFill/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B54BF823-01DA-0EF3-A12E-CED208EDC2D9}"/>
                </a:ext>
              </a:extLst>
            </p:cNvPr>
            <p:cNvSpPr/>
            <p:nvPr/>
          </p:nvSpPr>
          <p:spPr bwMode="auto">
            <a:xfrm>
              <a:off x="2695525" y="2861733"/>
              <a:ext cx="775808" cy="19473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FB342BA-9BFE-42C5-C7C8-AF82D137DFE4}"/>
                </a:ext>
              </a:extLst>
            </p:cNvPr>
            <p:cNvSpPr txBox="1"/>
            <p:nvPr/>
          </p:nvSpPr>
          <p:spPr bwMode="ltGray">
            <a:xfrm>
              <a:off x="2471922" y="2346322"/>
              <a:ext cx="1278468" cy="794397"/>
            </a:xfrm>
            <a:prstGeom prst="rect">
              <a:avLst/>
            </a:prstGeom>
            <a:noFill/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>
                  <a:latin typeface="+mn-lt"/>
                </a:rPr>
                <a:t>Name:</a:t>
              </a:r>
            </a:p>
            <a:p>
              <a:pPr eaLnBrk="0" hangingPunct="0"/>
              <a:r>
                <a:rPr lang="en-US" sz="900" dirty="0">
                  <a:latin typeface="+mn-lt"/>
                </a:rPr>
                <a:t>Category:</a:t>
              </a:r>
            </a:p>
            <a:p>
              <a:pPr eaLnBrk="0" hangingPunct="0"/>
              <a:r>
                <a:rPr lang="en-US" sz="900" dirty="0">
                  <a:latin typeface="+mn-lt"/>
                </a:rPr>
                <a:t>Price:</a:t>
              </a:r>
            </a:p>
            <a:p>
              <a:pPr eaLnBrk="0" hangingPunct="0"/>
              <a:endParaRPr lang="en-US" sz="900" dirty="0">
                <a:latin typeface="+mn-lt"/>
              </a:endParaRPr>
            </a:p>
            <a:p>
              <a:pPr eaLnBrk="0" hangingPunct="0"/>
              <a:endParaRPr lang="en-US" sz="900" dirty="0">
                <a:latin typeface="+mn-lt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C26400E-7F2E-1749-5717-8B1A89A4D99D}"/>
                </a:ext>
              </a:extLst>
            </p:cNvPr>
            <p:cNvSpPr txBox="1"/>
            <p:nvPr/>
          </p:nvSpPr>
          <p:spPr bwMode="ltGray">
            <a:xfrm>
              <a:off x="2695869" y="2826812"/>
              <a:ext cx="999067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>
                  <a:solidFill>
                    <a:schemeClr val="bg1"/>
                  </a:solidFill>
                  <a:latin typeface="+mn-lt"/>
                </a:rPr>
                <a:t>Add to Cart</a:t>
              </a:r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DF6B8E3-0849-D693-3BED-950B5279D5C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02267" y="2088359"/>
            <a:ext cx="1413933" cy="655161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/>
          </a:ln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5159D89-FF43-9698-C042-E6E2278FD000}"/>
              </a:ext>
            </a:extLst>
          </p:cNvPr>
          <p:cNvSpPr txBox="1"/>
          <p:nvPr/>
        </p:nvSpPr>
        <p:spPr bwMode="ltGray">
          <a:xfrm>
            <a:off x="266030" y="1628714"/>
            <a:ext cx="1071702" cy="471231"/>
          </a:xfrm>
          <a:prstGeom prst="rect">
            <a:avLst/>
          </a:prstGeom>
          <a:noFill/>
          <a:ln w="6350">
            <a:solidFill>
              <a:srgbClr val="1E2A78"/>
            </a:solidFill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sz="1200" dirty="0">
                <a:latin typeface="+mn-lt"/>
              </a:rPr>
              <a:t>Dynamic Data (Price)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91FC1ED-01E9-CB0C-6AB2-B262E1BA466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181939" y="1225793"/>
            <a:ext cx="1413933" cy="655161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8469B6B-E41B-534C-1EAC-622F1F9F01E3}"/>
              </a:ext>
            </a:extLst>
          </p:cNvPr>
          <p:cNvSpPr txBox="1"/>
          <p:nvPr/>
        </p:nvSpPr>
        <p:spPr bwMode="ltGray">
          <a:xfrm>
            <a:off x="188133" y="749523"/>
            <a:ext cx="1071702" cy="471231"/>
          </a:xfrm>
          <a:prstGeom prst="rect">
            <a:avLst/>
          </a:prstGeom>
          <a:noFill/>
          <a:ln w="6350">
            <a:solidFill>
              <a:srgbClr val="1E2A78"/>
            </a:solidFill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sz="1200" dirty="0">
                <a:latin typeface="+mn-lt"/>
              </a:rPr>
              <a:t>Static Data (Picture)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DB76A3-0F6C-CF4B-2F34-807783CD2C03}"/>
              </a:ext>
            </a:extLst>
          </p:cNvPr>
          <p:cNvSpPr txBox="1"/>
          <p:nvPr/>
        </p:nvSpPr>
        <p:spPr bwMode="ltGray">
          <a:xfrm>
            <a:off x="7831331" y="1301755"/>
            <a:ext cx="1202935" cy="655897"/>
          </a:xfrm>
          <a:prstGeom prst="rect">
            <a:avLst/>
          </a:prstGeom>
          <a:noFill/>
          <a:ln w="6350">
            <a:solidFill>
              <a:srgbClr val="1E2A78"/>
            </a:solidFill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sz="1200" dirty="0">
                <a:latin typeface="+mn-lt"/>
              </a:rPr>
              <a:t>Personalized content of each user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26A7673-6B45-D484-6F52-B4B42483DF23}"/>
              </a:ext>
            </a:extLst>
          </p:cNvPr>
          <p:cNvCxnSpPr>
            <a:stCxn id="14" idx="3"/>
            <a:endCxn id="58" idx="1"/>
          </p:cNvCxnSpPr>
          <p:nvPr/>
        </p:nvCxnSpPr>
        <p:spPr bwMode="auto">
          <a:xfrm>
            <a:off x="6979152" y="1119917"/>
            <a:ext cx="852179" cy="5097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/>
          </a:ln>
        </p:spPr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E079A9D-8C24-9047-0A01-3CBC1959E20D}"/>
              </a:ext>
            </a:extLst>
          </p:cNvPr>
          <p:cNvSpPr/>
          <p:nvPr/>
        </p:nvSpPr>
        <p:spPr bwMode="auto">
          <a:xfrm>
            <a:off x="1701800" y="1761067"/>
            <a:ext cx="6129531" cy="2971800"/>
          </a:xfrm>
          <a:prstGeom prst="rect">
            <a:avLst/>
          </a:prstGeom>
          <a:noFill/>
          <a:ln w="28575">
            <a:solidFill>
              <a:srgbClr val="E7001D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8" name="Title 67">
            <a:extLst>
              <a:ext uri="{FF2B5EF4-FFF2-40B4-BE49-F238E27FC236}">
                <a16:creationId xmlns:a16="http://schemas.microsoft.com/office/drawing/2014/main" id="{9AE2D29E-2B20-C9C3-5D3A-DA65F0E9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25" y="4761416"/>
            <a:ext cx="6505625" cy="357712"/>
          </a:xfrm>
        </p:spPr>
        <p:txBody>
          <a:bodyPr/>
          <a:lstStyle/>
          <a:p>
            <a:r>
              <a:rPr lang="en-US" dirty="0">
                <a:latin typeface="+mn-lt"/>
              </a:rPr>
              <a:t>Dynamic Content – which changes according to data requested by the user.</a:t>
            </a:r>
            <a:br>
              <a:rPr lang="en-US" dirty="0">
                <a:latin typeface="+mn-lt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027015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48D954-F5D1-DD93-118B-FED5270479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Everything is a component in React.</a:t>
            </a:r>
          </a:p>
        </p:txBody>
      </p:sp>
    </p:spTree>
    <p:extLst>
      <p:ext uri="{BB962C8B-B14F-4D97-AF65-F5344CB8AC3E}">
        <p14:creationId xmlns:p14="http://schemas.microsoft.com/office/powerpoint/2010/main" val="1331026851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7">
            <a:extLst>
              <a:ext uri="{FF2B5EF4-FFF2-40B4-BE49-F238E27FC236}">
                <a16:creationId xmlns:a16="http://schemas.microsoft.com/office/drawing/2014/main" id="{81185796-A975-A5DB-62F6-6FA0731AA31F}"/>
              </a:ext>
            </a:extLst>
          </p:cNvPr>
          <p:cNvSpPr txBox="1"/>
          <p:nvPr/>
        </p:nvSpPr>
        <p:spPr bwMode="ltGray">
          <a:xfrm>
            <a:off x="6612550" y="1839622"/>
            <a:ext cx="698911" cy="2403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sz="900" dirty="0">
                <a:latin typeface="+mn-lt"/>
              </a:rPr>
              <a:t>False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146DCB-893F-790E-1EFA-E3848FF3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391" y="797889"/>
            <a:ext cx="1028873" cy="357712"/>
          </a:xfrm>
        </p:spPr>
        <p:txBody>
          <a:bodyPr/>
          <a:lstStyle/>
          <a:p>
            <a:pPr algn="ctr"/>
            <a:r>
              <a:rPr lang="en-US" dirty="0"/>
              <a:t>Initiation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CF248E-52FC-127D-805E-F986C5909B1F}"/>
              </a:ext>
            </a:extLst>
          </p:cNvPr>
          <p:cNvCxnSpPr/>
          <p:nvPr/>
        </p:nvCxnSpPr>
        <p:spPr bwMode="auto">
          <a:xfrm>
            <a:off x="1960418" y="976745"/>
            <a:ext cx="0" cy="3726873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8A2903-FB88-3947-B2F7-97E903F81A18}"/>
              </a:ext>
            </a:extLst>
          </p:cNvPr>
          <p:cNvCxnSpPr/>
          <p:nvPr/>
        </p:nvCxnSpPr>
        <p:spPr bwMode="auto">
          <a:xfrm>
            <a:off x="3657600" y="976745"/>
            <a:ext cx="0" cy="3726873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2590CF-5E74-F80F-9B52-E50BFA2D0300}"/>
              </a:ext>
            </a:extLst>
          </p:cNvPr>
          <p:cNvCxnSpPr/>
          <p:nvPr/>
        </p:nvCxnSpPr>
        <p:spPr bwMode="auto">
          <a:xfrm>
            <a:off x="7058891" y="976745"/>
            <a:ext cx="0" cy="3726873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</p:spPr>
      </p:cxnSp>
      <p:sp>
        <p:nvSpPr>
          <p:cNvPr id="13" name="Title 2">
            <a:extLst>
              <a:ext uri="{FF2B5EF4-FFF2-40B4-BE49-F238E27FC236}">
                <a16:creationId xmlns:a16="http://schemas.microsoft.com/office/drawing/2014/main" id="{71356368-0EC0-2376-B2F0-87B3B7B18F0B}"/>
              </a:ext>
            </a:extLst>
          </p:cNvPr>
          <p:cNvSpPr txBox="1">
            <a:spLocks/>
          </p:cNvSpPr>
          <p:nvPr/>
        </p:nvSpPr>
        <p:spPr>
          <a:xfrm>
            <a:off x="2243399" y="797889"/>
            <a:ext cx="1028873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 sz="1400" kern="1200" baseline="0">
                <a:solidFill>
                  <a:srgbClr val="1E2A78"/>
                </a:solidFill>
                <a:latin typeface="+mj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5pPr>
            <a:lvl6pPr marL="34225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6pPr>
            <a:lvl7pPr marL="68450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7pPr>
            <a:lvl8pPr marL="102676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8pPr>
            <a:lvl9pPr marL="136901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/>
            <a:r>
              <a:rPr lang="en-US" dirty="0"/>
              <a:t>Mounting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0C63AB73-0BCD-8F73-AC5B-4B440120BC1F}"/>
              </a:ext>
            </a:extLst>
          </p:cNvPr>
          <p:cNvSpPr txBox="1">
            <a:spLocks/>
          </p:cNvSpPr>
          <p:nvPr/>
        </p:nvSpPr>
        <p:spPr>
          <a:xfrm>
            <a:off x="4840345" y="797889"/>
            <a:ext cx="1028873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 sz="1400" kern="1200" baseline="0">
                <a:solidFill>
                  <a:srgbClr val="1E2A78"/>
                </a:solidFill>
                <a:latin typeface="+mj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5pPr>
            <a:lvl6pPr marL="34225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6pPr>
            <a:lvl7pPr marL="68450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7pPr>
            <a:lvl8pPr marL="102676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8pPr>
            <a:lvl9pPr marL="136901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/>
            <a:r>
              <a:rPr lang="en-US" dirty="0" err="1"/>
              <a:t>Updation</a:t>
            </a:r>
            <a:endParaRPr lang="en-US" dirty="0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1FBFCBF4-5E8A-2DD3-6D17-5A2E43DDCE82}"/>
              </a:ext>
            </a:extLst>
          </p:cNvPr>
          <p:cNvSpPr txBox="1">
            <a:spLocks/>
          </p:cNvSpPr>
          <p:nvPr/>
        </p:nvSpPr>
        <p:spPr>
          <a:xfrm>
            <a:off x="7403437" y="797889"/>
            <a:ext cx="1028873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 sz="1400" kern="1200" baseline="0">
                <a:solidFill>
                  <a:srgbClr val="1E2A78"/>
                </a:solidFill>
                <a:latin typeface="+mj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5pPr>
            <a:lvl6pPr marL="34225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6pPr>
            <a:lvl7pPr marL="68450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7pPr>
            <a:lvl8pPr marL="102676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8pPr>
            <a:lvl9pPr marL="136901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/>
            <a:r>
              <a:rPr lang="en-US" dirty="0"/>
              <a:t>Unmounting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78C1022-BE31-88D0-3131-E6A6510BDFD3}"/>
              </a:ext>
            </a:extLst>
          </p:cNvPr>
          <p:cNvGrpSpPr/>
          <p:nvPr/>
        </p:nvGrpSpPr>
        <p:grpSpPr>
          <a:xfrm>
            <a:off x="408709" y="1399309"/>
            <a:ext cx="1477386" cy="378898"/>
            <a:chOff x="408709" y="1399309"/>
            <a:chExt cx="1477386" cy="378898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81DF66C-3E2B-ACA9-50C5-F22D358719B2}"/>
                </a:ext>
              </a:extLst>
            </p:cNvPr>
            <p:cNvSpPr/>
            <p:nvPr/>
          </p:nvSpPr>
          <p:spPr bwMode="auto">
            <a:xfrm>
              <a:off x="408709" y="1399309"/>
              <a:ext cx="1371598" cy="378898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50EF58-7EA1-9F7F-A655-D27C7B0E9687}"/>
                </a:ext>
              </a:extLst>
            </p:cNvPr>
            <p:cNvSpPr txBox="1"/>
            <p:nvPr/>
          </p:nvSpPr>
          <p:spPr bwMode="ltGray">
            <a:xfrm>
              <a:off x="414818" y="1468558"/>
              <a:ext cx="1471277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>
                  <a:solidFill>
                    <a:schemeClr val="bg1"/>
                  </a:solidFill>
                  <a:latin typeface="+mn-lt"/>
                </a:rPr>
                <a:t>Setup props and state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C182C12-0ED9-7E66-437A-C5B3B089EE4A}"/>
              </a:ext>
            </a:extLst>
          </p:cNvPr>
          <p:cNvGrpSpPr/>
          <p:nvPr/>
        </p:nvGrpSpPr>
        <p:grpSpPr>
          <a:xfrm>
            <a:off x="2082555" y="1399308"/>
            <a:ext cx="1527175" cy="357711"/>
            <a:chOff x="2082555" y="1399308"/>
            <a:chExt cx="1527175" cy="35771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7F4D862-1723-788B-C467-C28DCC476A8A}"/>
                </a:ext>
              </a:extLst>
            </p:cNvPr>
            <p:cNvSpPr/>
            <p:nvPr/>
          </p:nvSpPr>
          <p:spPr bwMode="auto">
            <a:xfrm>
              <a:off x="2114551" y="1399308"/>
              <a:ext cx="1371598" cy="357711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BF0C0F-D62F-CCBB-7774-35422B7FE84D}"/>
                </a:ext>
              </a:extLst>
            </p:cNvPr>
            <p:cNvSpPr txBox="1"/>
            <p:nvPr/>
          </p:nvSpPr>
          <p:spPr bwMode="ltGray">
            <a:xfrm>
              <a:off x="2082555" y="1457963"/>
              <a:ext cx="1527175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 err="1">
                  <a:solidFill>
                    <a:schemeClr val="bg1"/>
                  </a:solidFill>
                  <a:latin typeface="+mn-lt"/>
                </a:rPr>
                <a:t>ComponentWillMount</a:t>
              </a:r>
              <a:endParaRPr lang="en-US" sz="9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C47FD29-E4FC-185A-F7DA-AD42787C6338}"/>
              </a:ext>
            </a:extLst>
          </p:cNvPr>
          <p:cNvGrpSpPr/>
          <p:nvPr/>
        </p:nvGrpSpPr>
        <p:grpSpPr>
          <a:xfrm>
            <a:off x="2104839" y="2162589"/>
            <a:ext cx="1389767" cy="348794"/>
            <a:chOff x="2111083" y="2269813"/>
            <a:chExt cx="1389767" cy="348794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8CCBB9B-4625-F68F-0D6D-A4E0A1424D16}"/>
                </a:ext>
              </a:extLst>
            </p:cNvPr>
            <p:cNvSpPr/>
            <p:nvPr/>
          </p:nvSpPr>
          <p:spPr bwMode="auto">
            <a:xfrm>
              <a:off x="2111083" y="2269813"/>
              <a:ext cx="1371598" cy="34879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F685A1-BAA6-7EA7-A316-F22CA27AABE0}"/>
                </a:ext>
              </a:extLst>
            </p:cNvPr>
            <p:cNvSpPr txBox="1"/>
            <p:nvPr/>
          </p:nvSpPr>
          <p:spPr bwMode="ltGray">
            <a:xfrm>
              <a:off x="2529300" y="2324011"/>
              <a:ext cx="971550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>
                  <a:solidFill>
                    <a:schemeClr val="bg1"/>
                  </a:solidFill>
                  <a:latin typeface="+mn-lt"/>
                </a:rPr>
                <a:t>Render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6A189BE-7FEC-2EF8-35E5-BF57E9517DFC}"/>
              </a:ext>
            </a:extLst>
          </p:cNvPr>
          <p:cNvGrpSpPr/>
          <p:nvPr/>
        </p:nvGrpSpPr>
        <p:grpSpPr>
          <a:xfrm>
            <a:off x="2097623" y="2910894"/>
            <a:ext cx="1376599" cy="348794"/>
            <a:chOff x="2111083" y="3107475"/>
            <a:chExt cx="1376599" cy="348794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496A9E9A-F541-C298-49BE-CFAD1DD6C123}"/>
                </a:ext>
              </a:extLst>
            </p:cNvPr>
            <p:cNvSpPr/>
            <p:nvPr/>
          </p:nvSpPr>
          <p:spPr bwMode="auto">
            <a:xfrm>
              <a:off x="2111083" y="3107475"/>
              <a:ext cx="1371598" cy="34879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1F70F99-D13A-EF73-E85D-D33703C6FAEA}"/>
                </a:ext>
              </a:extLst>
            </p:cNvPr>
            <p:cNvSpPr txBox="1"/>
            <p:nvPr/>
          </p:nvSpPr>
          <p:spPr bwMode="ltGray">
            <a:xfrm>
              <a:off x="2143293" y="3146487"/>
              <a:ext cx="1344389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 err="1">
                  <a:solidFill>
                    <a:schemeClr val="bg1"/>
                  </a:solidFill>
                  <a:latin typeface="+mn-lt"/>
                </a:rPr>
                <a:t>ComponentDidMount</a:t>
              </a:r>
              <a:endParaRPr lang="en-US" sz="9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193ACBA-8145-9872-2836-14C28BACFF01}"/>
              </a:ext>
            </a:extLst>
          </p:cNvPr>
          <p:cNvGrpSpPr/>
          <p:nvPr/>
        </p:nvGrpSpPr>
        <p:grpSpPr>
          <a:xfrm>
            <a:off x="3818139" y="1369206"/>
            <a:ext cx="1371598" cy="378898"/>
            <a:chOff x="3818139" y="1369206"/>
            <a:chExt cx="1371598" cy="3788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0760CAE-4972-1148-78FA-5A1355C570E8}"/>
                </a:ext>
              </a:extLst>
            </p:cNvPr>
            <p:cNvSpPr/>
            <p:nvPr/>
          </p:nvSpPr>
          <p:spPr bwMode="auto">
            <a:xfrm>
              <a:off x="3818139" y="1399308"/>
              <a:ext cx="1371598" cy="348795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AFE4E05-778E-3CC1-616F-A67A1A83F94C}"/>
                </a:ext>
              </a:extLst>
            </p:cNvPr>
            <p:cNvSpPr txBox="1"/>
            <p:nvPr/>
          </p:nvSpPr>
          <p:spPr bwMode="ltGray">
            <a:xfrm>
              <a:off x="3995602" y="1369206"/>
              <a:ext cx="1028863" cy="37889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 err="1">
                  <a:solidFill>
                    <a:schemeClr val="bg1"/>
                  </a:solidFill>
                  <a:latin typeface="+mn-lt"/>
                </a:rPr>
                <a:t>componentWillReceiveProps</a:t>
              </a:r>
              <a:endParaRPr lang="en-US" sz="9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877CB19-237F-9139-8500-CD78BDABA7E3}"/>
              </a:ext>
            </a:extLst>
          </p:cNvPr>
          <p:cNvGrpSpPr/>
          <p:nvPr/>
        </p:nvGrpSpPr>
        <p:grpSpPr>
          <a:xfrm>
            <a:off x="5526235" y="1399309"/>
            <a:ext cx="1371598" cy="378898"/>
            <a:chOff x="5526235" y="1399309"/>
            <a:chExt cx="1371598" cy="378898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ACF5E5B-8029-4CE5-64E9-25578EDCE75F}"/>
                </a:ext>
              </a:extLst>
            </p:cNvPr>
            <p:cNvSpPr/>
            <p:nvPr/>
          </p:nvSpPr>
          <p:spPr bwMode="auto">
            <a:xfrm>
              <a:off x="5526235" y="1399309"/>
              <a:ext cx="1371598" cy="34879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238C77D-4948-DF22-7759-3210D5181A52}"/>
                </a:ext>
              </a:extLst>
            </p:cNvPr>
            <p:cNvSpPr txBox="1"/>
            <p:nvPr/>
          </p:nvSpPr>
          <p:spPr bwMode="ltGray">
            <a:xfrm>
              <a:off x="5656407" y="1399309"/>
              <a:ext cx="1197545" cy="37889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 err="1">
                  <a:solidFill>
                    <a:schemeClr val="bg1"/>
                  </a:solidFill>
                  <a:latin typeface="+mn-lt"/>
                </a:rPr>
                <a:t>shouldComponentUpdate</a:t>
              </a:r>
              <a:endParaRPr lang="en-US" sz="9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BE4F764-C92F-76D2-7821-03E28188AA06}"/>
              </a:ext>
            </a:extLst>
          </p:cNvPr>
          <p:cNvGrpSpPr/>
          <p:nvPr/>
        </p:nvGrpSpPr>
        <p:grpSpPr>
          <a:xfrm>
            <a:off x="7188020" y="1399309"/>
            <a:ext cx="1512221" cy="357710"/>
            <a:chOff x="7188020" y="1399309"/>
            <a:chExt cx="1512221" cy="35771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09C4545-CD1D-1151-3F87-02DA24ADBC81}"/>
                </a:ext>
              </a:extLst>
            </p:cNvPr>
            <p:cNvSpPr/>
            <p:nvPr/>
          </p:nvSpPr>
          <p:spPr bwMode="auto">
            <a:xfrm>
              <a:off x="7232075" y="1399309"/>
              <a:ext cx="1371598" cy="357710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CE194A-D986-D800-6E5E-D888EE6FD3D4}"/>
                </a:ext>
              </a:extLst>
            </p:cNvPr>
            <p:cNvSpPr txBox="1"/>
            <p:nvPr/>
          </p:nvSpPr>
          <p:spPr bwMode="ltGray">
            <a:xfrm>
              <a:off x="7188020" y="1453505"/>
              <a:ext cx="1512221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/>
            <a:p>
              <a:pPr eaLnBrk="0" hangingPunct="0"/>
              <a:r>
                <a:rPr lang="en-US" sz="900" dirty="0" err="1">
                  <a:solidFill>
                    <a:schemeClr val="bg1"/>
                  </a:solidFill>
                  <a:latin typeface="+mn-lt"/>
                </a:rPr>
                <a:t>componentWillUnmount</a:t>
              </a:r>
              <a:endParaRPr lang="en-US" sz="90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7E4BB60-CFF4-176A-A2D7-06EF515A3301}"/>
              </a:ext>
            </a:extLst>
          </p:cNvPr>
          <p:cNvGrpSpPr/>
          <p:nvPr/>
        </p:nvGrpSpPr>
        <p:grpSpPr>
          <a:xfrm>
            <a:off x="3723131" y="2149271"/>
            <a:ext cx="1671677" cy="348794"/>
            <a:chOff x="3778989" y="2149271"/>
            <a:chExt cx="1576606" cy="348794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C5DA7BB-D3AB-314A-AF36-6EA47E5E7BD0}"/>
                </a:ext>
              </a:extLst>
            </p:cNvPr>
            <p:cNvSpPr/>
            <p:nvPr/>
          </p:nvSpPr>
          <p:spPr bwMode="auto">
            <a:xfrm>
              <a:off x="3818139" y="2149271"/>
              <a:ext cx="1371598" cy="34879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15463CA-E288-641A-9264-76033C47C078}"/>
                </a:ext>
              </a:extLst>
            </p:cNvPr>
            <p:cNvSpPr txBox="1"/>
            <p:nvPr/>
          </p:nvSpPr>
          <p:spPr bwMode="ltGray">
            <a:xfrm>
              <a:off x="3778989" y="2192073"/>
              <a:ext cx="1576606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>
              <a:defPPr>
                <a:defRPr lang="de-DE"/>
              </a:defPPr>
              <a:lvl1pPr eaLnBrk="0" hangingPunct="0">
                <a:defRPr sz="900">
                  <a:solidFill>
                    <a:schemeClr val="bg1"/>
                  </a:solidFill>
                  <a:latin typeface="+mn-lt"/>
                </a:defRPr>
              </a:lvl1pPr>
            </a:lstStyle>
            <a:p>
              <a:r>
                <a:rPr lang="en-US" dirty="0" err="1"/>
                <a:t>shouldComponentUpdate</a:t>
              </a:r>
              <a:endParaRPr lang="en-US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D5B8432-885D-2E18-0E0E-F91B3B3FF4A7}"/>
              </a:ext>
            </a:extLst>
          </p:cNvPr>
          <p:cNvGrpSpPr/>
          <p:nvPr/>
        </p:nvGrpSpPr>
        <p:grpSpPr>
          <a:xfrm>
            <a:off x="3818139" y="2899233"/>
            <a:ext cx="1436337" cy="348794"/>
            <a:chOff x="3818139" y="2899233"/>
            <a:chExt cx="1436337" cy="348794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8AC06EC6-C36B-28BA-4162-EC064708B6A0}"/>
                </a:ext>
              </a:extLst>
            </p:cNvPr>
            <p:cNvSpPr/>
            <p:nvPr/>
          </p:nvSpPr>
          <p:spPr bwMode="auto">
            <a:xfrm>
              <a:off x="3818139" y="2899233"/>
              <a:ext cx="1371598" cy="34879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5B76F78-3006-C436-59F0-3B15AFCEFC0F}"/>
                </a:ext>
              </a:extLst>
            </p:cNvPr>
            <p:cNvSpPr txBox="1"/>
            <p:nvPr/>
          </p:nvSpPr>
          <p:spPr bwMode="ltGray">
            <a:xfrm>
              <a:off x="3818139" y="2945344"/>
              <a:ext cx="1436337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>
              <a:defPPr>
                <a:defRPr lang="de-DE"/>
              </a:defPPr>
              <a:lvl1pPr eaLnBrk="0" hangingPunct="0">
                <a:defRPr sz="900">
                  <a:solidFill>
                    <a:schemeClr val="bg1"/>
                  </a:solidFill>
                  <a:latin typeface="+mn-lt"/>
                </a:defRPr>
              </a:lvl1pPr>
            </a:lstStyle>
            <a:p>
              <a:r>
                <a:rPr lang="en-US" dirty="0" err="1"/>
                <a:t>componentWillUpdate</a:t>
              </a:r>
              <a:endParaRPr lang="en-US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C49E088-8F49-D38E-7935-EFDABA1D9215}"/>
              </a:ext>
            </a:extLst>
          </p:cNvPr>
          <p:cNvGrpSpPr/>
          <p:nvPr/>
        </p:nvGrpSpPr>
        <p:grpSpPr>
          <a:xfrm>
            <a:off x="3818139" y="3649195"/>
            <a:ext cx="1371598" cy="348794"/>
            <a:chOff x="3818139" y="3649195"/>
            <a:chExt cx="1371598" cy="348794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AFFA43E1-A651-5E09-A4CB-E0D1C43604C0}"/>
                </a:ext>
              </a:extLst>
            </p:cNvPr>
            <p:cNvSpPr/>
            <p:nvPr/>
          </p:nvSpPr>
          <p:spPr bwMode="auto">
            <a:xfrm>
              <a:off x="3818139" y="3649195"/>
              <a:ext cx="1371598" cy="34879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4B4FDCB-A9C7-C233-EC6B-C0EF929F7233}"/>
                </a:ext>
              </a:extLst>
            </p:cNvPr>
            <p:cNvSpPr txBox="1"/>
            <p:nvPr/>
          </p:nvSpPr>
          <p:spPr bwMode="ltGray">
            <a:xfrm>
              <a:off x="4212092" y="3721424"/>
              <a:ext cx="971550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>
              <a:defPPr>
                <a:defRPr lang="de-DE"/>
              </a:defPPr>
              <a:lvl1pPr eaLnBrk="0" hangingPunct="0">
                <a:defRPr sz="900">
                  <a:solidFill>
                    <a:schemeClr val="bg1"/>
                  </a:solidFill>
                  <a:latin typeface="+mn-lt"/>
                </a:defRPr>
              </a:lvl1pPr>
            </a:lstStyle>
            <a:p>
              <a:r>
                <a:rPr lang="en-US" dirty="0"/>
                <a:t>render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4FF137A-6C24-EDDF-4887-F6E8364B152D}"/>
              </a:ext>
            </a:extLst>
          </p:cNvPr>
          <p:cNvGrpSpPr/>
          <p:nvPr/>
        </p:nvGrpSpPr>
        <p:grpSpPr>
          <a:xfrm>
            <a:off x="3818139" y="4399156"/>
            <a:ext cx="1393934" cy="348794"/>
            <a:chOff x="3818139" y="4399156"/>
            <a:chExt cx="1393934" cy="348794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7977FA3-3E69-E8FD-EEF2-524745CAEACB}"/>
                </a:ext>
              </a:extLst>
            </p:cNvPr>
            <p:cNvSpPr/>
            <p:nvPr/>
          </p:nvSpPr>
          <p:spPr bwMode="auto">
            <a:xfrm>
              <a:off x="3818139" y="4399156"/>
              <a:ext cx="1371598" cy="34879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F9719AF-55DC-25CF-AA9E-A0E2C87F9EB3}"/>
                </a:ext>
              </a:extLst>
            </p:cNvPr>
            <p:cNvSpPr txBox="1"/>
            <p:nvPr/>
          </p:nvSpPr>
          <p:spPr bwMode="ltGray">
            <a:xfrm>
              <a:off x="3840480" y="4463219"/>
              <a:ext cx="1371593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>
              <a:defPPr>
                <a:defRPr lang="de-DE"/>
              </a:defPPr>
              <a:lvl1pPr eaLnBrk="0" hangingPunct="0">
                <a:defRPr sz="900">
                  <a:solidFill>
                    <a:schemeClr val="bg1"/>
                  </a:solidFill>
                  <a:latin typeface="+mn-lt"/>
                </a:defRPr>
              </a:lvl1pPr>
            </a:lstStyle>
            <a:p>
              <a:r>
                <a:rPr lang="en-US" dirty="0" err="1"/>
                <a:t>componentDidUpdate</a:t>
              </a:r>
              <a:endParaRPr lang="en-US" dirty="0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ACF0E61-B7E2-979D-7F16-5AE1A9C7D575}"/>
              </a:ext>
            </a:extLst>
          </p:cNvPr>
          <p:cNvSpPr/>
          <p:nvPr/>
        </p:nvSpPr>
        <p:spPr bwMode="auto">
          <a:xfrm>
            <a:off x="5522281" y="2149271"/>
            <a:ext cx="1371598" cy="348794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BDD8E17-350A-87B9-A9CF-2CBFDB2E9F77}"/>
              </a:ext>
            </a:extLst>
          </p:cNvPr>
          <p:cNvGrpSpPr/>
          <p:nvPr/>
        </p:nvGrpSpPr>
        <p:grpSpPr>
          <a:xfrm>
            <a:off x="5504419" y="3634748"/>
            <a:ext cx="1433613" cy="348794"/>
            <a:chOff x="5542772" y="3107475"/>
            <a:chExt cx="1433613" cy="34879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29D3455-0329-6C7A-6DE7-453103EBF66C}"/>
                </a:ext>
              </a:extLst>
            </p:cNvPr>
            <p:cNvSpPr/>
            <p:nvPr/>
          </p:nvSpPr>
          <p:spPr bwMode="auto">
            <a:xfrm>
              <a:off x="5542772" y="3107475"/>
              <a:ext cx="1371598" cy="34879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103EFB6-C465-1FA9-45B7-554F624538A9}"/>
                </a:ext>
              </a:extLst>
            </p:cNvPr>
            <p:cNvSpPr txBox="1"/>
            <p:nvPr/>
          </p:nvSpPr>
          <p:spPr bwMode="ltGray">
            <a:xfrm>
              <a:off x="5555310" y="3146487"/>
              <a:ext cx="1421075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>
              <a:defPPr>
                <a:defRPr lang="de-DE"/>
              </a:defPPr>
              <a:lvl1pPr eaLnBrk="0" hangingPunct="0">
                <a:defRPr sz="900">
                  <a:solidFill>
                    <a:schemeClr val="bg1"/>
                  </a:solidFill>
                  <a:latin typeface="+mn-lt"/>
                </a:defRPr>
              </a:lvl1pPr>
            </a:lstStyle>
            <a:p>
              <a:r>
                <a:rPr lang="en-US" dirty="0" err="1"/>
                <a:t>componentDidUpdate</a:t>
              </a:r>
              <a:endParaRPr lang="en-US" dirty="0"/>
            </a:p>
          </p:txBody>
        </p:sp>
      </p:grpSp>
      <p:sp>
        <p:nvSpPr>
          <p:cNvPr id="62" name="Arrow: Down 61">
            <a:extLst>
              <a:ext uri="{FF2B5EF4-FFF2-40B4-BE49-F238E27FC236}">
                <a16:creationId xmlns:a16="http://schemas.microsoft.com/office/drawing/2014/main" id="{BFF6C3E0-54AE-87B1-D8B4-B1F4972079DF}"/>
              </a:ext>
            </a:extLst>
          </p:cNvPr>
          <p:cNvSpPr/>
          <p:nvPr/>
        </p:nvSpPr>
        <p:spPr bwMode="auto">
          <a:xfrm>
            <a:off x="4503938" y="1755321"/>
            <a:ext cx="68059" cy="39395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31A8EE3C-69F3-D8A2-4F9D-ED83CA4E8088}"/>
              </a:ext>
            </a:extLst>
          </p:cNvPr>
          <p:cNvSpPr/>
          <p:nvPr/>
        </p:nvSpPr>
        <p:spPr bwMode="auto">
          <a:xfrm>
            <a:off x="4084953" y="2505151"/>
            <a:ext cx="68059" cy="39395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5" name="Arrow: Down 64">
            <a:extLst>
              <a:ext uri="{FF2B5EF4-FFF2-40B4-BE49-F238E27FC236}">
                <a16:creationId xmlns:a16="http://schemas.microsoft.com/office/drawing/2014/main" id="{59056452-D031-C8FF-61F1-83B664F85768}"/>
              </a:ext>
            </a:extLst>
          </p:cNvPr>
          <p:cNvSpPr/>
          <p:nvPr/>
        </p:nvSpPr>
        <p:spPr bwMode="auto">
          <a:xfrm>
            <a:off x="4497546" y="3266687"/>
            <a:ext cx="68059" cy="39395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03AB10E0-549A-0B37-8C26-9376D904B050}"/>
              </a:ext>
            </a:extLst>
          </p:cNvPr>
          <p:cNvSpPr/>
          <p:nvPr/>
        </p:nvSpPr>
        <p:spPr bwMode="auto">
          <a:xfrm>
            <a:off x="4531575" y="4009158"/>
            <a:ext cx="68059" cy="39395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7" name="Arrow: Down 66">
            <a:extLst>
              <a:ext uri="{FF2B5EF4-FFF2-40B4-BE49-F238E27FC236}">
                <a16:creationId xmlns:a16="http://schemas.microsoft.com/office/drawing/2014/main" id="{6FE0544B-7429-7A05-0248-D0B6A6CBEF3D}"/>
              </a:ext>
            </a:extLst>
          </p:cNvPr>
          <p:cNvSpPr/>
          <p:nvPr/>
        </p:nvSpPr>
        <p:spPr bwMode="auto">
          <a:xfrm>
            <a:off x="5732972" y="1755321"/>
            <a:ext cx="68059" cy="39395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E4FB4-9730-E97C-9CFA-A7A986DAD2CC}"/>
              </a:ext>
            </a:extLst>
          </p:cNvPr>
          <p:cNvSpPr txBox="1"/>
          <p:nvPr/>
        </p:nvSpPr>
        <p:spPr bwMode="ltGray">
          <a:xfrm>
            <a:off x="5522281" y="2203811"/>
            <a:ext cx="1547709" cy="2403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sz="900" dirty="0" err="1">
                <a:solidFill>
                  <a:schemeClr val="bg1"/>
                </a:solidFill>
                <a:latin typeface="+mn-lt"/>
              </a:rPr>
              <a:t>componentWillUpdate</a:t>
            </a:r>
            <a:endParaRPr lang="en-US" sz="90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C4DAC9D-7C7B-D043-8516-863916E95D0D}"/>
              </a:ext>
            </a:extLst>
          </p:cNvPr>
          <p:cNvGrpSpPr/>
          <p:nvPr/>
        </p:nvGrpSpPr>
        <p:grpSpPr>
          <a:xfrm>
            <a:off x="5530537" y="2891146"/>
            <a:ext cx="1377147" cy="348794"/>
            <a:chOff x="5526235" y="2269813"/>
            <a:chExt cx="1377147" cy="348794"/>
          </a:xfrm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5A4AFED8-7D25-D99F-2D8C-4719A429192E}"/>
                </a:ext>
              </a:extLst>
            </p:cNvPr>
            <p:cNvSpPr/>
            <p:nvPr/>
          </p:nvSpPr>
          <p:spPr bwMode="auto">
            <a:xfrm>
              <a:off x="5526235" y="2269813"/>
              <a:ext cx="1371598" cy="348794"/>
            </a:xfrm>
            <a:prstGeom prst="roundRect">
              <a:avLst/>
            </a:prstGeom>
            <a:solidFill>
              <a:schemeClr val="accent1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88EBD26-FEF8-0A4A-E261-CA4DEACD1BEB}"/>
                </a:ext>
              </a:extLst>
            </p:cNvPr>
            <p:cNvSpPr txBox="1"/>
            <p:nvPr/>
          </p:nvSpPr>
          <p:spPr bwMode="ltGray">
            <a:xfrm>
              <a:off x="5931832" y="2332097"/>
              <a:ext cx="971550" cy="2403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100913" tIns="50457" rIns="100913" bIns="50457" rtlCol="0" anchor="t" anchorCtr="0">
              <a:spAutoFit/>
            </a:bodyPr>
            <a:lstStyle>
              <a:defPPr>
                <a:defRPr lang="de-DE"/>
              </a:defPPr>
              <a:lvl1pPr eaLnBrk="0" hangingPunct="0">
                <a:defRPr sz="900">
                  <a:solidFill>
                    <a:schemeClr val="bg1"/>
                  </a:solidFill>
                  <a:latin typeface="+mn-lt"/>
                </a:defRPr>
              </a:lvl1pPr>
            </a:lstStyle>
            <a:p>
              <a:r>
                <a:rPr lang="en-US" dirty="0"/>
                <a:t>render</a:t>
              </a:r>
            </a:p>
          </p:txBody>
        </p:sp>
      </p:grpSp>
      <p:sp>
        <p:nvSpPr>
          <p:cNvPr id="72" name="Arrow: Down 71">
            <a:extLst>
              <a:ext uri="{FF2B5EF4-FFF2-40B4-BE49-F238E27FC236}">
                <a16:creationId xmlns:a16="http://schemas.microsoft.com/office/drawing/2014/main" id="{B0383498-7C98-5B11-1196-94161F730525}"/>
              </a:ext>
            </a:extLst>
          </p:cNvPr>
          <p:cNvSpPr/>
          <p:nvPr/>
        </p:nvSpPr>
        <p:spPr bwMode="auto">
          <a:xfrm>
            <a:off x="6163604" y="2498065"/>
            <a:ext cx="68059" cy="39395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0ACDC2E4-F088-FA17-58ED-3D2811478F37}"/>
              </a:ext>
            </a:extLst>
          </p:cNvPr>
          <p:cNvSpPr/>
          <p:nvPr/>
        </p:nvSpPr>
        <p:spPr bwMode="auto">
          <a:xfrm>
            <a:off x="6182306" y="3239940"/>
            <a:ext cx="68059" cy="39395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4" name="Arrow: Down 73">
            <a:extLst>
              <a:ext uri="{FF2B5EF4-FFF2-40B4-BE49-F238E27FC236}">
                <a16:creationId xmlns:a16="http://schemas.microsoft.com/office/drawing/2014/main" id="{C2B8759A-D2FA-9050-00B9-D2802C32975D}"/>
              </a:ext>
            </a:extLst>
          </p:cNvPr>
          <p:cNvSpPr/>
          <p:nvPr/>
        </p:nvSpPr>
        <p:spPr bwMode="auto">
          <a:xfrm>
            <a:off x="2757835" y="1762191"/>
            <a:ext cx="68059" cy="39395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5" name="Arrow: Down 74">
            <a:extLst>
              <a:ext uri="{FF2B5EF4-FFF2-40B4-BE49-F238E27FC236}">
                <a16:creationId xmlns:a16="http://schemas.microsoft.com/office/drawing/2014/main" id="{FD3D447E-9485-B81A-5ABA-7122A0641A23}"/>
              </a:ext>
            </a:extLst>
          </p:cNvPr>
          <p:cNvSpPr/>
          <p:nvPr/>
        </p:nvSpPr>
        <p:spPr bwMode="auto">
          <a:xfrm>
            <a:off x="2783422" y="2511383"/>
            <a:ext cx="68059" cy="39395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590B9B-7FA7-8537-CDD6-33A69B8E194E}"/>
              </a:ext>
            </a:extLst>
          </p:cNvPr>
          <p:cNvSpPr txBox="1"/>
          <p:nvPr/>
        </p:nvSpPr>
        <p:spPr bwMode="ltGray">
          <a:xfrm>
            <a:off x="5337501" y="1833629"/>
            <a:ext cx="698911" cy="2403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sz="900" dirty="0">
                <a:latin typeface="+mn-lt"/>
              </a:rPr>
              <a:t>True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75CC4C9-B093-2E56-E480-4B34E2569CDC}"/>
              </a:ext>
            </a:extLst>
          </p:cNvPr>
          <p:cNvSpPr txBox="1"/>
          <p:nvPr/>
        </p:nvSpPr>
        <p:spPr bwMode="ltGray">
          <a:xfrm>
            <a:off x="3699605" y="2581926"/>
            <a:ext cx="698911" cy="2403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sz="900" dirty="0">
                <a:latin typeface="+mn-lt"/>
              </a:rPr>
              <a:t>True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C8F3C73-4CEE-F56E-840C-DBDB0AD9BC46}"/>
              </a:ext>
            </a:extLst>
          </p:cNvPr>
          <p:cNvSpPr txBox="1"/>
          <p:nvPr/>
        </p:nvSpPr>
        <p:spPr bwMode="ltGray">
          <a:xfrm>
            <a:off x="4867876" y="2581926"/>
            <a:ext cx="698911" cy="2403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sz="900" dirty="0">
                <a:latin typeface="+mn-lt"/>
              </a:rPr>
              <a:t>False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3AFA7A5-F497-9D17-3D93-B44E4AB8114C}"/>
              </a:ext>
            </a:extLst>
          </p:cNvPr>
          <p:cNvGrpSpPr/>
          <p:nvPr/>
        </p:nvGrpSpPr>
        <p:grpSpPr>
          <a:xfrm>
            <a:off x="6577788" y="1748583"/>
            <a:ext cx="144909" cy="427775"/>
            <a:chOff x="6577788" y="1748583"/>
            <a:chExt cx="144909" cy="427775"/>
          </a:xfrm>
        </p:grpSpPr>
        <p:sp>
          <p:nvSpPr>
            <p:cNvPr id="68" name="Arrow: Down 67">
              <a:extLst>
                <a:ext uri="{FF2B5EF4-FFF2-40B4-BE49-F238E27FC236}">
                  <a16:creationId xmlns:a16="http://schemas.microsoft.com/office/drawing/2014/main" id="{DB391113-4961-6276-AAC4-DEC59DE1ECD5}"/>
                </a:ext>
              </a:extLst>
            </p:cNvPr>
            <p:cNvSpPr/>
            <p:nvPr/>
          </p:nvSpPr>
          <p:spPr bwMode="auto">
            <a:xfrm>
              <a:off x="6616214" y="1748583"/>
              <a:ext cx="68059" cy="240399"/>
            </a:xfrm>
            <a:prstGeom prst="downArrow">
              <a:avLst/>
            </a:prstGeom>
            <a:solidFill>
              <a:srgbClr val="E7001D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80" name="Multiplication Sign 79">
              <a:extLst>
                <a:ext uri="{FF2B5EF4-FFF2-40B4-BE49-F238E27FC236}">
                  <a16:creationId xmlns:a16="http://schemas.microsoft.com/office/drawing/2014/main" id="{745E6893-EC54-6BB2-95B1-5514BC2E0579}"/>
                </a:ext>
              </a:extLst>
            </p:cNvPr>
            <p:cNvSpPr/>
            <p:nvPr/>
          </p:nvSpPr>
          <p:spPr bwMode="auto">
            <a:xfrm>
              <a:off x="6577788" y="1983417"/>
              <a:ext cx="144909" cy="192941"/>
            </a:xfrm>
            <a:prstGeom prst="mathMultiply">
              <a:avLst/>
            </a:prstGeom>
            <a:solidFill>
              <a:srgbClr val="E7001D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5EB575F-9324-A588-8E32-409D3FC7868A}"/>
              </a:ext>
            </a:extLst>
          </p:cNvPr>
          <p:cNvGrpSpPr/>
          <p:nvPr/>
        </p:nvGrpSpPr>
        <p:grpSpPr>
          <a:xfrm>
            <a:off x="4816629" y="2504701"/>
            <a:ext cx="144909" cy="427775"/>
            <a:chOff x="6577788" y="1748583"/>
            <a:chExt cx="144909" cy="427775"/>
          </a:xfrm>
        </p:grpSpPr>
        <p:sp>
          <p:nvSpPr>
            <p:cNvPr id="83" name="Arrow: Down 82">
              <a:extLst>
                <a:ext uri="{FF2B5EF4-FFF2-40B4-BE49-F238E27FC236}">
                  <a16:creationId xmlns:a16="http://schemas.microsoft.com/office/drawing/2014/main" id="{CC31EDC8-94E7-D182-5D4C-AC303F68AC81}"/>
                </a:ext>
              </a:extLst>
            </p:cNvPr>
            <p:cNvSpPr/>
            <p:nvPr/>
          </p:nvSpPr>
          <p:spPr bwMode="auto">
            <a:xfrm>
              <a:off x="6616214" y="1748583"/>
              <a:ext cx="68059" cy="240399"/>
            </a:xfrm>
            <a:prstGeom prst="downArrow">
              <a:avLst/>
            </a:prstGeom>
            <a:solidFill>
              <a:srgbClr val="E7001D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84" name="Multiplication Sign 83">
              <a:extLst>
                <a:ext uri="{FF2B5EF4-FFF2-40B4-BE49-F238E27FC236}">
                  <a16:creationId xmlns:a16="http://schemas.microsoft.com/office/drawing/2014/main" id="{55AB41A8-C416-8999-2C73-B6DF82A9EFEF}"/>
                </a:ext>
              </a:extLst>
            </p:cNvPr>
            <p:cNvSpPr/>
            <p:nvPr/>
          </p:nvSpPr>
          <p:spPr bwMode="auto">
            <a:xfrm>
              <a:off x="6577788" y="1983417"/>
              <a:ext cx="144909" cy="192941"/>
            </a:xfrm>
            <a:prstGeom prst="mathMultiply">
              <a:avLst/>
            </a:prstGeom>
            <a:solidFill>
              <a:srgbClr val="E7001D"/>
            </a:solidFill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US" dirty="0" err="1">
                <a:solidFill>
                  <a:srgbClr val="FFFFFF"/>
                </a:solidFill>
                <a:latin typeface="+mn-lt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F83F9C48-561E-C8CE-C579-58A852AB2AA3}"/>
              </a:ext>
            </a:extLst>
          </p:cNvPr>
          <p:cNvSpPr txBox="1"/>
          <p:nvPr/>
        </p:nvSpPr>
        <p:spPr bwMode="ltGray">
          <a:xfrm>
            <a:off x="5990077" y="1097015"/>
            <a:ext cx="698911" cy="2403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sz="900" dirty="0">
                <a:latin typeface="+mn-lt"/>
              </a:rPr>
              <a:t>states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D5B31F7-9355-E196-8CE1-52AE57FC088A}"/>
              </a:ext>
            </a:extLst>
          </p:cNvPr>
          <p:cNvSpPr txBox="1"/>
          <p:nvPr/>
        </p:nvSpPr>
        <p:spPr bwMode="ltGray">
          <a:xfrm>
            <a:off x="4295333" y="1097015"/>
            <a:ext cx="698911" cy="2403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sz="900" dirty="0">
                <a:latin typeface="+mn-lt"/>
              </a:rPr>
              <a:t>props</a:t>
            </a:r>
          </a:p>
        </p:txBody>
      </p:sp>
      <p:sp>
        <p:nvSpPr>
          <p:cNvPr id="89" name="Rectangle: Folded Corner 88">
            <a:extLst>
              <a:ext uri="{FF2B5EF4-FFF2-40B4-BE49-F238E27FC236}">
                <a16:creationId xmlns:a16="http://schemas.microsoft.com/office/drawing/2014/main" id="{0C1CDE8A-941A-E49A-EB94-FC5AA7233730}"/>
              </a:ext>
            </a:extLst>
          </p:cNvPr>
          <p:cNvSpPr/>
          <p:nvPr/>
        </p:nvSpPr>
        <p:spPr bwMode="auto">
          <a:xfrm>
            <a:off x="7454900" y="3841623"/>
            <a:ext cx="1371593" cy="906327"/>
          </a:xfrm>
          <a:prstGeom prst="foldedCorner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5E71C98-DC96-EB52-7779-5BB7D02BEE0C}"/>
              </a:ext>
            </a:extLst>
          </p:cNvPr>
          <p:cNvSpPr txBox="1"/>
          <p:nvPr/>
        </p:nvSpPr>
        <p:spPr bwMode="ltGray">
          <a:xfrm>
            <a:off x="7578162" y="3961721"/>
            <a:ext cx="1565838" cy="73014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b="1" dirty="0">
                <a:solidFill>
                  <a:srgbClr val="C00000"/>
                </a:solidFill>
                <a:latin typeface="+mn-lt"/>
              </a:rPr>
              <a:t>NOTE</a:t>
            </a:r>
            <a:r>
              <a:rPr lang="en-US" dirty="0">
                <a:latin typeface="+mn-lt"/>
              </a:rPr>
              <a:t>: Component Lifecycle</a:t>
            </a:r>
          </a:p>
        </p:txBody>
      </p:sp>
    </p:spTree>
    <p:extLst>
      <p:ext uri="{BB962C8B-B14F-4D97-AF65-F5344CB8AC3E}">
        <p14:creationId xmlns:p14="http://schemas.microsoft.com/office/powerpoint/2010/main" val="228358898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A3268-15BF-5D2F-45D4-E37FECBB4C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Knowledge Check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3226C-D01B-0558-DD25-1168B5BF7D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3928C-3E02-D9E0-47B9-54CF8212CD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CD4C48-EED6-7198-0995-1A4153CD4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59218" y="1493493"/>
            <a:ext cx="1630971" cy="163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31623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08351-FFCA-1807-937B-E1E24BDB0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8</a:t>
            </a:fld>
            <a:endParaRPr lang="en-GB" noProof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2FA99-0D52-6434-D27B-19203608C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176F7-F0B2-9813-F426-B492766B4A06}"/>
              </a:ext>
            </a:extLst>
          </p:cNvPr>
          <p:cNvSpPr txBox="1"/>
          <p:nvPr/>
        </p:nvSpPr>
        <p:spPr bwMode="ltGray">
          <a:xfrm>
            <a:off x="775564" y="301130"/>
            <a:ext cx="7107672" cy="43373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1: How is component state typically initialized in a React class component?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en-US" sz="1089" dirty="0">
                <a:latin typeface="+mn-lt"/>
              </a:rPr>
              <a:t>state = { }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en-US" sz="1089" dirty="0">
                <a:latin typeface="+mn-lt"/>
              </a:rPr>
              <a:t>B) </a:t>
            </a:r>
            <a:r>
              <a:rPr lang="en-US" sz="1089" dirty="0" err="1">
                <a:latin typeface="+mn-lt"/>
              </a:rPr>
              <a:t>this.state</a:t>
            </a:r>
            <a:r>
              <a:rPr lang="en-US" sz="1089" dirty="0">
                <a:latin typeface="+mn-lt"/>
              </a:rPr>
              <a:t> = { }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en-US" sz="1089" dirty="0">
                <a:latin typeface="+mn-lt"/>
              </a:rPr>
              <a:t>C) </a:t>
            </a:r>
            <a:r>
              <a:rPr lang="en-US" sz="1089" dirty="0" err="1">
                <a:latin typeface="+mn-lt"/>
              </a:rPr>
              <a:t>setState</a:t>
            </a:r>
            <a:r>
              <a:rPr lang="en-US" sz="1089" dirty="0">
                <a:latin typeface="+mn-lt"/>
              </a:rPr>
              <a:t> = { }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</a:t>
            </a:r>
            <a:r>
              <a:rPr lang="en-US" sz="1089" dirty="0" err="1">
                <a:latin typeface="+mn-lt"/>
              </a:rPr>
              <a:t>this.setState</a:t>
            </a:r>
            <a:r>
              <a:rPr lang="en-US" sz="1089" dirty="0">
                <a:latin typeface="+mn-lt"/>
              </a:rPr>
              <a:t> = { }</a:t>
            </a: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2: In React, which event handler is used to handle form submissions?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</a:t>
            </a:r>
            <a:r>
              <a:rPr lang="en-US" sz="1089" dirty="0" err="1">
                <a:latin typeface="+mn-lt"/>
              </a:rPr>
              <a:t>onClick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</a:t>
            </a:r>
            <a:r>
              <a:rPr lang="en-US" sz="1089" dirty="0" err="1">
                <a:latin typeface="+mn-lt"/>
              </a:rPr>
              <a:t>onChange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</a:t>
            </a:r>
            <a:r>
              <a:rPr lang="en-US" sz="1089" dirty="0" err="1">
                <a:latin typeface="+mn-lt"/>
              </a:rPr>
              <a:t>onSubmit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</a:t>
            </a:r>
            <a:r>
              <a:rPr lang="en-US" sz="1089" dirty="0" err="1">
                <a:latin typeface="+mn-lt"/>
              </a:rPr>
              <a:t>onFormSubmit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3: What is prop drilling in React?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Passing props from a child component to its parent component.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Passing props from a parent component to a deeply nested child component.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Passing props through multiple levels of nested components.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Passing props directly between sibling components.</a:t>
            </a:r>
          </a:p>
        </p:txBody>
      </p:sp>
    </p:spTree>
    <p:extLst>
      <p:ext uri="{BB962C8B-B14F-4D97-AF65-F5344CB8AC3E}">
        <p14:creationId xmlns:p14="http://schemas.microsoft.com/office/powerpoint/2010/main" val="2869473868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08351-FFCA-1807-937B-E1E24BDB0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9</a:t>
            </a:fld>
            <a:endParaRPr lang="en-GB" noProof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2FA99-0D52-6434-D27B-19203608C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176F7-F0B2-9813-F426-B492766B4A06}"/>
              </a:ext>
            </a:extLst>
          </p:cNvPr>
          <p:cNvSpPr txBox="1"/>
          <p:nvPr/>
        </p:nvSpPr>
        <p:spPr bwMode="ltGray">
          <a:xfrm>
            <a:off x="775564" y="301130"/>
            <a:ext cx="7107672" cy="43373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1: How is component state typically initialized in a React class component?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en-US" sz="1089" dirty="0">
                <a:latin typeface="+mn-lt"/>
              </a:rPr>
              <a:t>state = { }</a:t>
            </a: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B) </a:t>
            </a:r>
            <a:r>
              <a:rPr lang="en-US" sz="1089" b="1" dirty="0" err="1">
                <a:latin typeface="+mn-lt"/>
              </a:rPr>
              <a:t>this.state</a:t>
            </a:r>
            <a:r>
              <a:rPr lang="en-US" sz="1089" b="1" dirty="0">
                <a:latin typeface="+mn-lt"/>
              </a:rPr>
              <a:t> = { }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</a:t>
            </a:r>
            <a:r>
              <a:rPr lang="en-US" sz="1089" dirty="0" err="1">
                <a:latin typeface="+mn-lt"/>
              </a:rPr>
              <a:t>setState</a:t>
            </a:r>
            <a:r>
              <a:rPr lang="en-US" sz="1089" dirty="0">
                <a:latin typeface="+mn-lt"/>
              </a:rPr>
              <a:t> = { }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</a:t>
            </a:r>
            <a:r>
              <a:rPr lang="en-US" sz="1089" dirty="0" err="1">
                <a:latin typeface="+mn-lt"/>
              </a:rPr>
              <a:t>this.setState</a:t>
            </a:r>
            <a:r>
              <a:rPr lang="en-US" sz="1089" dirty="0">
                <a:latin typeface="+mn-lt"/>
              </a:rPr>
              <a:t> = { }</a:t>
            </a: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2: In React, which event handler is used to handle form submissions?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</a:t>
            </a:r>
            <a:r>
              <a:rPr lang="en-US" sz="1089" dirty="0" err="1">
                <a:latin typeface="+mn-lt"/>
              </a:rPr>
              <a:t>onClick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</a:t>
            </a:r>
            <a:r>
              <a:rPr lang="en-US" sz="1089" dirty="0" err="1">
                <a:latin typeface="+mn-lt"/>
              </a:rPr>
              <a:t>onChange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C) </a:t>
            </a:r>
            <a:r>
              <a:rPr lang="en-US" sz="1089" b="1" dirty="0" err="1">
                <a:latin typeface="+mn-lt"/>
              </a:rPr>
              <a:t>onSubmit</a:t>
            </a:r>
            <a:endParaRPr lang="en-US" sz="1089" b="1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</a:t>
            </a:r>
            <a:r>
              <a:rPr lang="en-US" sz="1089" dirty="0" err="1">
                <a:latin typeface="+mn-lt"/>
              </a:rPr>
              <a:t>onFormSubmit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3: What is prop drilling in React?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Passing props from a child component to its parent component.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Passing props from a parent component to a deeply nested child component.</a:t>
            </a: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C) Passing props through multiple levels of nested components.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Passing props directly between sibling components.</a:t>
            </a:r>
          </a:p>
        </p:txBody>
      </p:sp>
    </p:spTree>
    <p:extLst>
      <p:ext uri="{BB962C8B-B14F-4D97-AF65-F5344CB8AC3E}">
        <p14:creationId xmlns:p14="http://schemas.microsoft.com/office/powerpoint/2010/main" val="1676594458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08351-FFCA-1807-937B-E1E24BDB0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10</a:t>
            </a:fld>
            <a:endParaRPr lang="en-GB" noProof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2FA99-0D52-6434-D27B-19203608C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176F7-F0B2-9813-F426-B492766B4A06}"/>
              </a:ext>
            </a:extLst>
          </p:cNvPr>
          <p:cNvSpPr txBox="1"/>
          <p:nvPr/>
        </p:nvSpPr>
        <p:spPr bwMode="ltGray">
          <a:xfrm>
            <a:off x="775564" y="301130"/>
            <a:ext cx="7107672" cy="282885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4: How can you update the state of a React component?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By directly assigning a new value to </a:t>
            </a:r>
            <a:r>
              <a:rPr lang="en-US" sz="1089" dirty="0" err="1">
                <a:latin typeface="+mn-lt"/>
              </a:rPr>
              <a:t>this.state</a:t>
            </a:r>
            <a:r>
              <a:rPr lang="en-US" sz="1089" dirty="0">
                <a:latin typeface="+mn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By calling </a:t>
            </a:r>
            <a:r>
              <a:rPr lang="en-US" sz="1089" dirty="0" err="1">
                <a:latin typeface="+mn-lt"/>
              </a:rPr>
              <a:t>this.setState</a:t>
            </a:r>
            <a:r>
              <a:rPr lang="en-US" sz="1089" dirty="0">
                <a:latin typeface="+mn-lt"/>
              </a:rPr>
              <a:t>({ }) with the updated state object.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By using props to update the state.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By using </a:t>
            </a:r>
            <a:r>
              <a:rPr lang="en-US" sz="1089" dirty="0" err="1">
                <a:latin typeface="+mn-lt"/>
              </a:rPr>
              <a:t>forceUpdate</a:t>
            </a:r>
            <a:r>
              <a:rPr lang="en-US" sz="1089" dirty="0">
                <a:latin typeface="+mn-lt"/>
              </a:rPr>
              <a:t>() method.</a:t>
            </a: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5: What is the purpose of the </a:t>
            </a:r>
            <a:r>
              <a:rPr lang="en-US" sz="1089" dirty="0" err="1">
                <a:latin typeface="+mn-lt"/>
              </a:rPr>
              <a:t>onChange</a:t>
            </a:r>
            <a:r>
              <a:rPr lang="en-US" sz="1089" dirty="0">
                <a:latin typeface="+mn-lt"/>
              </a:rPr>
              <a:t> event handler in React?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To handle mouse click events.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To handle changes in form input values.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To handle form submission events.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To handle component initialization.</a:t>
            </a:r>
          </a:p>
        </p:txBody>
      </p:sp>
    </p:spTree>
    <p:extLst>
      <p:ext uri="{BB962C8B-B14F-4D97-AF65-F5344CB8AC3E}">
        <p14:creationId xmlns:p14="http://schemas.microsoft.com/office/powerpoint/2010/main" val="1292789515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08351-FFCA-1807-937B-E1E24BDB0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11</a:t>
            </a:fld>
            <a:endParaRPr lang="en-GB" noProof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2FA99-0D52-6434-D27B-19203608C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176F7-F0B2-9813-F426-B492766B4A06}"/>
              </a:ext>
            </a:extLst>
          </p:cNvPr>
          <p:cNvSpPr txBox="1"/>
          <p:nvPr/>
        </p:nvSpPr>
        <p:spPr bwMode="ltGray">
          <a:xfrm>
            <a:off x="775564" y="301130"/>
            <a:ext cx="7107672" cy="282885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4: How can you update the state of a React component?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By directly assigning a new value to </a:t>
            </a:r>
            <a:r>
              <a:rPr lang="en-US" sz="1089" dirty="0" err="1">
                <a:latin typeface="+mn-lt"/>
              </a:rPr>
              <a:t>this.state</a:t>
            </a:r>
            <a:r>
              <a:rPr lang="en-US" sz="1089" dirty="0">
                <a:latin typeface="+mn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B) By calling </a:t>
            </a:r>
            <a:r>
              <a:rPr lang="en-US" sz="1089" b="1" dirty="0" err="1">
                <a:latin typeface="+mn-lt"/>
              </a:rPr>
              <a:t>this.setState</a:t>
            </a:r>
            <a:r>
              <a:rPr lang="en-US" sz="1089" b="1" dirty="0">
                <a:latin typeface="+mn-lt"/>
              </a:rPr>
              <a:t>({ }) with the updated state object.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By using props to update the state.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By using </a:t>
            </a:r>
            <a:r>
              <a:rPr lang="en-US" sz="1089" dirty="0" err="1">
                <a:latin typeface="+mn-lt"/>
              </a:rPr>
              <a:t>forceUpdate</a:t>
            </a:r>
            <a:r>
              <a:rPr lang="en-US" sz="1089" dirty="0">
                <a:latin typeface="+mn-lt"/>
              </a:rPr>
              <a:t>() method.</a:t>
            </a: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5: What is the purpose of the </a:t>
            </a:r>
            <a:r>
              <a:rPr lang="en-US" sz="1089" dirty="0" err="1">
                <a:latin typeface="+mn-lt"/>
              </a:rPr>
              <a:t>onChange</a:t>
            </a:r>
            <a:r>
              <a:rPr lang="en-US" sz="1089" dirty="0">
                <a:latin typeface="+mn-lt"/>
              </a:rPr>
              <a:t> event handler in React?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en-US" sz="1089" dirty="0">
                <a:latin typeface="+mn-lt"/>
              </a:rPr>
              <a:t>To handle mouse click events.</a:t>
            </a: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B) To handle changes in form input values.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To handle form submission events.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To handle component initialization.</a:t>
            </a:r>
          </a:p>
        </p:txBody>
      </p:sp>
    </p:spTree>
    <p:extLst>
      <p:ext uri="{BB962C8B-B14F-4D97-AF65-F5344CB8AC3E}">
        <p14:creationId xmlns:p14="http://schemas.microsoft.com/office/powerpoint/2010/main" val="368766729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F0C736-F7B9-B48D-A14A-6A69A08003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React Routes (DEMO)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C250C-E1D1-7992-85B4-90A4B13A5C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FE682-A0D3-9281-6B95-0387BD9D41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212480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242BB5-8AA9-55FC-533C-8F4F37C2DA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React Hooks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7FC0D-1B6D-6723-2023-C17058A7A9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5A54D-2F30-7F96-6641-A860E01023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771232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A835BD-94B4-2EEE-C969-5213B58D8E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536" y="-399199"/>
            <a:ext cx="7342187" cy="1998208"/>
          </a:xfrm>
        </p:spPr>
        <p:txBody>
          <a:bodyPr/>
          <a:lstStyle/>
          <a:p>
            <a:r>
              <a:rPr lang="en-US" dirty="0"/>
              <a:t>What are </a:t>
            </a:r>
            <a:r>
              <a:rPr lang="en-US" b="1" i="1" dirty="0"/>
              <a:t>hooks</a:t>
            </a:r>
            <a:r>
              <a:rPr lang="en-US" dirty="0"/>
              <a:t>?</a:t>
            </a:r>
          </a:p>
        </p:txBody>
      </p:sp>
      <p:sp>
        <p:nvSpPr>
          <p:cNvPr id="3" name="object 14">
            <a:extLst>
              <a:ext uri="{FF2B5EF4-FFF2-40B4-BE49-F238E27FC236}">
                <a16:creationId xmlns:a16="http://schemas.microsoft.com/office/drawing/2014/main" id="{7D787F82-FCE2-D971-708B-DCF57E8A18DE}"/>
              </a:ext>
            </a:extLst>
          </p:cNvPr>
          <p:cNvSpPr txBox="1"/>
          <p:nvPr/>
        </p:nvSpPr>
        <p:spPr>
          <a:xfrm>
            <a:off x="682853" y="1864898"/>
            <a:ext cx="4418208" cy="5348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</a:pPr>
            <a:r>
              <a:rPr sz="1200" b="1" spc="-10" dirty="0">
                <a:solidFill>
                  <a:schemeClr val="bg1"/>
                </a:solidFill>
                <a:latin typeface="+mn-lt"/>
                <a:cs typeface="Calibri"/>
              </a:rPr>
              <a:t>Hooks: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Special functions </a:t>
            </a:r>
            <a:r>
              <a:rPr sz="1200" spc="-10" dirty="0">
                <a:solidFill>
                  <a:schemeClr val="bg1"/>
                </a:solidFill>
                <a:latin typeface="+mn-lt"/>
                <a:cs typeface="Calibri"/>
              </a:rPr>
              <a:t>that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allow </a:t>
            </a:r>
            <a:r>
              <a:rPr sz="120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developers</a:t>
            </a:r>
            <a:r>
              <a:rPr sz="1200" spc="1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to</a:t>
            </a:r>
            <a:r>
              <a:rPr sz="1200" spc="-25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hook</a:t>
            </a:r>
            <a:r>
              <a:rPr sz="1200" spc="-25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into</a:t>
            </a:r>
            <a:r>
              <a:rPr sz="120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b="1" spc="-25" dirty="0">
                <a:solidFill>
                  <a:schemeClr val="bg1"/>
                </a:solidFill>
                <a:latin typeface="+mn-lt"/>
                <a:cs typeface="Calibri"/>
              </a:rPr>
              <a:t>state</a:t>
            </a:r>
            <a:r>
              <a:rPr sz="1200" b="1" spc="1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and </a:t>
            </a:r>
            <a:r>
              <a:rPr sz="1200" spc="-53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b="1" spc="-15" dirty="0">
                <a:solidFill>
                  <a:schemeClr val="bg1"/>
                </a:solidFill>
                <a:latin typeface="+mn-lt"/>
                <a:cs typeface="Calibri"/>
              </a:rPr>
              <a:t>lifecycle</a:t>
            </a:r>
            <a:r>
              <a:rPr sz="1200" b="1" spc="-5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of 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React</a:t>
            </a:r>
            <a:r>
              <a:rPr sz="1200" spc="-10" dirty="0">
                <a:solidFill>
                  <a:schemeClr val="bg1"/>
                </a:solidFill>
                <a:latin typeface="+mn-lt"/>
                <a:cs typeface="Calibri"/>
              </a:rPr>
              <a:t> components.</a:t>
            </a:r>
            <a:endParaRPr sz="1200" dirty="0">
              <a:solidFill>
                <a:schemeClr val="bg1"/>
              </a:solidFill>
              <a:latin typeface="+mn-lt"/>
              <a:cs typeface="Calibri"/>
            </a:endParaRPr>
          </a:p>
        </p:txBody>
      </p:sp>
      <p:sp>
        <p:nvSpPr>
          <p:cNvPr id="4" name="object 15">
            <a:extLst>
              <a:ext uri="{FF2B5EF4-FFF2-40B4-BE49-F238E27FC236}">
                <a16:creationId xmlns:a16="http://schemas.microsoft.com/office/drawing/2014/main" id="{CBD7CBC3-CDF1-842A-8B1B-3B323E99EA46}"/>
              </a:ext>
            </a:extLst>
          </p:cNvPr>
          <p:cNvSpPr txBox="1"/>
          <p:nvPr/>
        </p:nvSpPr>
        <p:spPr>
          <a:xfrm>
            <a:off x="682853" y="2505347"/>
            <a:ext cx="4525569" cy="5348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</a:pPr>
            <a:r>
              <a:rPr sz="1200" b="1" spc="-20" dirty="0">
                <a:solidFill>
                  <a:schemeClr val="bg1"/>
                </a:solidFill>
                <a:latin typeface="+mn-lt"/>
                <a:cs typeface="Calibri"/>
              </a:rPr>
              <a:t>State:</a:t>
            </a:r>
            <a:r>
              <a:rPr sz="1200" b="1" spc="1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One or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+mn-lt"/>
                <a:cs typeface="Calibri"/>
              </a:rPr>
              <a:t>more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 data</a:t>
            </a:r>
            <a:r>
              <a:rPr sz="1200" spc="-10" dirty="0">
                <a:solidFill>
                  <a:schemeClr val="bg1"/>
                </a:solidFill>
                <a:latin typeface="+mn-lt"/>
                <a:cs typeface="Calibri"/>
              </a:rPr>
              <a:t> values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+mn-lt"/>
                <a:cs typeface="Calibri"/>
              </a:rPr>
              <a:t>associated </a:t>
            </a:r>
            <a:r>
              <a:rPr sz="1200" dirty="0">
                <a:solidFill>
                  <a:schemeClr val="bg1"/>
                </a:solidFill>
                <a:latin typeface="+mn-lt"/>
                <a:cs typeface="Calibri"/>
              </a:rPr>
              <a:t>with a 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React </a:t>
            </a:r>
            <a:r>
              <a:rPr sz="1200" spc="-10" dirty="0">
                <a:solidFill>
                  <a:schemeClr val="bg1"/>
                </a:solidFill>
                <a:latin typeface="+mn-lt"/>
                <a:cs typeface="Calibri"/>
              </a:rPr>
              <a:t>component </a:t>
            </a:r>
            <a:r>
              <a:rPr sz="1200" spc="-53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+mn-lt"/>
                <a:cs typeface="Calibri"/>
              </a:rPr>
              <a:t>instance.</a:t>
            </a:r>
            <a:endParaRPr sz="1200" dirty="0">
              <a:solidFill>
                <a:schemeClr val="bg1"/>
              </a:solidFill>
              <a:latin typeface="+mn-lt"/>
              <a:cs typeface="Calibri"/>
            </a:endParaRPr>
          </a:p>
        </p:txBody>
      </p:sp>
      <p:sp>
        <p:nvSpPr>
          <p:cNvPr id="5" name="object 16">
            <a:extLst>
              <a:ext uri="{FF2B5EF4-FFF2-40B4-BE49-F238E27FC236}">
                <a16:creationId xmlns:a16="http://schemas.microsoft.com/office/drawing/2014/main" id="{91230CAE-57CD-6C6E-8B0B-A7A4182758FB}"/>
              </a:ext>
            </a:extLst>
          </p:cNvPr>
          <p:cNvSpPr txBox="1"/>
          <p:nvPr/>
        </p:nvSpPr>
        <p:spPr>
          <a:xfrm>
            <a:off x="682853" y="3149731"/>
            <a:ext cx="4452417" cy="5348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50000"/>
              </a:lnSpc>
              <a:spcBef>
                <a:spcPts val="100"/>
              </a:spcBef>
            </a:pPr>
            <a:r>
              <a:rPr sz="1200" b="1" spc="-15" dirty="0">
                <a:solidFill>
                  <a:schemeClr val="bg1"/>
                </a:solidFill>
                <a:latin typeface="+mn-lt"/>
                <a:cs typeface="Calibri"/>
              </a:rPr>
              <a:t>Lifecycle: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The 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events </a:t>
            </a:r>
            <a:r>
              <a:rPr sz="1200" spc="-10" dirty="0">
                <a:solidFill>
                  <a:schemeClr val="bg1"/>
                </a:solidFill>
                <a:latin typeface="+mn-lt"/>
                <a:cs typeface="Calibri"/>
              </a:rPr>
              <a:t>associated </a:t>
            </a:r>
            <a:r>
              <a:rPr sz="1200" dirty="0">
                <a:solidFill>
                  <a:schemeClr val="bg1"/>
                </a:solidFill>
                <a:latin typeface="+mn-lt"/>
                <a:cs typeface="Calibri"/>
              </a:rPr>
              <a:t>with a </a:t>
            </a:r>
            <a:r>
              <a:rPr sz="1200" spc="-53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React </a:t>
            </a:r>
            <a:r>
              <a:rPr sz="1200" spc="-10" dirty="0">
                <a:solidFill>
                  <a:schemeClr val="bg1"/>
                </a:solidFill>
                <a:latin typeface="+mn-lt"/>
                <a:cs typeface="Calibri"/>
              </a:rPr>
              <a:t>component instance 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(create, </a:t>
            </a:r>
            <a:r>
              <a:rPr sz="1200" spc="-53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40" dirty="0">
                <a:solidFill>
                  <a:schemeClr val="bg1"/>
                </a:solidFill>
                <a:latin typeface="+mn-lt"/>
                <a:cs typeface="Calibri"/>
              </a:rPr>
              <a:t>render,</a:t>
            </a:r>
            <a:r>
              <a:rPr sz="1200" spc="1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35" dirty="0">
                <a:solidFill>
                  <a:schemeClr val="bg1"/>
                </a:solidFill>
                <a:latin typeface="+mn-lt"/>
                <a:cs typeface="Calibri"/>
              </a:rPr>
              <a:t>destroy,</a:t>
            </a:r>
            <a:r>
              <a:rPr sz="1200" spc="5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etc).</a:t>
            </a:r>
            <a:endParaRPr sz="1200" dirty="0">
              <a:solidFill>
                <a:schemeClr val="bg1"/>
              </a:solidFill>
              <a:latin typeface="+mn-lt"/>
              <a:cs typeface="Calibri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7D43291-8A53-26CD-0FBA-96899005AD4D}"/>
              </a:ext>
            </a:extLst>
          </p:cNvPr>
          <p:cNvSpPr txBox="1"/>
          <p:nvPr/>
        </p:nvSpPr>
        <p:spPr>
          <a:xfrm>
            <a:off x="7134326" y="1516417"/>
            <a:ext cx="125666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/>
                </a:solidFill>
                <a:latin typeface="Consolas"/>
                <a:cs typeface="Consolas"/>
              </a:rPr>
              <a:t>useState</a:t>
            </a:r>
            <a:endParaRPr sz="1200">
              <a:solidFill>
                <a:schemeClr val="bg1"/>
              </a:solidFill>
              <a:latin typeface="Consolas"/>
              <a:cs typeface="Consolas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01C22AE0-F325-42BD-4924-92BCE4514BBA}"/>
              </a:ext>
            </a:extLst>
          </p:cNvPr>
          <p:cNvSpPr txBox="1"/>
          <p:nvPr/>
        </p:nvSpPr>
        <p:spPr>
          <a:xfrm>
            <a:off x="7134326" y="2055870"/>
            <a:ext cx="14109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/>
                </a:solidFill>
                <a:latin typeface="Consolas"/>
                <a:cs typeface="Consolas"/>
              </a:rPr>
              <a:t>useEffect</a:t>
            </a:r>
            <a:endParaRPr sz="1200">
              <a:solidFill>
                <a:schemeClr val="bg1"/>
              </a:solidFill>
              <a:latin typeface="Consolas"/>
              <a:cs typeface="Consolas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0AFA816-8DCC-E8FD-7AFC-5ECF727C64E4}"/>
              </a:ext>
            </a:extLst>
          </p:cNvPr>
          <p:cNvSpPr txBox="1"/>
          <p:nvPr/>
        </p:nvSpPr>
        <p:spPr>
          <a:xfrm>
            <a:off x="7134326" y="2671668"/>
            <a:ext cx="156464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/>
                </a:solidFill>
                <a:latin typeface="Consolas"/>
                <a:cs typeface="Consolas"/>
              </a:rPr>
              <a:t>useReducer</a:t>
            </a:r>
            <a:endParaRPr sz="1200">
              <a:solidFill>
                <a:schemeClr val="bg1"/>
              </a:solidFill>
              <a:latin typeface="Consolas"/>
              <a:cs typeface="Consolas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0F78FC22-31CE-9740-E811-793FE976904A}"/>
              </a:ext>
            </a:extLst>
          </p:cNvPr>
          <p:cNvSpPr txBox="1"/>
          <p:nvPr/>
        </p:nvSpPr>
        <p:spPr>
          <a:xfrm>
            <a:off x="7134326" y="3211121"/>
            <a:ext cx="11029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/>
                </a:solidFill>
                <a:latin typeface="Consolas"/>
                <a:cs typeface="Consolas"/>
              </a:rPr>
              <a:t>useMemo</a:t>
            </a:r>
            <a:endParaRPr sz="1200">
              <a:solidFill>
                <a:schemeClr val="bg1"/>
              </a:solidFill>
              <a:latin typeface="Consolas"/>
              <a:cs typeface="Consolas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678F0E49-2C33-B5A3-2C09-E7E583A78C1D}"/>
              </a:ext>
            </a:extLst>
          </p:cNvPr>
          <p:cNvSpPr txBox="1"/>
          <p:nvPr/>
        </p:nvSpPr>
        <p:spPr>
          <a:xfrm>
            <a:off x="7134326" y="3750573"/>
            <a:ext cx="9493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/>
                </a:solidFill>
                <a:latin typeface="Consolas"/>
                <a:cs typeface="Consolas"/>
              </a:rPr>
              <a:t>useRef</a:t>
            </a:r>
            <a:endParaRPr sz="1200">
              <a:solidFill>
                <a:schemeClr val="bg1"/>
              </a:solidFill>
              <a:latin typeface="Consolas"/>
              <a:cs typeface="Consolas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5575FA15-E502-BFF0-1F2F-4F8A1C189385}"/>
              </a:ext>
            </a:extLst>
          </p:cNvPr>
          <p:cNvSpPr txBox="1"/>
          <p:nvPr/>
        </p:nvSpPr>
        <p:spPr>
          <a:xfrm>
            <a:off x="7134326" y="4290026"/>
            <a:ext cx="17189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/>
                </a:solidFill>
                <a:latin typeface="Consolas"/>
                <a:cs typeface="Consolas"/>
              </a:rPr>
              <a:t>useCallback</a:t>
            </a:r>
            <a:endParaRPr sz="1200">
              <a:solidFill>
                <a:schemeClr val="bg1"/>
              </a:solidFill>
              <a:latin typeface="Consolas"/>
              <a:cs typeface="Consolas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A722FB67-2ADB-383C-DB3F-03AD3537E82E}"/>
              </a:ext>
            </a:extLst>
          </p:cNvPr>
          <p:cNvSpPr txBox="1"/>
          <p:nvPr/>
        </p:nvSpPr>
        <p:spPr>
          <a:xfrm>
            <a:off x="5268114" y="2748829"/>
            <a:ext cx="1175731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8435" marR="5080" indent="-166370" algn="r">
              <a:lnSpc>
                <a:spcPct val="100000"/>
              </a:lnSpc>
              <a:spcBef>
                <a:spcPts val="95"/>
              </a:spcBef>
            </a:pPr>
            <a:r>
              <a:rPr sz="1200" spc="-40" dirty="0">
                <a:solidFill>
                  <a:srgbClr val="00D1FF"/>
                </a:solidFill>
                <a:latin typeface="Calibri"/>
                <a:cs typeface="Calibri"/>
              </a:rPr>
              <a:t>We </a:t>
            </a:r>
            <a:r>
              <a:rPr sz="1200" spc="-5" dirty="0">
                <a:solidFill>
                  <a:srgbClr val="00D1FF"/>
                </a:solidFill>
                <a:latin typeface="Calibri"/>
                <a:cs typeface="Calibri"/>
              </a:rPr>
              <a:t>will </a:t>
            </a:r>
            <a:r>
              <a:rPr sz="1200" spc="-15" dirty="0">
                <a:solidFill>
                  <a:srgbClr val="00D1FF"/>
                </a:solidFill>
                <a:latin typeface="Calibri"/>
                <a:cs typeface="Calibri"/>
              </a:rPr>
              <a:t>cover </a:t>
            </a:r>
            <a:r>
              <a:rPr sz="1200" spc="-445" dirty="0">
                <a:solidFill>
                  <a:srgbClr val="00D1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D1FF"/>
                </a:solidFill>
                <a:latin typeface="Calibri"/>
                <a:cs typeface="Calibri"/>
              </a:rPr>
              <a:t>these</a:t>
            </a:r>
            <a:r>
              <a:rPr sz="1200" spc="-50" dirty="0">
                <a:solidFill>
                  <a:srgbClr val="00D1FF"/>
                </a:solidFill>
                <a:latin typeface="Calibri"/>
                <a:cs typeface="Calibri"/>
              </a:rPr>
              <a:t> </a:t>
            </a:r>
            <a:r>
              <a:rPr sz="1200" spc="-15" dirty="0">
                <a:solidFill>
                  <a:srgbClr val="00D1FF"/>
                </a:solidFill>
                <a:latin typeface="Calibri"/>
                <a:cs typeface="Calibri"/>
              </a:rPr>
              <a:t>today</a:t>
            </a:r>
            <a:endParaRPr sz="1200" dirty="0">
              <a:solidFill>
                <a:srgbClr val="00D1FF"/>
              </a:solidFill>
              <a:latin typeface="Calibri"/>
              <a:cs typeface="Calibri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CC97008F-858E-AE83-811E-022084E0EDEA}"/>
              </a:ext>
            </a:extLst>
          </p:cNvPr>
          <p:cNvSpPr/>
          <p:nvPr/>
        </p:nvSpPr>
        <p:spPr>
          <a:xfrm>
            <a:off x="6762724" y="1440873"/>
            <a:ext cx="166370" cy="3046643"/>
          </a:xfrm>
          <a:custGeom>
            <a:avLst/>
            <a:gdLst/>
            <a:ahLst/>
            <a:cxnLst/>
            <a:rect l="l" t="t" r="r" b="b"/>
            <a:pathLst>
              <a:path w="166370" h="1830704">
                <a:moveTo>
                  <a:pt x="166116" y="1830324"/>
                </a:moveTo>
                <a:lnTo>
                  <a:pt x="133785" y="1824015"/>
                </a:lnTo>
                <a:lnTo>
                  <a:pt x="107384" y="1806809"/>
                </a:lnTo>
                <a:lnTo>
                  <a:pt x="89585" y="1781289"/>
                </a:lnTo>
                <a:lnTo>
                  <a:pt x="83058" y="1750034"/>
                </a:lnTo>
                <a:lnTo>
                  <a:pt x="83058" y="995451"/>
                </a:lnTo>
                <a:lnTo>
                  <a:pt x="76530" y="964196"/>
                </a:lnTo>
                <a:lnTo>
                  <a:pt x="58731" y="938676"/>
                </a:lnTo>
                <a:lnTo>
                  <a:pt x="32330" y="921470"/>
                </a:lnTo>
                <a:lnTo>
                  <a:pt x="0" y="915162"/>
                </a:lnTo>
                <a:lnTo>
                  <a:pt x="32330" y="908853"/>
                </a:lnTo>
                <a:lnTo>
                  <a:pt x="58731" y="891647"/>
                </a:lnTo>
                <a:lnTo>
                  <a:pt x="76530" y="866127"/>
                </a:lnTo>
                <a:lnTo>
                  <a:pt x="83058" y="834872"/>
                </a:lnTo>
                <a:lnTo>
                  <a:pt x="83058" y="80289"/>
                </a:lnTo>
                <a:lnTo>
                  <a:pt x="89585" y="49034"/>
                </a:lnTo>
                <a:lnTo>
                  <a:pt x="107384" y="23514"/>
                </a:lnTo>
                <a:lnTo>
                  <a:pt x="133785" y="6308"/>
                </a:lnTo>
                <a:lnTo>
                  <a:pt x="166116" y="0"/>
                </a:lnTo>
              </a:path>
            </a:pathLst>
          </a:custGeom>
          <a:ln w="2514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FF30C380-D280-AAB4-86AB-1A84E458048A}"/>
              </a:ext>
            </a:extLst>
          </p:cNvPr>
          <p:cNvSpPr txBox="1"/>
          <p:nvPr/>
        </p:nvSpPr>
        <p:spPr>
          <a:xfrm>
            <a:off x="5686960" y="976965"/>
            <a:ext cx="21012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chemeClr val="bg1"/>
                </a:solidFill>
                <a:latin typeface="Calibri"/>
                <a:cs typeface="Calibri"/>
              </a:rPr>
              <a:t>Built-in</a:t>
            </a:r>
            <a:r>
              <a:rPr sz="1200" b="1" spc="-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chemeClr val="bg1"/>
                </a:solidFill>
                <a:latin typeface="Calibri"/>
                <a:cs typeface="Calibri"/>
              </a:rPr>
              <a:t>hooks:</a:t>
            </a:r>
            <a:endParaRPr sz="1200" b="1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5044012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3E5350-487E-D35A-4E6E-11C4226ACF0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Purpose:</a:t>
            </a:r>
          </a:p>
          <a:p>
            <a:pPr marL="439738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Remember values internally when the component re-renders</a:t>
            </a:r>
          </a:p>
          <a:p>
            <a:pPr marL="439738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Tell React to re-render the component when the value changes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Syntax: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AD09D3-B369-88CF-1A1E-E114FAA2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First React hook: </a:t>
            </a:r>
            <a:r>
              <a:rPr lang="en-US" sz="1600" b="1" dirty="0" err="1">
                <a:solidFill>
                  <a:schemeClr val="bg1"/>
                </a:solidFill>
              </a:rPr>
              <a:t>useState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7D00374-38BA-3D7A-C617-00D3F29FB014}"/>
              </a:ext>
            </a:extLst>
          </p:cNvPr>
          <p:cNvSpPr/>
          <p:nvPr/>
        </p:nvSpPr>
        <p:spPr>
          <a:xfrm>
            <a:off x="1082649" y="2827337"/>
            <a:ext cx="5830215" cy="932676"/>
          </a:xfrm>
          <a:custGeom>
            <a:avLst/>
            <a:gdLst/>
            <a:ahLst/>
            <a:cxnLst/>
            <a:rect l="l" t="t" r="r" b="b"/>
            <a:pathLst>
              <a:path w="7802880" h="829310">
                <a:moveTo>
                  <a:pt x="7802880" y="0"/>
                </a:moveTo>
                <a:lnTo>
                  <a:pt x="0" y="0"/>
                </a:lnTo>
                <a:lnTo>
                  <a:pt x="0" y="829055"/>
                </a:lnTo>
                <a:lnTo>
                  <a:pt x="7802880" y="829055"/>
                </a:lnTo>
                <a:lnTo>
                  <a:pt x="7802880" y="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3B5D79-2B7E-3E40-D32F-8065ACCCE21F}"/>
              </a:ext>
            </a:extLst>
          </p:cNvPr>
          <p:cNvSpPr txBox="1"/>
          <p:nvPr/>
        </p:nvSpPr>
        <p:spPr bwMode="ltGray">
          <a:xfrm>
            <a:off x="1832457" y="3130905"/>
            <a:ext cx="4330598" cy="31734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nn-NO" sz="1400" spc="-5" dirty="0">
                <a:solidFill>
                  <a:srgbClr val="559CD5"/>
                </a:solidFill>
                <a:latin typeface="Consolas"/>
                <a:cs typeface="Consolas"/>
              </a:rPr>
              <a:t>const</a:t>
            </a:r>
            <a:r>
              <a:rPr lang="nn-NO" sz="1400" spc="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lang="nn-NO" sz="1400" spc="-5" dirty="0">
                <a:solidFill>
                  <a:srgbClr val="D3D3D3"/>
                </a:solidFill>
                <a:latin typeface="Consolas"/>
                <a:cs typeface="Consolas"/>
              </a:rPr>
              <a:t>[</a:t>
            </a:r>
            <a:r>
              <a:rPr lang="nn-NO" sz="1400" spc="-5" dirty="0">
                <a:solidFill>
                  <a:srgbClr val="9CDCFD"/>
                </a:solidFill>
                <a:latin typeface="Consolas"/>
                <a:cs typeface="Consolas"/>
              </a:rPr>
              <a:t>val</a:t>
            </a:r>
            <a:r>
              <a:rPr lang="nn-NO" sz="1400" spc="-5" dirty="0">
                <a:solidFill>
                  <a:srgbClr val="D3D3D3"/>
                </a:solidFill>
                <a:latin typeface="Consolas"/>
                <a:cs typeface="Consolas"/>
              </a:rPr>
              <a:t>,</a:t>
            </a:r>
            <a:r>
              <a:rPr lang="nn-NO" sz="140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lang="nn-NO" sz="1400" spc="-5" dirty="0">
                <a:solidFill>
                  <a:srgbClr val="9CDCFD"/>
                </a:solidFill>
                <a:latin typeface="Consolas"/>
                <a:cs typeface="Consolas"/>
              </a:rPr>
              <a:t>setVal</a:t>
            </a:r>
            <a:r>
              <a:rPr lang="nn-NO" sz="1400" spc="-5" dirty="0">
                <a:solidFill>
                  <a:srgbClr val="D3D3D3"/>
                </a:solidFill>
                <a:latin typeface="Consolas"/>
                <a:cs typeface="Consolas"/>
              </a:rPr>
              <a:t>]</a:t>
            </a:r>
            <a:r>
              <a:rPr lang="nn-NO" sz="14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lang="nn-NO" sz="1400" spc="-5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lang="nn-NO" sz="140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lang="nn-NO" sz="1400" spc="-5" dirty="0">
                <a:solidFill>
                  <a:srgbClr val="DCDCAA"/>
                </a:solidFill>
                <a:latin typeface="Consolas"/>
                <a:cs typeface="Consolas"/>
              </a:rPr>
              <a:t>useState</a:t>
            </a:r>
            <a:r>
              <a:rPr lang="nn-NO" sz="1400" spc="-5" dirty="0">
                <a:solidFill>
                  <a:srgbClr val="D3D3D3"/>
                </a:solidFill>
                <a:latin typeface="Consolas"/>
                <a:cs typeface="Consolas"/>
              </a:rPr>
              <a:t>(</a:t>
            </a:r>
            <a:r>
              <a:rPr lang="nn-NO" sz="1400" spc="-5" dirty="0">
                <a:solidFill>
                  <a:srgbClr val="B5CEA8"/>
                </a:solidFill>
                <a:latin typeface="Consolas"/>
                <a:cs typeface="Consolas"/>
              </a:rPr>
              <a:t>100</a:t>
            </a:r>
            <a:r>
              <a:rPr lang="nn-NO" sz="1400" spc="-5" dirty="0">
                <a:solidFill>
                  <a:srgbClr val="D3D3D3"/>
                </a:solidFill>
                <a:latin typeface="Consolas"/>
                <a:cs typeface="Consolas"/>
              </a:rPr>
              <a:t>);</a:t>
            </a:r>
            <a:endParaRPr lang="nn-NO" sz="1400" dirty="0">
              <a:latin typeface="Consolas"/>
              <a:cs typeface="Consolas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B854F51D-522B-6A8C-0286-062408B7EBA8}"/>
              </a:ext>
            </a:extLst>
          </p:cNvPr>
          <p:cNvSpPr txBox="1"/>
          <p:nvPr/>
        </p:nvSpPr>
        <p:spPr>
          <a:xfrm>
            <a:off x="945029" y="4073259"/>
            <a:ext cx="183261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The</a:t>
            </a:r>
            <a:r>
              <a:rPr sz="1200" spc="-3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+mn-lt"/>
                <a:cs typeface="Calibri"/>
              </a:rPr>
              <a:t>current 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value</a:t>
            </a:r>
            <a:endParaRPr sz="1200" dirty="0">
              <a:solidFill>
                <a:schemeClr val="bg1"/>
              </a:solidFill>
              <a:latin typeface="+mn-lt"/>
              <a:cs typeface="Calibri"/>
            </a:endParaRPr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AF2F179B-AE22-D2BF-6D25-C51ABF3D741D}"/>
              </a:ext>
            </a:extLst>
          </p:cNvPr>
          <p:cNvSpPr txBox="1"/>
          <p:nvPr/>
        </p:nvSpPr>
        <p:spPr>
          <a:xfrm>
            <a:off x="3309703" y="4073376"/>
            <a:ext cx="20320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0335" marR="5080" indent="-128270" algn="ctr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A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 setter</a:t>
            </a:r>
            <a:r>
              <a:rPr sz="1200" spc="1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function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 to </a:t>
            </a:r>
            <a:r>
              <a:rPr sz="1200" spc="-434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change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the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 value</a:t>
            </a:r>
            <a:endParaRPr sz="1200" dirty="0">
              <a:solidFill>
                <a:schemeClr val="bg1"/>
              </a:solidFill>
              <a:latin typeface="+mn-lt"/>
              <a:cs typeface="Calibri"/>
            </a:endParaRPr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1C80E832-A95F-DF24-C6EA-024091058C08}"/>
              </a:ext>
            </a:extLst>
          </p:cNvPr>
          <p:cNvSpPr txBox="1"/>
          <p:nvPr/>
        </p:nvSpPr>
        <p:spPr>
          <a:xfrm>
            <a:off x="5760701" y="4073376"/>
            <a:ext cx="126746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3664" algn="r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The initial </a:t>
            </a:r>
            <a:r>
              <a:rPr sz="120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+mn-lt"/>
                <a:cs typeface="Calibri"/>
              </a:rPr>
              <a:t>value</a:t>
            </a:r>
            <a:r>
              <a:rPr sz="1200" spc="-3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to</a:t>
            </a:r>
            <a:r>
              <a:rPr sz="1200" spc="-45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use</a:t>
            </a:r>
            <a:endParaRPr sz="1200" dirty="0">
              <a:solidFill>
                <a:schemeClr val="bg1"/>
              </a:solidFill>
              <a:latin typeface="+mn-lt"/>
              <a:cs typeface="Calibri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07FDDE-2E6C-124E-B584-D0EDE8638108}"/>
              </a:ext>
            </a:extLst>
          </p:cNvPr>
          <p:cNvCxnSpPr>
            <a:stCxn id="7" idx="0"/>
          </p:cNvCxnSpPr>
          <p:nvPr/>
        </p:nvCxnSpPr>
        <p:spPr bwMode="auto">
          <a:xfrm flipV="1">
            <a:off x="1861334" y="3448248"/>
            <a:ext cx="845290" cy="625011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DE8433-5A78-6A13-6957-D3BC595820AC}"/>
              </a:ext>
            </a:extLst>
          </p:cNvPr>
          <p:cNvCxnSpPr>
            <a:stCxn id="8" idx="0"/>
          </p:cNvCxnSpPr>
          <p:nvPr/>
        </p:nvCxnSpPr>
        <p:spPr bwMode="auto">
          <a:xfrm flipH="1" flipV="1">
            <a:off x="3522150" y="3448248"/>
            <a:ext cx="803553" cy="625128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2751A0B-3064-5EB8-2C51-39E3EB9A6BAB}"/>
              </a:ext>
            </a:extLst>
          </p:cNvPr>
          <p:cNvCxnSpPr>
            <a:stCxn id="9" idx="0"/>
          </p:cNvCxnSpPr>
          <p:nvPr/>
        </p:nvCxnSpPr>
        <p:spPr bwMode="auto">
          <a:xfrm flipH="1" flipV="1">
            <a:off x="5062118" y="3448248"/>
            <a:ext cx="1332313" cy="625128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803621553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8A0183-E99A-6EDA-E0ED-B818A71AFD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4687" y="888470"/>
            <a:ext cx="7342187" cy="1062354"/>
          </a:xfrm>
        </p:spPr>
        <p:txBody>
          <a:bodyPr/>
          <a:lstStyle/>
          <a:p>
            <a:r>
              <a:rPr lang="en-GB" dirty="0"/>
              <a:t>Predicting Component Re-rendering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491D0B5-3B8C-74E3-6F69-0BA924855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D186113-C121-1E64-7082-36DAC77750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0525" y="2075069"/>
            <a:ext cx="7342187" cy="872164"/>
          </a:xfrm>
        </p:spPr>
        <p:txBody>
          <a:bodyPr/>
          <a:lstStyle/>
          <a:p>
            <a:r>
              <a:rPr lang="en-US" dirty="0"/>
              <a:t>A component will only re-render when…</a:t>
            </a:r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value inside </a:t>
            </a:r>
            <a:r>
              <a:rPr lang="en-US" b="1" dirty="0"/>
              <a:t>props</a:t>
            </a:r>
            <a:r>
              <a:rPr lang="en-US" dirty="0"/>
              <a:t> changes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              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 err="1"/>
              <a:t>useState</a:t>
            </a:r>
            <a:r>
              <a:rPr lang="en-US" dirty="0"/>
              <a:t> setter is called</a:t>
            </a:r>
          </a:p>
        </p:txBody>
      </p:sp>
      <p:pic>
        <p:nvPicPr>
          <p:cNvPr id="2" name="object 4">
            <a:extLst>
              <a:ext uri="{FF2B5EF4-FFF2-40B4-BE49-F238E27FC236}">
                <a16:creationId xmlns:a16="http://schemas.microsoft.com/office/drawing/2014/main" id="{CCC10A74-C60B-C128-E0DF-88247EA586F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21152493">
            <a:off x="4762747" y="3087660"/>
            <a:ext cx="2245214" cy="125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08675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3E5350-487E-D35A-4E6E-11C4226ACF0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Purpose:</a:t>
            </a:r>
          </a:p>
          <a:p>
            <a:pPr marL="439738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Act as an observer, running code in response to value changes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Syntax: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AD09D3-B369-88CF-1A1E-E114FAA2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spc="-10" dirty="0">
                <a:solidFill>
                  <a:schemeClr val="bg1"/>
                </a:solidFill>
                <a:latin typeface="+mn-lt"/>
                <a:cs typeface="Calibri Light"/>
              </a:rPr>
              <a:t>Second</a:t>
            </a:r>
            <a:r>
              <a:rPr lang="en-US" sz="1600" spc="-15" dirty="0">
                <a:solidFill>
                  <a:schemeClr val="bg1"/>
                </a:solidFill>
                <a:latin typeface="+mn-lt"/>
                <a:cs typeface="Calibri Light"/>
              </a:rPr>
              <a:t> </a:t>
            </a:r>
            <a:r>
              <a:rPr lang="en-US" sz="1600" spc="-20" dirty="0">
                <a:solidFill>
                  <a:schemeClr val="bg1"/>
                </a:solidFill>
                <a:latin typeface="+mn-lt"/>
                <a:cs typeface="Calibri Light"/>
              </a:rPr>
              <a:t>React</a:t>
            </a:r>
            <a:r>
              <a:rPr lang="en-US" sz="1600" spc="-5" dirty="0">
                <a:solidFill>
                  <a:schemeClr val="bg1"/>
                </a:solidFill>
                <a:latin typeface="+mn-lt"/>
                <a:cs typeface="Calibri Light"/>
              </a:rPr>
              <a:t> hook:</a:t>
            </a:r>
            <a:r>
              <a:rPr lang="en-US" sz="1600" spc="-20" dirty="0">
                <a:solidFill>
                  <a:schemeClr val="bg1"/>
                </a:solidFill>
                <a:latin typeface="+mn-lt"/>
                <a:cs typeface="Calibri Light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Consolas"/>
                <a:cs typeface="Consolas"/>
              </a:rPr>
              <a:t>useEffect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7D00374-38BA-3D7A-C617-00D3F29FB014}"/>
              </a:ext>
            </a:extLst>
          </p:cNvPr>
          <p:cNvSpPr/>
          <p:nvPr/>
        </p:nvSpPr>
        <p:spPr>
          <a:xfrm>
            <a:off x="1082649" y="2633059"/>
            <a:ext cx="6435359" cy="1126954"/>
          </a:xfrm>
          <a:custGeom>
            <a:avLst/>
            <a:gdLst/>
            <a:ahLst/>
            <a:cxnLst/>
            <a:rect l="l" t="t" r="r" b="b"/>
            <a:pathLst>
              <a:path w="7802880" h="829310">
                <a:moveTo>
                  <a:pt x="7802880" y="0"/>
                </a:moveTo>
                <a:lnTo>
                  <a:pt x="0" y="0"/>
                </a:lnTo>
                <a:lnTo>
                  <a:pt x="0" y="829055"/>
                </a:lnTo>
                <a:lnTo>
                  <a:pt x="7802880" y="829055"/>
                </a:lnTo>
                <a:lnTo>
                  <a:pt x="7802880" y="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3B5D79-2B7E-3E40-D32F-8065ACCCE21F}"/>
              </a:ext>
            </a:extLst>
          </p:cNvPr>
          <p:cNvSpPr txBox="1"/>
          <p:nvPr/>
        </p:nvSpPr>
        <p:spPr bwMode="ltGray">
          <a:xfrm>
            <a:off x="414712" y="2794233"/>
            <a:ext cx="7179870" cy="74823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marL="887094">
              <a:lnSpc>
                <a:spcPct val="100000"/>
              </a:lnSpc>
              <a:spcBef>
                <a:spcPts val="2155"/>
              </a:spcBef>
            </a:pPr>
            <a:r>
              <a:rPr lang="en-US" sz="1400" spc="-5" dirty="0" err="1">
                <a:solidFill>
                  <a:srgbClr val="DCDCAA"/>
                </a:solidFill>
                <a:latin typeface="Consolas"/>
                <a:cs typeface="Consolas"/>
              </a:rPr>
              <a:t>useEffect</a:t>
            </a:r>
            <a:r>
              <a:rPr lang="en-US" sz="1400" spc="-5" dirty="0">
                <a:solidFill>
                  <a:srgbClr val="D3D3D3"/>
                </a:solidFill>
                <a:latin typeface="Consolas"/>
                <a:cs typeface="Consolas"/>
              </a:rPr>
              <a:t>(()</a:t>
            </a:r>
            <a:r>
              <a:rPr lang="en-US" sz="14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lang="en-US" sz="1400" dirty="0">
                <a:solidFill>
                  <a:srgbClr val="559CD5"/>
                </a:solidFill>
                <a:latin typeface="Consolas"/>
                <a:cs typeface="Consolas"/>
              </a:rPr>
              <a:t>=&gt;</a:t>
            </a:r>
            <a:r>
              <a:rPr lang="en-US" sz="1400" spc="-2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lang="en-US" sz="1400" spc="-5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lang="en-US" sz="1400" dirty="0">
              <a:latin typeface="Consolas"/>
              <a:cs typeface="Consolas"/>
            </a:endParaRPr>
          </a:p>
          <a:p>
            <a:pPr marL="1165860">
              <a:lnSpc>
                <a:spcPct val="100000"/>
              </a:lnSpc>
            </a:pPr>
            <a:r>
              <a:rPr lang="en-US" sz="1400" spc="-5" dirty="0">
                <a:solidFill>
                  <a:srgbClr val="4EC8AF"/>
                </a:solidFill>
                <a:latin typeface="Consolas"/>
                <a:cs typeface="Consolas"/>
              </a:rPr>
              <a:t>console</a:t>
            </a:r>
            <a:r>
              <a:rPr lang="en-US" sz="1400" spc="-5" dirty="0">
                <a:solidFill>
                  <a:srgbClr val="D3D3D3"/>
                </a:solidFill>
                <a:latin typeface="Consolas"/>
                <a:cs typeface="Consolas"/>
              </a:rPr>
              <a:t>.</a:t>
            </a:r>
            <a:r>
              <a:rPr lang="en-US" sz="1400" spc="-5" dirty="0">
                <a:solidFill>
                  <a:srgbClr val="DCDCAA"/>
                </a:solidFill>
                <a:latin typeface="Consolas"/>
                <a:cs typeface="Consolas"/>
              </a:rPr>
              <a:t>log</a:t>
            </a:r>
            <a:r>
              <a:rPr lang="en-US" sz="1400" spc="-5" dirty="0">
                <a:solidFill>
                  <a:srgbClr val="D3D3D3"/>
                </a:solidFill>
                <a:latin typeface="Consolas"/>
                <a:cs typeface="Consolas"/>
              </a:rPr>
              <a:t>(</a:t>
            </a:r>
            <a:r>
              <a:rPr lang="en-US" sz="1400" spc="-5" dirty="0">
                <a:solidFill>
                  <a:srgbClr val="CE9178"/>
                </a:solidFill>
                <a:latin typeface="Consolas"/>
                <a:cs typeface="Consolas"/>
              </a:rPr>
              <a:t>`</a:t>
            </a:r>
            <a:r>
              <a:rPr lang="en-US" sz="1400" spc="-5" dirty="0" err="1">
                <a:solidFill>
                  <a:srgbClr val="CE9178"/>
                </a:solidFill>
                <a:latin typeface="Consolas"/>
                <a:cs typeface="Consolas"/>
              </a:rPr>
              <a:t>myValue</a:t>
            </a:r>
            <a:r>
              <a:rPr lang="en-US" sz="1400" spc="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lang="en-US" sz="1400" dirty="0">
                <a:solidFill>
                  <a:srgbClr val="CE9178"/>
                </a:solidFill>
                <a:latin typeface="Consolas"/>
                <a:cs typeface="Consolas"/>
              </a:rPr>
              <a:t>was</a:t>
            </a:r>
            <a:r>
              <a:rPr lang="en-US" sz="1400" spc="1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lang="en-US" sz="1400" spc="-5" dirty="0">
                <a:solidFill>
                  <a:srgbClr val="CE9178"/>
                </a:solidFill>
                <a:latin typeface="Consolas"/>
                <a:cs typeface="Consolas"/>
              </a:rPr>
              <a:t>changed!</a:t>
            </a:r>
            <a:r>
              <a:rPr lang="en-US" sz="1400" spc="2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lang="en-US" sz="1400" spc="-5" dirty="0">
                <a:solidFill>
                  <a:srgbClr val="CE9178"/>
                </a:solidFill>
                <a:latin typeface="Consolas"/>
                <a:cs typeface="Consolas"/>
              </a:rPr>
              <a:t>New</a:t>
            </a:r>
            <a:r>
              <a:rPr lang="en-US" sz="1400" spc="2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lang="en-US" sz="1400" spc="-5" dirty="0">
                <a:solidFill>
                  <a:srgbClr val="CE9178"/>
                </a:solidFill>
                <a:latin typeface="Consolas"/>
                <a:cs typeface="Consolas"/>
              </a:rPr>
              <a:t>value:</a:t>
            </a:r>
            <a:r>
              <a:rPr lang="en-US" sz="1400" spc="1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lang="en-US" sz="1400" spc="-5" dirty="0">
                <a:solidFill>
                  <a:srgbClr val="559CD5"/>
                </a:solidFill>
                <a:latin typeface="Consolas"/>
                <a:cs typeface="Consolas"/>
              </a:rPr>
              <a:t>${</a:t>
            </a:r>
            <a:r>
              <a:rPr lang="en-US" sz="1400" spc="-5" dirty="0" err="1">
                <a:solidFill>
                  <a:srgbClr val="9CDCFD"/>
                </a:solidFill>
                <a:latin typeface="Consolas"/>
                <a:cs typeface="Consolas"/>
              </a:rPr>
              <a:t>myValue</a:t>
            </a:r>
            <a:r>
              <a:rPr lang="en-US" sz="1400" spc="-5" dirty="0">
                <a:solidFill>
                  <a:srgbClr val="559CD5"/>
                </a:solidFill>
                <a:latin typeface="Consolas"/>
                <a:cs typeface="Consolas"/>
              </a:rPr>
              <a:t>}</a:t>
            </a:r>
            <a:r>
              <a:rPr lang="en-US" sz="1400" spc="-5" dirty="0">
                <a:solidFill>
                  <a:srgbClr val="CE9178"/>
                </a:solidFill>
                <a:latin typeface="Consolas"/>
                <a:cs typeface="Consolas"/>
              </a:rPr>
              <a:t>`</a:t>
            </a:r>
            <a:r>
              <a:rPr lang="en-US" sz="1400" spc="-5" dirty="0">
                <a:solidFill>
                  <a:srgbClr val="D3D3D3"/>
                </a:solidFill>
                <a:latin typeface="Consolas"/>
                <a:cs typeface="Consolas"/>
              </a:rPr>
              <a:t>);</a:t>
            </a:r>
            <a:endParaRPr lang="en-US" sz="1400" dirty="0">
              <a:latin typeface="Consolas"/>
              <a:cs typeface="Consolas"/>
            </a:endParaRPr>
          </a:p>
          <a:p>
            <a:pPr marL="887730">
              <a:lnSpc>
                <a:spcPct val="100000"/>
              </a:lnSpc>
            </a:pPr>
            <a:r>
              <a:rPr lang="en-US" sz="1400" spc="-5" dirty="0">
                <a:solidFill>
                  <a:srgbClr val="D3D3D3"/>
                </a:solidFill>
                <a:latin typeface="Consolas"/>
                <a:cs typeface="Consolas"/>
              </a:rPr>
              <a:t>},</a:t>
            </a:r>
            <a:r>
              <a:rPr lang="en-US" sz="1400" spc="-3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lang="en-US" sz="1400" spc="-5" dirty="0">
                <a:solidFill>
                  <a:srgbClr val="D3D3D3"/>
                </a:solidFill>
                <a:latin typeface="Consolas"/>
                <a:cs typeface="Consolas"/>
              </a:rPr>
              <a:t>[</a:t>
            </a:r>
            <a:r>
              <a:rPr lang="en-US" sz="1400" spc="-5" dirty="0" err="1">
                <a:solidFill>
                  <a:srgbClr val="9CDCFD"/>
                </a:solidFill>
                <a:latin typeface="Consolas"/>
                <a:cs typeface="Consolas"/>
              </a:rPr>
              <a:t>myValue</a:t>
            </a:r>
            <a:r>
              <a:rPr lang="en-US" sz="1400" spc="-5" dirty="0">
                <a:solidFill>
                  <a:srgbClr val="D3D3D3"/>
                </a:solidFill>
                <a:latin typeface="Consolas"/>
                <a:cs typeface="Consolas"/>
              </a:rPr>
              <a:t>]);</a:t>
            </a:r>
            <a:endParaRPr lang="en-US" sz="1400" dirty="0">
              <a:latin typeface="Consolas"/>
              <a:cs typeface="Consolas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B854F51D-522B-6A8C-0286-062408B7EBA8}"/>
              </a:ext>
            </a:extLst>
          </p:cNvPr>
          <p:cNvSpPr txBox="1"/>
          <p:nvPr/>
        </p:nvSpPr>
        <p:spPr>
          <a:xfrm>
            <a:off x="945029" y="4073259"/>
            <a:ext cx="183261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200" spc="-5" dirty="0">
                <a:solidFill>
                  <a:schemeClr val="bg1"/>
                </a:solidFill>
                <a:latin typeface="+mn-lt"/>
                <a:cs typeface="Calibri"/>
              </a:rPr>
              <a:t>A list of values such that changes  should trigger this code to run.</a:t>
            </a:r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1C80E832-A95F-DF24-C6EA-024091058C08}"/>
              </a:ext>
            </a:extLst>
          </p:cNvPr>
          <p:cNvSpPr txBox="1"/>
          <p:nvPr/>
        </p:nvSpPr>
        <p:spPr>
          <a:xfrm>
            <a:off x="5760700" y="4073376"/>
            <a:ext cx="175730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3664" algn="r">
              <a:lnSpc>
                <a:spcPct val="100000"/>
              </a:lnSpc>
              <a:spcBef>
                <a:spcPts val="95"/>
              </a:spcBef>
            </a:pPr>
            <a:r>
              <a:rPr lang="en-US" sz="1200" spc="-5" dirty="0">
                <a:solidFill>
                  <a:schemeClr val="bg1"/>
                </a:solidFill>
                <a:latin typeface="+mn-lt"/>
                <a:cs typeface="Calibri"/>
              </a:rPr>
              <a:t>The code to run when  values change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07FDDE-2E6C-124E-B584-D0EDE8638108}"/>
              </a:ext>
            </a:extLst>
          </p:cNvPr>
          <p:cNvCxnSpPr>
            <a:cxnSpLocks/>
            <a:stCxn id="7" idx="0"/>
          </p:cNvCxnSpPr>
          <p:nvPr/>
        </p:nvCxnSpPr>
        <p:spPr bwMode="auto">
          <a:xfrm flipV="1">
            <a:off x="1861334" y="3507078"/>
            <a:ext cx="318596" cy="566181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2751A0B-3064-5EB8-2C51-39E3EB9A6BAB}"/>
              </a:ext>
            </a:extLst>
          </p:cNvPr>
          <p:cNvCxnSpPr>
            <a:cxnSpLocks/>
            <a:stCxn id="9" idx="0"/>
          </p:cNvCxnSpPr>
          <p:nvPr/>
        </p:nvCxnSpPr>
        <p:spPr bwMode="auto">
          <a:xfrm flipH="1" flipV="1">
            <a:off x="5684126" y="3325146"/>
            <a:ext cx="955228" cy="748230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694066023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8A0183-E99A-6EDA-E0ED-B818A71AFD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4687" y="1074069"/>
            <a:ext cx="7342187" cy="1062354"/>
          </a:xfrm>
        </p:spPr>
        <p:txBody>
          <a:bodyPr/>
          <a:lstStyle/>
          <a:p>
            <a:r>
              <a:rPr lang="en-GB" dirty="0"/>
              <a:t>Building a React Project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491D0B5-3B8C-74E3-6F69-0BA924855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D186113-C121-1E64-7082-36DAC77750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1418" y="2257948"/>
            <a:ext cx="7342187" cy="2657865"/>
          </a:xfrm>
        </p:spPr>
        <p:txBody>
          <a:bodyPr/>
          <a:lstStyle/>
          <a:p>
            <a:pPr marL="469900" indent="-457200">
              <a:lnSpc>
                <a:spcPct val="150000"/>
              </a:lnSpc>
              <a:spcBef>
                <a:spcPts val="100"/>
              </a:spcBef>
              <a:buClr>
                <a:schemeClr val="bg1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1600" spc="-5" dirty="0">
                <a:latin typeface="Calibri"/>
                <a:cs typeface="Calibri"/>
              </a:rPr>
              <a:t>When</a:t>
            </a:r>
            <a:r>
              <a:rPr lang="en-US" sz="1600" spc="5" dirty="0">
                <a:latin typeface="Calibri"/>
                <a:cs typeface="Calibri"/>
              </a:rPr>
              <a:t> </a:t>
            </a:r>
            <a:r>
              <a:rPr lang="en-US" sz="1600" spc="-25" dirty="0">
                <a:latin typeface="Calibri"/>
                <a:cs typeface="Calibri"/>
              </a:rPr>
              <a:t>you’re</a:t>
            </a:r>
            <a:r>
              <a:rPr lang="en-US" sz="160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ready </a:t>
            </a:r>
            <a:r>
              <a:rPr lang="en-US" sz="1600" spc="-20" dirty="0">
                <a:latin typeface="Calibri"/>
                <a:cs typeface="Calibri"/>
              </a:rPr>
              <a:t>to</a:t>
            </a:r>
            <a:r>
              <a:rPr lang="en-US" sz="1600" spc="5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launch</a:t>
            </a:r>
            <a:r>
              <a:rPr lang="en-US" sz="1600" spc="15" dirty="0">
                <a:latin typeface="Calibri"/>
                <a:cs typeface="Calibri"/>
              </a:rPr>
              <a:t> </a:t>
            </a:r>
            <a:r>
              <a:rPr lang="en-US" sz="1600" spc="-15" dirty="0">
                <a:latin typeface="Calibri"/>
                <a:cs typeface="Calibri"/>
              </a:rPr>
              <a:t>your</a:t>
            </a:r>
            <a:r>
              <a:rPr lang="en-US" sz="1600" spc="10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app,</a:t>
            </a:r>
            <a:r>
              <a:rPr lang="en-US" sz="1600" spc="10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run</a:t>
            </a:r>
            <a:r>
              <a:rPr lang="en-US" sz="1600" spc="10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this</a:t>
            </a:r>
            <a:r>
              <a:rPr lang="en-US" sz="1600" spc="1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command:</a:t>
            </a:r>
            <a:endParaRPr lang="en-US" sz="1600" dirty="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  <a:buClr>
                <a:schemeClr val="bg1"/>
              </a:buClr>
              <a:tabLst>
                <a:tab pos="469265" algn="l"/>
                <a:tab pos="469900" algn="l"/>
              </a:tabLst>
            </a:pPr>
            <a:r>
              <a:rPr lang="en-US" sz="1600" b="1" spc="-5" dirty="0">
                <a:latin typeface="Calibri"/>
                <a:cs typeface="Calibri"/>
              </a:rPr>
              <a:t>           </a:t>
            </a:r>
            <a:r>
              <a:rPr lang="en-US" sz="1600" b="1" spc="-5" dirty="0" err="1">
                <a:latin typeface="Consolas"/>
                <a:cs typeface="Consolas"/>
              </a:rPr>
              <a:t>npm</a:t>
            </a:r>
            <a:r>
              <a:rPr lang="en-US" sz="1600" b="1" spc="-30" dirty="0">
                <a:latin typeface="Consolas"/>
                <a:cs typeface="Consolas"/>
              </a:rPr>
              <a:t> </a:t>
            </a:r>
            <a:r>
              <a:rPr lang="en-US" sz="1600" b="1" spc="-10" dirty="0">
                <a:latin typeface="Consolas"/>
                <a:cs typeface="Consolas"/>
              </a:rPr>
              <a:t>run</a:t>
            </a:r>
            <a:r>
              <a:rPr lang="en-US" sz="1600" b="1" spc="-25" dirty="0">
                <a:latin typeface="Consolas"/>
                <a:cs typeface="Consolas"/>
              </a:rPr>
              <a:t> </a:t>
            </a:r>
            <a:r>
              <a:rPr lang="en-US" sz="1600" b="1" spc="-10" dirty="0">
                <a:latin typeface="Consolas"/>
                <a:cs typeface="Consolas"/>
              </a:rPr>
              <a:t>build</a:t>
            </a:r>
            <a:endParaRPr lang="en-US" sz="1600" dirty="0">
              <a:latin typeface="Consolas"/>
              <a:cs typeface="Consolas"/>
            </a:endParaRPr>
          </a:p>
          <a:p>
            <a:pPr marL="469900" indent="-457200">
              <a:lnSpc>
                <a:spcPct val="150000"/>
              </a:lnSpc>
              <a:buClr>
                <a:schemeClr val="bg1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1600" spc="-5" dirty="0">
                <a:latin typeface="Calibri"/>
                <a:cs typeface="Calibri"/>
              </a:rPr>
              <a:t>This</a:t>
            </a:r>
            <a:r>
              <a:rPr lang="en-US" sz="1600" spc="5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bundles</a:t>
            </a:r>
            <a:r>
              <a:rPr lang="en-US" sz="1600" spc="15" dirty="0">
                <a:latin typeface="Calibri"/>
                <a:cs typeface="Calibri"/>
              </a:rPr>
              <a:t> </a:t>
            </a:r>
            <a:r>
              <a:rPr lang="en-US" sz="1600" spc="-15" dirty="0">
                <a:latin typeface="Calibri"/>
                <a:cs typeface="Calibri"/>
              </a:rPr>
              <a:t>your</a:t>
            </a:r>
            <a:r>
              <a:rPr lang="en-US" sz="1600" spc="15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app</a:t>
            </a:r>
            <a:r>
              <a:rPr lang="en-US" sz="1600" dirty="0">
                <a:latin typeface="Calibri"/>
                <a:cs typeface="Calibri"/>
              </a:rPr>
              <a:t> </a:t>
            </a:r>
            <a:r>
              <a:rPr lang="en-US" sz="1600" spc="-20" dirty="0">
                <a:latin typeface="Calibri"/>
                <a:cs typeface="Calibri"/>
              </a:rPr>
              <a:t>into</a:t>
            </a:r>
            <a:r>
              <a:rPr lang="en-US" sz="1600" spc="10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CSS/JS/HTML files</a:t>
            </a:r>
            <a:r>
              <a:rPr lang="en-US" sz="1600" spc="-15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and</a:t>
            </a:r>
            <a:r>
              <a:rPr lang="en-US" sz="1600" spc="10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puts</a:t>
            </a:r>
            <a:r>
              <a:rPr lang="en-US" sz="1600" spc="20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them</a:t>
            </a:r>
            <a:r>
              <a:rPr lang="en-US" sz="1600" spc="5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in</a:t>
            </a:r>
            <a:r>
              <a:rPr lang="en-US" sz="1600" spc="5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the</a:t>
            </a:r>
            <a:endParaRPr lang="en-US" sz="1600" dirty="0">
              <a:latin typeface="Calibri"/>
              <a:cs typeface="Calibri"/>
            </a:endParaRPr>
          </a:p>
          <a:p>
            <a:pPr marL="469900">
              <a:lnSpc>
                <a:spcPct val="150000"/>
              </a:lnSpc>
              <a:buClr>
                <a:schemeClr val="bg1"/>
              </a:buClr>
            </a:pPr>
            <a:r>
              <a:rPr lang="en-US" sz="1600" b="1" dirty="0">
                <a:latin typeface="Consolas"/>
                <a:cs typeface="Consolas"/>
              </a:rPr>
              <a:t>/bui</a:t>
            </a:r>
            <a:r>
              <a:rPr lang="en-US" sz="1600" b="1" spc="-5" dirty="0">
                <a:latin typeface="Consolas"/>
                <a:cs typeface="Consolas"/>
              </a:rPr>
              <a:t>l</a:t>
            </a:r>
            <a:r>
              <a:rPr lang="en-US" sz="1600" b="1" dirty="0">
                <a:latin typeface="Consolas"/>
                <a:cs typeface="Consolas"/>
              </a:rPr>
              <a:t>d </a:t>
            </a:r>
            <a:r>
              <a:rPr lang="en-US" sz="1600" b="1" spc="-925" dirty="0">
                <a:latin typeface="Consolas"/>
                <a:cs typeface="Consolas"/>
              </a:rPr>
              <a:t>    </a:t>
            </a:r>
            <a:r>
              <a:rPr lang="en-US" sz="1600" spc="-60" dirty="0">
                <a:latin typeface="Calibri"/>
                <a:cs typeface="Calibri"/>
              </a:rPr>
              <a:t>f</a:t>
            </a:r>
            <a:r>
              <a:rPr lang="en-US" sz="1600" spc="-5" dirty="0">
                <a:latin typeface="Calibri"/>
                <a:cs typeface="Calibri"/>
              </a:rPr>
              <a:t>older</a:t>
            </a:r>
            <a:endParaRPr lang="en-US"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2170977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A97D86-D7A0-702A-E00B-62B556D34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Connect to Rest API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BA49A-C4CD-EEDA-0CB4-F662C8DF34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C6807-E78B-7BB4-B737-503AAA6FB5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12654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478CDF-D880-E25E-220E-965AE5EB738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3719" y="856673"/>
            <a:ext cx="8469311" cy="362267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dirty="0"/>
              <a:t>Using </a:t>
            </a:r>
            <a:r>
              <a:rPr lang="en-US" dirty="0" err="1"/>
              <a:t>npm</a:t>
            </a:r>
            <a:r>
              <a:rPr lang="en-US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create-react-app deutsche-bank-project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cd deutsche-bank-project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npm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install axios@0.24.0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D0F829-D035-147B-B9A9-9E4FA10CB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— Adding </a:t>
            </a:r>
            <a:r>
              <a:rPr lang="en-US" dirty="0" err="1"/>
              <a:t>Axios</a:t>
            </a:r>
            <a:r>
              <a:rPr lang="en-US" dirty="0"/>
              <a:t> to the Project</a:t>
            </a:r>
          </a:p>
        </p:txBody>
      </p:sp>
    </p:spTree>
    <p:extLst>
      <p:ext uri="{BB962C8B-B14F-4D97-AF65-F5344CB8AC3E}">
        <p14:creationId xmlns:p14="http://schemas.microsoft.com/office/powerpoint/2010/main" val="876642122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478CDF-D880-E25E-220E-965AE5EB738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 this example, you create a new component and import </a:t>
            </a:r>
            <a:r>
              <a:rPr lang="en-US" dirty="0" err="1"/>
              <a:t>Axios</a:t>
            </a:r>
            <a:r>
              <a:rPr lang="en-US" dirty="0"/>
              <a:t> into it to send a GET request.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Inside your React project, you will need to create a new component named </a:t>
            </a:r>
            <a:r>
              <a:rPr lang="en-US" dirty="0" err="1"/>
              <a:t>PersonList</a:t>
            </a:r>
            <a:r>
              <a:rPr lang="en-US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First, create a new components subdirectory in the </a:t>
            </a:r>
            <a:r>
              <a:rPr lang="en-US" dirty="0" err="1"/>
              <a:t>src</a:t>
            </a:r>
            <a:r>
              <a:rPr lang="en-US" dirty="0"/>
              <a:t> directory:</a:t>
            </a:r>
          </a:p>
          <a:p>
            <a:pPr marL="268288" lvl="1" indent="0">
              <a:lnSpc>
                <a:spcPct val="150000"/>
              </a:lnSpc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mkdir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/components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D0F829-D035-147B-B9A9-9E4FA10CB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2 — Making a GET Request</a:t>
            </a:r>
          </a:p>
        </p:txBody>
      </p:sp>
    </p:spTree>
    <p:extLst>
      <p:ext uri="{BB962C8B-B14F-4D97-AF65-F5344CB8AC3E}">
        <p14:creationId xmlns:p14="http://schemas.microsoft.com/office/powerpoint/2010/main" val="2635231420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478CDF-D880-E25E-220E-965AE5EB738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7344" y="766619"/>
            <a:ext cx="8469311" cy="307109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React from 'react';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axios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from '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axios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export default class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PersonList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extends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React.Component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state =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persons: []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componentDidMount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axios.get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(`https://jsonplaceholder.typicode.com/users`)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.then(res =&gt;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const persons =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res.data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this.setState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({ persons });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})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render()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ul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this.state.persons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.map(person =&gt;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&lt;li key={person.id}&gt;{person.name}&lt;/li&gt;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&lt;/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ul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4324256-B270-090E-C8DE-E3C045739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src</a:t>
            </a:r>
            <a:r>
              <a:rPr lang="en-US" dirty="0"/>
              <a:t>/components/PersonList.js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885099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478CDF-D880-E25E-220E-965AE5EB738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7344" y="766619"/>
            <a:ext cx="8469311" cy="270394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PersonList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from './components/PersonList.js';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 App()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return 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&lt;div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ClassName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="App"&gt;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PersonList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&lt;/div&gt;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CB5FD-C525-A041-D3E9-78076BD20AEB}"/>
              </a:ext>
            </a:extLst>
          </p:cNvPr>
          <p:cNvSpPr txBox="1"/>
          <p:nvPr/>
        </p:nvSpPr>
        <p:spPr bwMode="ltGray">
          <a:xfrm>
            <a:off x="4405312" y="4454606"/>
            <a:ext cx="4572000" cy="3017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4324256-B270-090E-C8DE-E3C045739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src</a:t>
            </a:r>
            <a:r>
              <a:rPr lang="en-US" dirty="0"/>
              <a:t>/app.js</a:t>
            </a:r>
          </a:p>
        </p:txBody>
      </p:sp>
    </p:spTree>
    <p:extLst>
      <p:ext uri="{BB962C8B-B14F-4D97-AF65-F5344CB8AC3E}">
        <p14:creationId xmlns:p14="http://schemas.microsoft.com/office/powerpoint/2010/main" val="1374497286"/>
      </p:ext>
    </p:extLst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478CDF-D880-E25E-220E-965AE5EB738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702018" y="1213731"/>
            <a:ext cx="5591752" cy="270394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npm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start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CB5FD-C525-A041-D3E9-78076BD20AEB}"/>
              </a:ext>
            </a:extLst>
          </p:cNvPr>
          <p:cNvSpPr txBox="1"/>
          <p:nvPr/>
        </p:nvSpPr>
        <p:spPr bwMode="ltGray">
          <a:xfrm>
            <a:off x="4405312" y="4454606"/>
            <a:ext cx="4572000" cy="3017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4324256-B270-090E-C8DE-E3C045739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your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F03C0-EA30-89E5-4480-85B6BB2C6A89}"/>
              </a:ext>
            </a:extLst>
          </p:cNvPr>
          <p:cNvSpPr txBox="1"/>
          <p:nvPr/>
        </p:nvSpPr>
        <p:spPr bwMode="ltGray">
          <a:xfrm>
            <a:off x="441253" y="760063"/>
            <a:ext cx="4572000" cy="3017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D5B7C"/>
                </a:solidFill>
                <a:effectLst/>
                <a:latin typeface="+mn-lt"/>
              </a:rPr>
              <a:t>Then run your application: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2587744"/>
      </p:ext>
    </p:extLst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478CDF-D880-E25E-220E-965AE5EB738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8138" y="667565"/>
            <a:ext cx="8469311" cy="362267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React from 'react';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axios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from '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axios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';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export default class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PersonAdd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extends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React.Component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state =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name: ''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handleChange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event =&gt;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this.setState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({ name: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event.target.value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});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handleSubmit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event =&gt;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event.preventDefault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const user =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name: this.state.name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};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axios.post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(`https://jsonplaceholder.typicode.com/users`, { user })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.then(res =&gt;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console.log(res);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console.log(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res.data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})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render()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&lt;div&gt;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&lt;form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onSubmit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={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this.handleSubmit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&lt;label&gt;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Person Name: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&lt;input type="text" name="name"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onChange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={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this.handleChange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 /&gt;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&lt;/label&gt;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&lt;button type="submit"&gt;Add&lt;/button&gt;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&lt;/form&gt;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&lt;/div&gt;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D0F829-D035-147B-B9A9-9E4FA10CB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3 — Making a POST Request</a:t>
            </a:r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12F4543F-59C7-3D44-B64F-83F31BF1DC1C}"/>
              </a:ext>
            </a:extLst>
          </p:cNvPr>
          <p:cNvSpPr/>
          <p:nvPr/>
        </p:nvSpPr>
        <p:spPr bwMode="auto">
          <a:xfrm>
            <a:off x="5701145" y="4350327"/>
            <a:ext cx="2735624" cy="554182"/>
          </a:xfrm>
          <a:prstGeom prst="flowChartPunchedCard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4CF85-2ECC-7719-821B-5F4EF7F52287}"/>
              </a:ext>
            </a:extLst>
          </p:cNvPr>
          <p:cNvSpPr txBox="1"/>
          <p:nvPr/>
        </p:nvSpPr>
        <p:spPr bwMode="ltGray">
          <a:xfrm>
            <a:off x="6005946" y="4487841"/>
            <a:ext cx="2430823" cy="3017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b="0" i="0">
                <a:solidFill>
                  <a:schemeClr val="bg1"/>
                </a:solidFill>
                <a:effectLst/>
                <a:latin typeface="Inter"/>
              </a:defRPr>
            </a:lvl1pPr>
          </a:lstStyle>
          <a:p>
            <a:r>
              <a:rPr lang="en-US" dirty="0" err="1"/>
              <a:t>src</a:t>
            </a:r>
            <a:r>
              <a:rPr lang="en-US" dirty="0"/>
              <a:t>/components/PersonAdd.js</a:t>
            </a:r>
          </a:p>
        </p:txBody>
      </p:sp>
    </p:spTree>
    <p:extLst>
      <p:ext uri="{BB962C8B-B14F-4D97-AF65-F5344CB8AC3E}">
        <p14:creationId xmlns:p14="http://schemas.microsoft.com/office/powerpoint/2010/main" val="2549216727"/>
      </p:ext>
    </p:extLst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478CDF-D880-E25E-220E-965AE5EB738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8138" y="667565"/>
            <a:ext cx="8469311" cy="362267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PersonList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from './components/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PersonList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PersonAdd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from './components/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PersonAdd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';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 App()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return 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&lt;div 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ClassName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="App"&gt;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PersonAdd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PersonList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&lt;/div&gt;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D0F829-D035-147B-B9A9-9E4FA10CB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Add this component to your app.js:</a:t>
            </a:r>
          </a:p>
        </p:txBody>
      </p:sp>
      <p:sp>
        <p:nvSpPr>
          <p:cNvPr id="8" name="Flowchart: Card 7">
            <a:extLst>
              <a:ext uri="{FF2B5EF4-FFF2-40B4-BE49-F238E27FC236}">
                <a16:creationId xmlns:a16="http://schemas.microsoft.com/office/drawing/2014/main" id="{9204D7CE-16C3-0577-0505-DE40E91C5298}"/>
              </a:ext>
            </a:extLst>
          </p:cNvPr>
          <p:cNvSpPr/>
          <p:nvPr/>
        </p:nvSpPr>
        <p:spPr bwMode="auto">
          <a:xfrm>
            <a:off x="1295401" y="3132256"/>
            <a:ext cx="2182091" cy="450273"/>
          </a:xfrm>
          <a:prstGeom prst="flowChartPunchedCard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99C0B-1E49-EAE1-3E0D-57BD7B2296FF}"/>
              </a:ext>
            </a:extLst>
          </p:cNvPr>
          <p:cNvSpPr txBox="1"/>
          <p:nvPr/>
        </p:nvSpPr>
        <p:spPr bwMode="ltGray">
          <a:xfrm>
            <a:off x="1861978" y="3206517"/>
            <a:ext cx="4572000" cy="3017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chemeClr val="bg1"/>
                </a:solidFill>
                <a:effectLst/>
                <a:latin typeface="Inter"/>
              </a:rPr>
              <a:t>src</a:t>
            </a:r>
            <a:r>
              <a:rPr lang="en-US" b="0" i="0" dirty="0">
                <a:solidFill>
                  <a:schemeClr val="bg1"/>
                </a:solidFill>
                <a:effectLst/>
                <a:latin typeface="Inter"/>
              </a:rPr>
              <a:t>/app.js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029437"/>
      </p:ext>
    </p:extLst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478CDF-D880-E25E-220E-965AE5EB738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95980" y="1213731"/>
            <a:ext cx="5847845" cy="270394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npm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start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CB5FD-C525-A041-D3E9-78076BD20AEB}"/>
              </a:ext>
            </a:extLst>
          </p:cNvPr>
          <p:cNvSpPr txBox="1"/>
          <p:nvPr/>
        </p:nvSpPr>
        <p:spPr bwMode="ltGray">
          <a:xfrm>
            <a:off x="4405312" y="4454606"/>
            <a:ext cx="4572000" cy="3017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4324256-B270-090E-C8DE-E3C045739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your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F03C0-EA30-89E5-4480-85B6BB2C6A89}"/>
              </a:ext>
            </a:extLst>
          </p:cNvPr>
          <p:cNvSpPr txBox="1"/>
          <p:nvPr/>
        </p:nvSpPr>
        <p:spPr bwMode="ltGray">
          <a:xfrm>
            <a:off x="441253" y="760063"/>
            <a:ext cx="4572000" cy="3017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A3E0"/>
                </a:solidFill>
                <a:effectLst/>
                <a:latin typeface="+mn-lt"/>
              </a:rPr>
              <a:t>Then run your application:</a:t>
            </a:r>
            <a:endParaRPr lang="en-US" dirty="0">
              <a:solidFill>
                <a:srgbClr val="00A3E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414434"/>
      </p:ext>
    </p:extLst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1261E2-A178-B6F9-56C7-56C7E3E16C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React Forms (DEMO)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034E0-1883-00EC-DA16-1A8A247CC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721B6-7689-1BBE-32A0-3E4EAA6E2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903307"/>
      </p:ext>
    </p:extLst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33D210-581F-F3B5-DCFC-47DCB21A74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Higher Order Components (HOC)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01E14-5451-791D-9632-1DCC015D1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EA4CC-7220-B595-54D3-3E30526B79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10763"/>
      </p:ext>
    </p:extLst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3">
            <a:extLst>
              <a:ext uri="{FF2B5EF4-FFF2-40B4-BE49-F238E27FC236}">
                <a16:creationId xmlns:a16="http://schemas.microsoft.com/office/drawing/2014/main" id="{20BBF188-FD6E-525E-43C8-4A25EF6E5A41}"/>
              </a:ext>
            </a:extLst>
          </p:cNvPr>
          <p:cNvGrpSpPr/>
          <p:nvPr/>
        </p:nvGrpSpPr>
        <p:grpSpPr>
          <a:xfrm>
            <a:off x="3020964" y="339365"/>
            <a:ext cx="5250199" cy="4668547"/>
            <a:chOff x="1016838" y="1621536"/>
            <a:chExt cx="5948680" cy="2714625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6B298140-C9AC-33DE-E02E-319E25ED6215}"/>
                </a:ext>
              </a:extLst>
            </p:cNvPr>
            <p:cNvSpPr/>
            <p:nvPr/>
          </p:nvSpPr>
          <p:spPr>
            <a:xfrm>
              <a:off x="1025804" y="1630502"/>
              <a:ext cx="5930265" cy="2695575"/>
            </a:xfrm>
            <a:custGeom>
              <a:avLst/>
              <a:gdLst/>
              <a:ahLst/>
              <a:cxnLst/>
              <a:rect l="l" t="t" r="r" b="b"/>
              <a:pathLst>
                <a:path w="5930265" h="2695575">
                  <a:moveTo>
                    <a:pt x="5929807" y="2358237"/>
                  </a:moveTo>
                  <a:lnTo>
                    <a:pt x="5929807" y="0"/>
                  </a:lnTo>
                  <a:lnTo>
                    <a:pt x="0" y="0"/>
                  </a:lnTo>
                  <a:lnTo>
                    <a:pt x="0" y="2695486"/>
                  </a:lnTo>
                  <a:lnTo>
                    <a:pt x="5189372" y="2695486"/>
                  </a:lnTo>
                  <a:lnTo>
                    <a:pt x="5929807" y="2358237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4CA75B42-E8D1-80CC-C616-454962FF9F46}"/>
                </a:ext>
              </a:extLst>
            </p:cNvPr>
            <p:cNvSpPr/>
            <p:nvPr/>
          </p:nvSpPr>
          <p:spPr>
            <a:xfrm>
              <a:off x="1016838" y="1621536"/>
              <a:ext cx="5948045" cy="2713990"/>
            </a:xfrm>
            <a:custGeom>
              <a:avLst/>
              <a:gdLst/>
              <a:ahLst/>
              <a:cxnLst/>
              <a:rect l="l" t="t" r="r" b="b"/>
              <a:pathLst>
                <a:path w="5948045" h="2713990">
                  <a:moveTo>
                    <a:pt x="5947740" y="2370709"/>
                  </a:moveTo>
                  <a:lnTo>
                    <a:pt x="5947740" y="4013"/>
                  </a:lnTo>
                  <a:lnTo>
                    <a:pt x="5943727" y="0"/>
                  </a:lnTo>
                  <a:lnTo>
                    <a:pt x="4013" y="0"/>
                  </a:lnTo>
                  <a:lnTo>
                    <a:pt x="0" y="4013"/>
                  </a:lnTo>
                  <a:lnTo>
                    <a:pt x="0" y="2709405"/>
                  </a:lnTo>
                  <a:lnTo>
                    <a:pt x="4013" y="2713418"/>
                  </a:lnTo>
                  <a:lnTo>
                    <a:pt x="8966" y="2713418"/>
                  </a:lnTo>
                  <a:lnTo>
                    <a:pt x="8966" y="8966"/>
                  </a:lnTo>
                  <a:lnTo>
                    <a:pt x="17932" y="8966"/>
                  </a:lnTo>
                  <a:lnTo>
                    <a:pt x="17932" y="17945"/>
                  </a:lnTo>
                  <a:lnTo>
                    <a:pt x="5929807" y="17945"/>
                  </a:lnTo>
                  <a:lnTo>
                    <a:pt x="5929807" y="8966"/>
                  </a:lnTo>
                  <a:lnTo>
                    <a:pt x="5938774" y="8966"/>
                  </a:lnTo>
                  <a:lnTo>
                    <a:pt x="5938774" y="2377061"/>
                  </a:lnTo>
                  <a:lnTo>
                    <a:pt x="5945695" y="2373909"/>
                  </a:lnTo>
                  <a:lnTo>
                    <a:pt x="5947740" y="2370709"/>
                  </a:lnTo>
                  <a:close/>
                </a:path>
                <a:path w="5948045" h="2713990">
                  <a:moveTo>
                    <a:pt x="17932" y="17945"/>
                  </a:moveTo>
                  <a:lnTo>
                    <a:pt x="17932" y="8966"/>
                  </a:lnTo>
                  <a:lnTo>
                    <a:pt x="8966" y="8966"/>
                  </a:lnTo>
                  <a:lnTo>
                    <a:pt x="8966" y="17945"/>
                  </a:lnTo>
                  <a:lnTo>
                    <a:pt x="17932" y="17945"/>
                  </a:lnTo>
                  <a:close/>
                </a:path>
                <a:path w="5948045" h="2713990">
                  <a:moveTo>
                    <a:pt x="17932" y="2695486"/>
                  </a:moveTo>
                  <a:lnTo>
                    <a:pt x="17932" y="17945"/>
                  </a:lnTo>
                  <a:lnTo>
                    <a:pt x="8966" y="17945"/>
                  </a:lnTo>
                  <a:lnTo>
                    <a:pt x="8966" y="2695486"/>
                  </a:lnTo>
                  <a:lnTo>
                    <a:pt x="17932" y="2695486"/>
                  </a:lnTo>
                  <a:close/>
                </a:path>
                <a:path w="5948045" h="2713990">
                  <a:moveTo>
                    <a:pt x="5196374" y="2695486"/>
                  </a:moveTo>
                  <a:lnTo>
                    <a:pt x="8966" y="2695486"/>
                  </a:lnTo>
                  <a:lnTo>
                    <a:pt x="8966" y="2704452"/>
                  </a:lnTo>
                  <a:lnTo>
                    <a:pt x="17932" y="2704452"/>
                  </a:lnTo>
                  <a:lnTo>
                    <a:pt x="17932" y="2713418"/>
                  </a:lnTo>
                  <a:lnTo>
                    <a:pt x="5194617" y="2713418"/>
                  </a:lnTo>
                  <a:lnTo>
                    <a:pt x="5194617" y="2696286"/>
                  </a:lnTo>
                  <a:lnTo>
                    <a:pt x="5196374" y="2695486"/>
                  </a:lnTo>
                  <a:close/>
                </a:path>
                <a:path w="5948045" h="2713990">
                  <a:moveTo>
                    <a:pt x="17932" y="2713418"/>
                  </a:moveTo>
                  <a:lnTo>
                    <a:pt x="17932" y="2704452"/>
                  </a:lnTo>
                  <a:lnTo>
                    <a:pt x="8966" y="2704452"/>
                  </a:lnTo>
                  <a:lnTo>
                    <a:pt x="8966" y="2713418"/>
                  </a:lnTo>
                  <a:lnTo>
                    <a:pt x="17932" y="2713418"/>
                  </a:lnTo>
                  <a:close/>
                </a:path>
                <a:path w="5948045" h="2713990">
                  <a:moveTo>
                    <a:pt x="5198338" y="2704452"/>
                  </a:moveTo>
                  <a:lnTo>
                    <a:pt x="5198338" y="2695486"/>
                  </a:lnTo>
                  <a:lnTo>
                    <a:pt x="5196374" y="2695486"/>
                  </a:lnTo>
                  <a:lnTo>
                    <a:pt x="5194617" y="2696286"/>
                  </a:lnTo>
                  <a:lnTo>
                    <a:pt x="5198338" y="2704452"/>
                  </a:lnTo>
                  <a:close/>
                </a:path>
                <a:path w="5948045" h="2713990">
                  <a:moveTo>
                    <a:pt x="5198338" y="2713418"/>
                  </a:moveTo>
                  <a:lnTo>
                    <a:pt x="5198338" y="2704452"/>
                  </a:lnTo>
                  <a:lnTo>
                    <a:pt x="5194617" y="2696286"/>
                  </a:lnTo>
                  <a:lnTo>
                    <a:pt x="5194617" y="2713418"/>
                  </a:lnTo>
                  <a:lnTo>
                    <a:pt x="5198338" y="2713418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5052" y="2359037"/>
                  </a:lnTo>
                  <a:lnTo>
                    <a:pt x="5196374" y="2695486"/>
                  </a:lnTo>
                  <a:lnTo>
                    <a:pt x="5198338" y="2695486"/>
                  </a:lnTo>
                  <a:lnTo>
                    <a:pt x="5198338" y="2713418"/>
                  </a:lnTo>
                  <a:lnTo>
                    <a:pt x="5199646" y="2713418"/>
                  </a:lnTo>
                  <a:lnTo>
                    <a:pt x="5200865" y="2713151"/>
                  </a:lnTo>
                  <a:lnTo>
                    <a:pt x="5929807" y="2381145"/>
                  </a:lnTo>
                  <a:lnTo>
                    <a:pt x="5929807" y="2367203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17945"/>
                  </a:moveTo>
                  <a:lnTo>
                    <a:pt x="5938774" y="8966"/>
                  </a:lnTo>
                  <a:lnTo>
                    <a:pt x="5929807" y="8966"/>
                  </a:lnTo>
                  <a:lnTo>
                    <a:pt x="5929807" y="17945"/>
                  </a:lnTo>
                  <a:lnTo>
                    <a:pt x="5938774" y="17945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8774" y="17945"/>
                  </a:lnTo>
                  <a:lnTo>
                    <a:pt x="5929807" y="17945"/>
                  </a:lnTo>
                  <a:lnTo>
                    <a:pt x="5929807" y="2361426"/>
                  </a:lnTo>
                  <a:lnTo>
                    <a:pt x="5935052" y="2359037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2377061"/>
                  </a:moveTo>
                  <a:lnTo>
                    <a:pt x="5938774" y="2367203"/>
                  </a:lnTo>
                  <a:lnTo>
                    <a:pt x="5929807" y="2367203"/>
                  </a:lnTo>
                  <a:lnTo>
                    <a:pt x="5929807" y="2381145"/>
                  </a:lnTo>
                  <a:lnTo>
                    <a:pt x="5938774" y="2377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25F04E3F-2409-4035-F681-EED982825981}"/>
                </a:ext>
              </a:extLst>
            </p:cNvPr>
            <p:cNvSpPr/>
            <p:nvPr/>
          </p:nvSpPr>
          <p:spPr>
            <a:xfrm>
              <a:off x="6215176" y="3988739"/>
              <a:ext cx="741045" cy="337820"/>
            </a:xfrm>
            <a:custGeom>
              <a:avLst/>
              <a:gdLst/>
              <a:ahLst/>
              <a:cxnLst/>
              <a:rect l="l" t="t" r="r" b="b"/>
              <a:pathLst>
                <a:path w="741045" h="337820">
                  <a:moveTo>
                    <a:pt x="740435" y="0"/>
                  </a:moveTo>
                  <a:lnTo>
                    <a:pt x="655397" y="5180"/>
                  </a:lnTo>
                  <a:lnTo>
                    <a:pt x="584076" y="10387"/>
                  </a:lnTo>
                  <a:lnTo>
                    <a:pt x="432698" y="23262"/>
                  </a:lnTo>
                  <a:lnTo>
                    <a:pt x="396525" y="25669"/>
                  </a:lnTo>
                  <a:lnTo>
                    <a:pt x="364209" y="26651"/>
                  </a:lnTo>
                  <a:lnTo>
                    <a:pt x="333778" y="25916"/>
                  </a:lnTo>
                  <a:lnTo>
                    <a:pt x="303259" y="23174"/>
                  </a:lnTo>
                  <a:lnTo>
                    <a:pt x="270680" y="18134"/>
                  </a:lnTo>
                  <a:lnTo>
                    <a:pt x="234068" y="10506"/>
                  </a:lnTo>
                  <a:lnTo>
                    <a:pt x="191452" y="0"/>
                  </a:lnTo>
                  <a:lnTo>
                    <a:pt x="0" y="337248"/>
                  </a:lnTo>
                  <a:lnTo>
                    <a:pt x="740435" y="0"/>
                  </a:lnTo>
                  <a:close/>
                </a:path>
              </a:pathLst>
            </a:custGeom>
            <a:solidFill>
              <a:srgbClr val="DBD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8F1C05FB-1125-29EF-25FB-A0B63D9B7E8A}"/>
                </a:ext>
              </a:extLst>
            </p:cNvPr>
            <p:cNvSpPr/>
            <p:nvPr/>
          </p:nvSpPr>
          <p:spPr>
            <a:xfrm>
              <a:off x="6205448" y="3979037"/>
              <a:ext cx="760095" cy="356870"/>
            </a:xfrm>
            <a:custGeom>
              <a:avLst/>
              <a:gdLst/>
              <a:ahLst/>
              <a:cxnLst/>
              <a:rect l="l" t="t" r="r" b="b"/>
              <a:pathLst>
                <a:path w="760095" h="356870">
                  <a:moveTo>
                    <a:pt x="750658" y="19329"/>
                  </a:moveTo>
                  <a:lnTo>
                    <a:pt x="750658" y="18656"/>
                  </a:lnTo>
                  <a:lnTo>
                    <a:pt x="702488" y="21557"/>
                  </a:lnTo>
                  <a:lnTo>
                    <a:pt x="31195" y="327312"/>
                  </a:lnTo>
                  <a:lnTo>
                    <a:pt x="17538" y="351370"/>
                  </a:lnTo>
                  <a:lnTo>
                    <a:pt x="9728" y="346938"/>
                  </a:lnTo>
                  <a:lnTo>
                    <a:pt x="1930" y="342518"/>
                  </a:lnTo>
                  <a:lnTo>
                    <a:pt x="0" y="345909"/>
                  </a:lnTo>
                  <a:lnTo>
                    <a:pt x="482" y="350126"/>
                  </a:lnTo>
                  <a:lnTo>
                    <a:pt x="5740" y="355879"/>
                  </a:lnTo>
                  <a:lnTo>
                    <a:pt x="9893" y="356730"/>
                  </a:lnTo>
                  <a:lnTo>
                    <a:pt x="750658" y="19329"/>
                  </a:lnTo>
                  <a:close/>
                </a:path>
                <a:path w="760095" h="356870">
                  <a:moveTo>
                    <a:pt x="759904" y="11734"/>
                  </a:moveTo>
                  <a:lnTo>
                    <a:pt x="757847" y="3378"/>
                  </a:lnTo>
                  <a:lnTo>
                    <a:pt x="753973" y="508"/>
                  </a:lnTo>
                  <a:lnTo>
                    <a:pt x="749668" y="736"/>
                  </a:lnTo>
                  <a:lnTo>
                    <a:pt x="663424" y="6002"/>
                  </a:lnTo>
                  <a:lnTo>
                    <a:pt x="591256" y="11287"/>
                  </a:lnTo>
                  <a:lnTo>
                    <a:pt x="531145" y="16289"/>
                  </a:lnTo>
                  <a:lnTo>
                    <a:pt x="481069" y="20704"/>
                  </a:lnTo>
                  <a:lnTo>
                    <a:pt x="439010" y="24229"/>
                  </a:lnTo>
                  <a:lnTo>
                    <a:pt x="402949" y="26560"/>
                  </a:lnTo>
                  <a:lnTo>
                    <a:pt x="370865" y="27393"/>
                  </a:lnTo>
                  <a:lnTo>
                    <a:pt x="334414" y="26022"/>
                  </a:lnTo>
                  <a:lnTo>
                    <a:pt x="296849" y="21548"/>
                  </a:lnTo>
                  <a:lnTo>
                    <a:pt x="254436" y="13402"/>
                  </a:lnTo>
                  <a:lnTo>
                    <a:pt x="203441" y="1015"/>
                  </a:lnTo>
                  <a:lnTo>
                    <a:pt x="199504" y="0"/>
                  </a:lnTo>
                  <a:lnTo>
                    <a:pt x="195376" y="1739"/>
                  </a:lnTo>
                  <a:lnTo>
                    <a:pt x="1930" y="342518"/>
                  </a:lnTo>
                  <a:lnTo>
                    <a:pt x="6007" y="344836"/>
                  </a:lnTo>
                  <a:lnTo>
                    <a:pt x="6007" y="338785"/>
                  </a:lnTo>
                  <a:lnTo>
                    <a:pt x="31195" y="327312"/>
                  </a:lnTo>
                  <a:lnTo>
                    <a:pt x="198920" y="31841"/>
                  </a:lnTo>
                  <a:lnTo>
                    <a:pt x="198920" y="18376"/>
                  </a:lnTo>
                  <a:lnTo>
                    <a:pt x="201180" y="9702"/>
                  </a:lnTo>
                  <a:lnTo>
                    <a:pt x="208978" y="14122"/>
                  </a:lnTo>
                  <a:lnTo>
                    <a:pt x="208978" y="20820"/>
                  </a:lnTo>
                  <a:lnTo>
                    <a:pt x="250553" y="30922"/>
                  </a:lnTo>
                  <a:lnTo>
                    <a:pt x="294074" y="39268"/>
                  </a:lnTo>
                  <a:lnTo>
                    <a:pt x="333004" y="43908"/>
                  </a:lnTo>
                  <a:lnTo>
                    <a:pt x="370865" y="45338"/>
                  </a:lnTo>
                  <a:lnTo>
                    <a:pt x="399540" y="44669"/>
                  </a:lnTo>
                  <a:lnTo>
                    <a:pt x="430781" y="42832"/>
                  </a:lnTo>
                  <a:lnTo>
                    <a:pt x="465990" y="40031"/>
                  </a:lnTo>
                  <a:lnTo>
                    <a:pt x="506569" y="36469"/>
                  </a:lnTo>
                  <a:lnTo>
                    <a:pt x="553923" y="32348"/>
                  </a:lnTo>
                  <a:lnTo>
                    <a:pt x="609454" y="27870"/>
                  </a:lnTo>
                  <a:lnTo>
                    <a:pt x="674564" y="23239"/>
                  </a:lnTo>
                  <a:lnTo>
                    <a:pt x="702488" y="21557"/>
                  </a:lnTo>
                  <a:lnTo>
                    <a:pt x="746417" y="1549"/>
                  </a:lnTo>
                  <a:lnTo>
                    <a:pt x="750138" y="9702"/>
                  </a:lnTo>
                  <a:lnTo>
                    <a:pt x="750658" y="18656"/>
                  </a:lnTo>
                  <a:lnTo>
                    <a:pt x="750658" y="19329"/>
                  </a:lnTo>
                  <a:lnTo>
                    <a:pt x="757796" y="16078"/>
                  </a:lnTo>
                  <a:lnTo>
                    <a:pt x="759904" y="11734"/>
                  </a:lnTo>
                  <a:close/>
                </a:path>
                <a:path w="760095" h="356870">
                  <a:moveTo>
                    <a:pt x="31195" y="327312"/>
                  </a:moveTo>
                  <a:lnTo>
                    <a:pt x="6007" y="338785"/>
                  </a:lnTo>
                  <a:lnTo>
                    <a:pt x="9728" y="346951"/>
                  </a:lnTo>
                  <a:lnTo>
                    <a:pt x="17538" y="351370"/>
                  </a:lnTo>
                  <a:lnTo>
                    <a:pt x="31195" y="327312"/>
                  </a:lnTo>
                  <a:close/>
                </a:path>
                <a:path w="760095" h="356870">
                  <a:moveTo>
                    <a:pt x="9728" y="346951"/>
                  </a:moveTo>
                  <a:lnTo>
                    <a:pt x="6007" y="338785"/>
                  </a:lnTo>
                  <a:lnTo>
                    <a:pt x="6007" y="344836"/>
                  </a:lnTo>
                  <a:lnTo>
                    <a:pt x="9728" y="346951"/>
                  </a:lnTo>
                  <a:close/>
                </a:path>
                <a:path w="760095" h="356870">
                  <a:moveTo>
                    <a:pt x="208978" y="14122"/>
                  </a:moveTo>
                  <a:lnTo>
                    <a:pt x="201180" y="9702"/>
                  </a:lnTo>
                  <a:lnTo>
                    <a:pt x="198920" y="18376"/>
                  </a:lnTo>
                  <a:lnTo>
                    <a:pt x="205636" y="20008"/>
                  </a:lnTo>
                  <a:lnTo>
                    <a:pt x="208978" y="14122"/>
                  </a:lnTo>
                  <a:close/>
                </a:path>
                <a:path w="760095" h="356870">
                  <a:moveTo>
                    <a:pt x="205636" y="20008"/>
                  </a:moveTo>
                  <a:lnTo>
                    <a:pt x="198920" y="18376"/>
                  </a:lnTo>
                  <a:lnTo>
                    <a:pt x="198920" y="31841"/>
                  </a:lnTo>
                  <a:lnTo>
                    <a:pt x="205636" y="20008"/>
                  </a:lnTo>
                  <a:close/>
                </a:path>
                <a:path w="760095" h="356870">
                  <a:moveTo>
                    <a:pt x="208978" y="20820"/>
                  </a:moveTo>
                  <a:lnTo>
                    <a:pt x="208978" y="14122"/>
                  </a:lnTo>
                  <a:lnTo>
                    <a:pt x="205636" y="20008"/>
                  </a:lnTo>
                  <a:lnTo>
                    <a:pt x="208978" y="20820"/>
                  </a:lnTo>
                  <a:close/>
                </a:path>
                <a:path w="760095" h="356870">
                  <a:moveTo>
                    <a:pt x="750658" y="18656"/>
                  </a:moveTo>
                  <a:lnTo>
                    <a:pt x="750163" y="9702"/>
                  </a:lnTo>
                  <a:lnTo>
                    <a:pt x="746417" y="1549"/>
                  </a:lnTo>
                  <a:lnTo>
                    <a:pt x="702488" y="21557"/>
                  </a:lnTo>
                  <a:lnTo>
                    <a:pt x="750658" y="18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57F3C84-F0C7-99BB-A118-A66059188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C14A7-5A8A-BC6F-489C-FE03FD607AE5}"/>
              </a:ext>
            </a:extLst>
          </p:cNvPr>
          <p:cNvSpPr txBox="1"/>
          <p:nvPr/>
        </p:nvSpPr>
        <p:spPr bwMode="ltGray">
          <a:xfrm>
            <a:off x="3505200" y="977011"/>
            <a:ext cx="4572000" cy="36471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Define a higher-order component (HOC)</a:t>
            </a:r>
          </a:p>
          <a:p>
            <a:r>
              <a:rPr lang="en-US" sz="11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 'withLogger' 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 ('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WrappedComponent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') =&gt; {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'withLogger' 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extends Component {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componentDidMount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 {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console.log(`Component '${'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WrappedComponent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'.name}' mounted`);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  <a:p>
            <a:endParaRPr lang="en-US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render() {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// Pass props down to the wrapped component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return &lt;'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WrappedComponent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 {...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this.props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 /&gt;;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endParaRPr lang="en-US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// Set display name for better debugging experience</a:t>
            </a:r>
          </a:p>
          <a:p>
            <a:r>
              <a:rPr lang="en-US" sz="11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'withLogger'.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displayName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1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`'withLogger'(${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WrappedComponent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'.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displayName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|| '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WrappedComponent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'.name || 'Component'})`;</a:t>
            </a:r>
          </a:p>
          <a:p>
            <a:endParaRPr lang="en-US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return 'withLogger';</a:t>
            </a:r>
            <a:endParaRPr lang="en-US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899975019"/>
      </p:ext>
    </p:extLst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7F3C84-F0C7-99BB-A118-A66059188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046594-4E04-0092-FDDC-32020AE079E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1945" y="884382"/>
            <a:ext cx="8469311" cy="3622675"/>
          </a:xfrm>
        </p:spPr>
        <p:txBody>
          <a:bodyPr/>
          <a:lstStyle/>
          <a:p>
            <a:r>
              <a:rPr lang="en-US" sz="1100"/>
              <a:t>'withLogger' </a:t>
            </a:r>
            <a:r>
              <a:rPr lang="en-US" sz="1100" dirty="0"/>
              <a:t>is a higher-order function that takes a '</a:t>
            </a:r>
            <a:r>
              <a:rPr lang="en-US" sz="1100" dirty="0" err="1"/>
              <a:t>WrappedComponent</a:t>
            </a:r>
            <a:r>
              <a:rPr lang="en-US" sz="1100" dirty="0"/>
              <a:t>' as its argument. Higher-order components are functions that take a component and return a new component.</a:t>
            </a:r>
          </a:p>
          <a:p>
            <a:r>
              <a:rPr lang="en-US" sz="1100"/>
              <a:t>'withLogger' </a:t>
            </a:r>
            <a:r>
              <a:rPr lang="en-US" sz="1100" dirty="0"/>
              <a:t>is a higher-order function that takes a '</a:t>
            </a:r>
            <a:r>
              <a:rPr lang="en-US" sz="1100" dirty="0" err="1"/>
              <a:t>WrappedComponent</a:t>
            </a:r>
            <a:r>
              <a:rPr lang="en-US" sz="1100" dirty="0"/>
              <a:t>' as its argument. Higher-order components are functions that take a component and return a new component.</a:t>
            </a:r>
          </a:p>
          <a:p>
            <a:r>
              <a:rPr lang="en-US" sz="1100"/>
              <a:t>Inside 'withLogger', </a:t>
            </a:r>
            <a:r>
              <a:rPr lang="en-US" sz="1100" dirty="0"/>
              <a:t>a new </a:t>
            </a:r>
            <a:r>
              <a:rPr lang="en-US" sz="1100"/>
              <a:t>class ‘WithLogger' </a:t>
            </a:r>
            <a:r>
              <a:rPr lang="en-US" sz="1100" dirty="0"/>
              <a:t>is defined, which extends Component from React. This class wraps the '</a:t>
            </a:r>
            <a:r>
              <a:rPr lang="en-US" sz="1100" dirty="0" err="1"/>
              <a:t>WrappedComponent</a:t>
            </a:r>
            <a:r>
              <a:rPr lang="en-US" sz="1100" dirty="0"/>
              <a:t>'.</a:t>
            </a:r>
          </a:p>
          <a:p>
            <a:r>
              <a:rPr lang="en-US" sz="1100" dirty="0"/>
              <a:t>In </a:t>
            </a:r>
            <a:r>
              <a:rPr lang="en-US" sz="1100" dirty="0" err="1"/>
              <a:t>componentDidMount</a:t>
            </a:r>
            <a:r>
              <a:rPr lang="en-US" sz="1100" dirty="0"/>
              <a:t>, a lifecycle method of </a:t>
            </a:r>
            <a:r>
              <a:rPr lang="en-US" sz="1100"/>
              <a:t>the ‘WithLogger' </a:t>
            </a:r>
            <a:r>
              <a:rPr lang="en-US" sz="1100" dirty="0"/>
              <a:t>class, a message is logged to the console indicating that the wrapped component ('</a:t>
            </a:r>
            <a:r>
              <a:rPr lang="en-US" sz="1100" dirty="0" err="1"/>
              <a:t>WrappedComponent</a:t>
            </a:r>
            <a:r>
              <a:rPr lang="en-US" sz="1100" dirty="0"/>
              <a:t>'.name) has mounted.</a:t>
            </a:r>
          </a:p>
          <a:p>
            <a:r>
              <a:rPr lang="en-US" sz="1100" dirty="0"/>
              <a:t>The render method </a:t>
            </a:r>
            <a:r>
              <a:rPr lang="en-US" sz="1100"/>
              <a:t>of ‘WithLogger' </a:t>
            </a:r>
            <a:r>
              <a:rPr lang="en-US" sz="1100" dirty="0"/>
              <a:t>simply renders the '</a:t>
            </a:r>
            <a:r>
              <a:rPr lang="en-US" sz="1100" dirty="0" err="1"/>
              <a:t>WrappedComponent</a:t>
            </a:r>
            <a:r>
              <a:rPr lang="en-US" sz="1100" dirty="0"/>
              <a:t>' with all its props (</a:t>
            </a:r>
            <a:r>
              <a:rPr lang="en-US" sz="1100" dirty="0" err="1"/>
              <a:t>this.props</a:t>
            </a:r>
            <a:r>
              <a:rPr lang="en-US" sz="1100" dirty="0"/>
              <a:t>), allowing the HOC to pass down props to the wrapped component.</a:t>
            </a:r>
          </a:p>
          <a:p>
            <a:r>
              <a:rPr lang="en-US" sz="1100"/>
              <a:t>‘WithLogger'.</a:t>
            </a:r>
            <a:r>
              <a:rPr lang="en-US" sz="1100" dirty="0" err="1"/>
              <a:t>displayName</a:t>
            </a:r>
            <a:r>
              <a:rPr lang="en-US" sz="1100" dirty="0"/>
              <a:t> is set to provide a meaningful name for debugging purposes. It includes the original component's </a:t>
            </a:r>
            <a:r>
              <a:rPr lang="en-US" sz="1100" dirty="0" err="1"/>
              <a:t>displayName</a:t>
            </a:r>
            <a:r>
              <a:rPr lang="en-US" sz="1100" dirty="0"/>
              <a:t> or name, or defaults to 'Component' if not available.</a:t>
            </a:r>
          </a:p>
          <a:p>
            <a:r>
              <a:rPr lang="en-US" sz="1100" dirty="0"/>
              <a:t>Finally, </a:t>
            </a:r>
            <a:r>
              <a:rPr lang="en-US" sz="1100"/>
              <a:t>the ‘WithLogger' </a:t>
            </a:r>
            <a:r>
              <a:rPr lang="en-US" sz="1100" dirty="0"/>
              <a:t>class (enhanced with lifecycle logging) is returned as the result </a:t>
            </a:r>
            <a:r>
              <a:rPr lang="en-US" sz="1100"/>
              <a:t>of ‘WithLogger'.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95268757"/>
      </p:ext>
    </p:extLst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3">
            <a:extLst>
              <a:ext uri="{FF2B5EF4-FFF2-40B4-BE49-F238E27FC236}">
                <a16:creationId xmlns:a16="http://schemas.microsoft.com/office/drawing/2014/main" id="{20BBF188-FD6E-525E-43C8-4A25EF6E5A41}"/>
              </a:ext>
            </a:extLst>
          </p:cNvPr>
          <p:cNvGrpSpPr/>
          <p:nvPr/>
        </p:nvGrpSpPr>
        <p:grpSpPr>
          <a:xfrm>
            <a:off x="1503891" y="977011"/>
            <a:ext cx="5250199" cy="1724962"/>
            <a:chOff x="1016838" y="1621536"/>
            <a:chExt cx="5948680" cy="2714625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6B298140-C9AC-33DE-E02E-319E25ED6215}"/>
                </a:ext>
              </a:extLst>
            </p:cNvPr>
            <p:cNvSpPr/>
            <p:nvPr/>
          </p:nvSpPr>
          <p:spPr>
            <a:xfrm>
              <a:off x="1025804" y="1630502"/>
              <a:ext cx="5930265" cy="2695575"/>
            </a:xfrm>
            <a:custGeom>
              <a:avLst/>
              <a:gdLst/>
              <a:ahLst/>
              <a:cxnLst/>
              <a:rect l="l" t="t" r="r" b="b"/>
              <a:pathLst>
                <a:path w="5930265" h="2695575">
                  <a:moveTo>
                    <a:pt x="5929807" y="2358237"/>
                  </a:moveTo>
                  <a:lnTo>
                    <a:pt x="5929807" y="0"/>
                  </a:lnTo>
                  <a:lnTo>
                    <a:pt x="0" y="0"/>
                  </a:lnTo>
                  <a:lnTo>
                    <a:pt x="0" y="2695486"/>
                  </a:lnTo>
                  <a:lnTo>
                    <a:pt x="5189372" y="2695486"/>
                  </a:lnTo>
                  <a:lnTo>
                    <a:pt x="5929807" y="2358237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4CA75B42-E8D1-80CC-C616-454962FF9F46}"/>
                </a:ext>
              </a:extLst>
            </p:cNvPr>
            <p:cNvSpPr/>
            <p:nvPr/>
          </p:nvSpPr>
          <p:spPr>
            <a:xfrm>
              <a:off x="1016838" y="1621536"/>
              <a:ext cx="5948045" cy="2713990"/>
            </a:xfrm>
            <a:custGeom>
              <a:avLst/>
              <a:gdLst/>
              <a:ahLst/>
              <a:cxnLst/>
              <a:rect l="l" t="t" r="r" b="b"/>
              <a:pathLst>
                <a:path w="5948045" h="2713990">
                  <a:moveTo>
                    <a:pt x="5947740" y="2370709"/>
                  </a:moveTo>
                  <a:lnTo>
                    <a:pt x="5947740" y="4013"/>
                  </a:lnTo>
                  <a:lnTo>
                    <a:pt x="5943727" y="0"/>
                  </a:lnTo>
                  <a:lnTo>
                    <a:pt x="4013" y="0"/>
                  </a:lnTo>
                  <a:lnTo>
                    <a:pt x="0" y="4013"/>
                  </a:lnTo>
                  <a:lnTo>
                    <a:pt x="0" y="2709405"/>
                  </a:lnTo>
                  <a:lnTo>
                    <a:pt x="4013" y="2713418"/>
                  </a:lnTo>
                  <a:lnTo>
                    <a:pt x="8966" y="2713418"/>
                  </a:lnTo>
                  <a:lnTo>
                    <a:pt x="8966" y="8966"/>
                  </a:lnTo>
                  <a:lnTo>
                    <a:pt x="17932" y="8966"/>
                  </a:lnTo>
                  <a:lnTo>
                    <a:pt x="17932" y="17945"/>
                  </a:lnTo>
                  <a:lnTo>
                    <a:pt x="5929807" y="17945"/>
                  </a:lnTo>
                  <a:lnTo>
                    <a:pt x="5929807" y="8966"/>
                  </a:lnTo>
                  <a:lnTo>
                    <a:pt x="5938774" y="8966"/>
                  </a:lnTo>
                  <a:lnTo>
                    <a:pt x="5938774" y="2377061"/>
                  </a:lnTo>
                  <a:lnTo>
                    <a:pt x="5945695" y="2373909"/>
                  </a:lnTo>
                  <a:lnTo>
                    <a:pt x="5947740" y="2370709"/>
                  </a:lnTo>
                  <a:close/>
                </a:path>
                <a:path w="5948045" h="2713990">
                  <a:moveTo>
                    <a:pt x="17932" y="17945"/>
                  </a:moveTo>
                  <a:lnTo>
                    <a:pt x="17932" y="8966"/>
                  </a:lnTo>
                  <a:lnTo>
                    <a:pt x="8966" y="8966"/>
                  </a:lnTo>
                  <a:lnTo>
                    <a:pt x="8966" y="17945"/>
                  </a:lnTo>
                  <a:lnTo>
                    <a:pt x="17932" y="17945"/>
                  </a:lnTo>
                  <a:close/>
                </a:path>
                <a:path w="5948045" h="2713990">
                  <a:moveTo>
                    <a:pt x="17932" y="2695486"/>
                  </a:moveTo>
                  <a:lnTo>
                    <a:pt x="17932" y="17945"/>
                  </a:lnTo>
                  <a:lnTo>
                    <a:pt x="8966" y="17945"/>
                  </a:lnTo>
                  <a:lnTo>
                    <a:pt x="8966" y="2695486"/>
                  </a:lnTo>
                  <a:lnTo>
                    <a:pt x="17932" y="2695486"/>
                  </a:lnTo>
                  <a:close/>
                </a:path>
                <a:path w="5948045" h="2713990">
                  <a:moveTo>
                    <a:pt x="5196374" y="2695486"/>
                  </a:moveTo>
                  <a:lnTo>
                    <a:pt x="8966" y="2695486"/>
                  </a:lnTo>
                  <a:lnTo>
                    <a:pt x="8966" y="2704452"/>
                  </a:lnTo>
                  <a:lnTo>
                    <a:pt x="17932" y="2704452"/>
                  </a:lnTo>
                  <a:lnTo>
                    <a:pt x="17932" y="2713418"/>
                  </a:lnTo>
                  <a:lnTo>
                    <a:pt x="5194617" y="2713418"/>
                  </a:lnTo>
                  <a:lnTo>
                    <a:pt x="5194617" y="2696286"/>
                  </a:lnTo>
                  <a:lnTo>
                    <a:pt x="5196374" y="2695486"/>
                  </a:lnTo>
                  <a:close/>
                </a:path>
                <a:path w="5948045" h="2713990">
                  <a:moveTo>
                    <a:pt x="17932" y="2713418"/>
                  </a:moveTo>
                  <a:lnTo>
                    <a:pt x="17932" y="2704452"/>
                  </a:lnTo>
                  <a:lnTo>
                    <a:pt x="8966" y="2704452"/>
                  </a:lnTo>
                  <a:lnTo>
                    <a:pt x="8966" y="2713418"/>
                  </a:lnTo>
                  <a:lnTo>
                    <a:pt x="17932" y="2713418"/>
                  </a:lnTo>
                  <a:close/>
                </a:path>
                <a:path w="5948045" h="2713990">
                  <a:moveTo>
                    <a:pt x="5198338" y="2704452"/>
                  </a:moveTo>
                  <a:lnTo>
                    <a:pt x="5198338" y="2695486"/>
                  </a:lnTo>
                  <a:lnTo>
                    <a:pt x="5196374" y="2695486"/>
                  </a:lnTo>
                  <a:lnTo>
                    <a:pt x="5194617" y="2696286"/>
                  </a:lnTo>
                  <a:lnTo>
                    <a:pt x="5198338" y="2704452"/>
                  </a:lnTo>
                  <a:close/>
                </a:path>
                <a:path w="5948045" h="2713990">
                  <a:moveTo>
                    <a:pt x="5198338" y="2713418"/>
                  </a:moveTo>
                  <a:lnTo>
                    <a:pt x="5198338" y="2704452"/>
                  </a:lnTo>
                  <a:lnTo>
                    <a:pt x="5194617" y="2696286"/>
                  </a:lnTo>
                  <a:lnTo>
                    <a:pt x="5194617" y="2713418"/>
                  </a:lnTo>
                  <a:lnTo>
                    <a:pt x="5198338" y="2713418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5052" y="2359037"/>
                  </a:lnTo>
                  <a:lnTo>
                    <a:pt x="5196374" y="2695486"/>
                  </a:lnTo>
                  <a:lnTo>
                    <a:pt x="5198338" y="2695486"/>
                  </a:lnTo>
                  <a:lnTo>
                    <a:pt x="5198338" y="2713418"/>
                  </a:lnTo>
                  <a:lnTo>
                    <a:pt x="5199646" y="2713418"/>
                  </a:lnTo>
                  <a:lnTo>
                    <a:pt x="5200865" y="2713151"/>
                  </a:lnTo>
                  <a:lnTo>
                    <a:pt x="5929807" y="2381145"/>
                  </a:lnTo>
                  <a:lnTo>
                    <a:pt x="5929807" y="2367203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17945"/>
                  </a:moveTo>
                  <a:lnTo>
                    <a:pt x="5938774" y="8966"/>
                  </a:lnTo>
                  <a:lnTo>
                    <a:pt x="5929807" y="8966"/>
                  </a:lnTo>
                  <a:lnTo>
                    <a:pt x="5929807" y="17945"/>
                  </a:lnTo>
                  <a:lnTo>
                    <a:pt x="5938774" y="17945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8774" y="17945"/>
                  </a:lnTo>
                  <a:lnTo>
                    <a:pt x="5929807" y="17945"/>
                  </a:lnTo>
                  <a:lnTo>
                    <a:pt x="5929807" y="2361426"/>
                  </a:lnTo>
                  <a:lnTo>
                    <a:pt x="5935052" y="2359037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2377061"/>
                  </a:moveTo>
                  <a:lnTo>
                    <a:pt x="5938774" y="2367203"/>
                  </a:lnTo>
                  <a:lnTo>
                    <a:pt x="5929807" y="2367203"/>
                  </a:lnTo>
                  <a:lnTo>
                    <a:pt x="5929807" y="2381145"/>
                  </a:lnTo>
                  <a:lnTo>
                    <a:pt x="5938774" y="2377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25F04E3F-2409-4035-F681-EED982825981}"/>
                </a:ext>
              </a:extLst>
            </p:cNvPr>
            <p:cNvSpPr/>
            <p:nvPr/>
          </p:nvSpPr>
          <p:spPr>
            <a:xfrm>
              <a:off x="6215176" y="3988739"/>
              <a:ext cx="741045" cy="337820"/>
            </a:xfrm>
            <a:custGeom>
              <a:avLst/>
              <a:gdLst/>
              <a:ahLst/>
              <a:cxnLst/>
              <a:rect l="l" t="t" r="r" b="b"/>
              <a:pathLst>
                <a:path w="741045" h="337820">
                  <a:moveTo>
                    <a:pt x="740435" y="0"/>
                  </a:moveTo>
                  <a:lnTo>
                    <a:pt x="655397" y="5180"/>
                  </a:lnTo>
                  <a:lnTo>
                    <a:pt x="584076" y="10387"/>
                  </a:lnTo>
                  <a:lnTo>
                    <a:pt x="432698" y="23262"/>
                  </a:lnTo>
                  <a:lnTo>
                    <a:pt x="396525" y="25669"/>
                  </a:lnTo>
                  <a:lnTo>
                    <a:pt x="364209" y="26651"/>
                  </a:lnTo>
                  <a:lnTo>
                    <a:pt x="333778" y="25916"/>
                  </a:lnTo>
                  <a:lnTo>
                    <a:pt x="303259" y="23174"/>
                  </a:lnTo>
                  <a:lnTo>
                    <a:pt x="270680" y="18134"/>
                  </a:lnTo>
                  <a:lnTo>
                    <a:pt x="234068" y="10506"/>
                  </a:lnTo>
                  <a:lnTo>
                    <a:pt x="191452" y="0"/>
                  </a:lnTo>
                  <a:lnTo>
                    <a:pt x="0" y="337248"/>
                  </a:lnTo>
                  <a:lnTo>
                    <a:pt x="740435" y="0"/>
                  </a:lnTo>
                  <a:close/>
                </a:path>
              </a:pathLst>
            </a:custGeom>
            <a:solidFill>
              <a:srgbClr val="DBD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8F1C05FB-1125-29EF-25FB-A0B63D9B7E8A}"/>
                </a:ext>
              </a:extLst>
            </p:cNvPr>
            <p:cNvSpPr/>
            <p:nvPr/>
          </p:nvSpPr>
          <p:spPr>
            <a:xfrm>
              <a:off x="6205448" y="3979037"/>
              <a:ext cx="760095" cy="356870"/>
            </a:xfrm>
            <a:custGeom>
              <a:avLst/>
              <a:gdLst/>
              <a:ahLst/>
              <a:cxnLst/>
              <a:rect l="l" t="t" r="r" b="b"/>
              <a:pathLst>
                <a:path w="760095" h="356870">
                  <a:moveTo>
                    <a:pt x="750658" y="19329"/>
                  </a:moveTo>
                  <a:lnTo>
                    <a:pt x="750658" y="18656"/>
                  </a:lnTo>
                  <a:lnTo>
                    <a:pt x="702488" y="21557"/>
                  </a:lnTo>
                  <a:lnTo>
                    <a:pt x="31195" y="327312"/>
                  </a:lnTo>
                  <a:lnTo>
                    <a:pt x="17538" y="351370"/>
                  </a:lnTo>
                  <a:lnTo>
                    <a:pt x="9728" y="346938"/>
                  </a:lnTo>
                  <a:lnTo>
                    <a:pt x="1930" y="342518"/>
                  </a:lnTo>
                  <a:lnTo>
                    <a:pt x="0" y="345909"/>
                  </a:lnTo>
                  <a:lnTo>
                    <a:pt x="482" y="350126"/>
                  </a:lnTo>
                  <a:lnTo>
                    <a:pt x="5740" y="355879"/>
                  </a:lnTo>
                  <a:lnTo>
                    <a:pt x="9893" y="356730"/>
                  </a:lnTo>
                  <a:lnTo>
                    <a:pt x="750658" y="19329"/>
                  </a:lnTo>
                  <a:close/>
                </a:path>
                <a:path w="760095" h="356870">
                  <a:moveTo>
                    <a:pt x="759904" y="11734"/>
                  </a:moveTo>
                  <a:lnTo>
                    <a:pt x="757847" y="3378"/>
                  </a:lnTo>
                  <a:lnTo>
                    <a:pt x="753973" y="508"/>
                  </a:lnTo>
                  <a:lnTo>
                    <a:pt x="749668" y="736"/>
                  </a:lnTo>
                  <a:lnTo>
                    <a:pt x="663424" y="6002"/>
                  </a:lnTo>
                  <a:lnTo>
                    <a:pt x="591256" y="11287"/>
                  </a:lnTo>
                  <a:lnTo>
                    <a:pt x="531145" y="16289"/>
                  </a:lnTo>
                  <a:lnTo>
                    <a:pt x="481069" y="20704"/>
                  </a:lnTo>
                  <a:lnTo>
                    <a:pt x="439010" y="24229"/>
                  </a:lnTo>
                  <a:lnTo>
                    <a:pt x="402949" y="26560"/>
                  </a:lnTo>
                  <a:lnTo>
                    <a:pt x="370865" y="27393"/>
                  </a:lnTo>
                  <a:lnTo>
                    <a:pt x="334414" y="26022"/>
                  </a:lnTo>
                  <a:lnTo>
                    <a:pt x="296849" y="21548"/>
                  </a:lnTo>
                  <a:lnTo>
                    <a:pt x="254436" y="13402"/>
                  </a:lnTo>
                  <a:lnTo>
                    <a:pt x="203441" y="1015"/>
                  </a:lnTo>
                  <a:lnTo>
                    <a:pt x="199504" y="0"/>
                  </a:lnTo>
                  <a:lnTo>
                    <a:pt x="195376" y="1739"/>
                  </a:lnTo>
                  <a:lnTo>
                    <a:pt x="1930" y="342518"/>
                  </a:lnTo>
                  <a:lnTo>
                    <a:pt x="6007" y="344836"/>
                  </a:lnTo>
                  <a:lnTo>
                    <a:pt x="6007" y="338785"/>
                  </a:lnTo>
                  <a:lnTo>
                    <a:pt x="31195" y="327312"/>
                  </a:lnTo>
                  <a:lnTo>
                    <a:pt x="198920" y="31841"/>
                  </a:lnTo>
                  <a:lnTo>
                    <a:pt x="198920" y="18376"/>
                  </a:lnTo>
                  <a:lnTo>
                    <a:pt x="201180" y="9702"/>
                  </a:lnTo>
                  <a:lnTo>
                    <a:pt x="208978" y="14122"/>
                  </a:lnTo>
                  <a:lnTo>
                    <a:pt x="208978" y="20820"/>
                  </a:lnTo>
                  <a:lnTo>
                    <a:pt x="250553" y="30922"/>
                  </a:lnTo>
                  <a:lnTo>
                    <a:pt x="294074" y="39268"/>
                  </a:lnTo>
                  <a:lnTo>
                    <a:pt x="333004" y="43908"/>
                  </a:lnTo>
                  <a:lnTo>
                    <a:pt x="370865" y="45338"/>
                  </a:lnTo>
                  <a:lnTo>
                    <a:pt x="399540" y="44669"/>
                  </a:lnTo>
                  <a:lnTo>
                    <a:pt x="430781" y="42832"/>
                  </a:lnTo>
                  <a:lnTo>
                    <a:pt x="465990" y="40031"/>
                  </a:lnTo>
                  <a:lnTo>
                    <a:pt x="506569" y="36469"/>
                  </a:lnTo>
                  <a:lnTo>
                    <a:pt x="553923" y="32348"/>
                  </a:lnTo>
                  <a:lnTo>
                    <a:pt x="609454" y="27870"/>
                  </a:lnTo>
                  <a:lnTo>
                    <a:pt x="674564" y="23239"/>
                  </a:lnTo>
                  <a:lnTo>
                    <a:pt x="702488" y="21557"/>
                  </a:lnTo>
                  <a:lnTo>
                    <a:pt x="746417" y="1549"/>
                  </a:lnTo>
                  <a:lnTo>
                    <a:pt x="750138" y="9702"/>
                  </a:lnTo>
                  <a:lnTo>
                    <a:pt x="750658" y="18656"/>
                  </a:lnTo>
                  <a:lnTo>
                    <a:pt x="750658" y="19329"/>
                  </a:lnTo>
                  <a:lnTo>
                    <a:pt x="757796" y="16078"/>
                  </a:lnTo>
                  <a:lnTo>
                    <a:pt x="759904" y="11734"/>
                  </a:lnTo>
                  <a:close/>
                </a:path>
                <a:path w="760095" h="356870">
                  <a:moveTo>
                    <a:pt x="31195" y="327312"/>
                  </a:moveTo>
                  <a:lnTo>
                    <a:pt x="6007" y="338785"/>
                  </a:lnTo>
                  <a:lnTo>
                    <a:pt x="9728" y="346951"/>
                  </a:lnTo>
                  <a:lnTo>
                    <a:pt x="17538" y="351370"/>
                  </a:lnTo>
                  <a:lnTo>
                    <a:pt x="31195" y="327312"/>
                  </a:lnTo>
                  <a:close/>
                </a:path>
                <a:path w="760095" h="356870">
                  <a:moveTo>
                    <a:pt x="9728" y="346951"/>
                  </a:moveTo>
                  <a:lnTo>
                    <a:pt x="6007" y="338785"/>
                  </a:lnTo>
                  <a:lnTo>
                    <a:pt x="6007" y="344836"/>
                  </a:lnTo>
                  <a:lnTo>
                    <a:pt x="9728" y="346951"/>
                  </a:lnTo>
                  <a:close/>
                </a:path>
                <a:path w="760095" h="356870">
                  <a:moveTo>
                    <a:pt x="208978" y="14122"/>
                  </a:moveTo>
                  <a:lnTo>
                    <a:pt x="201180" y="9702"/>
                  </a:lnTo>
                  <a:lnTo>
                    <a:pt x="198920" y="18376"/>
                  </a:lnTo>
                  <a:lnTo>
                    <a:pt x="205636" y="20008"/>
                  </a:lnTo>
                  <a:lnTo>
                    <a:pt x="208978" y="14122"/>
                  </a:lnTo>
                  <a:close/>
                </a:path>
                <a:path w="760095" h="356870">
                  <a:moveTo>
                    <a:pt x="205636" y="20008"/>
                  </a:moveTo>
                  <a:lnTo>
                    <a:pt x="198920" y="18376"/>
                  </a:lnTo>
                  <a:lnTo>
                    <a:pt x="198920" y="31841"/>
                  </a:lnTo>
                  <a:lnTo>
                    <a:pt x="205636" y="20008"/>
                  </a:lnTo>
                  <a:close/>
                </a:path>
                <a:path w="760095" h="356870">
                  <a:moveTo>
                    <a:pt x="208978" y="20820"/>
                  </a:moveTo>
                  <a:lnTo>
                    <a:pt x="208978" y="14122"/>
                  </a:lnTo>
                  <a:lnTo>
                    <a:pt x="205636" y="20008"/>
                  </a:lnTo>
                  <a:lnTo>
                    <a:pt x="208978" y="20820"/>
                  </a:lnTo>
                  <a:close/>
                </a:path>
                <a:path w="760095" h="356870">
                  <a:moveTo>
                    <a:pt x="750658" y="18656"/>
                  </a:moveTo>
                  <a:lnTo>
                    <a:pt x="750163" y="9702"/>
                  </a:lnTo>
                  <a:lnTo>
                    <a:pt x="746417" y="1549"/>
                  </a:lnTo>
                  <a:lnTo>
                    <a:pt x="702488" y="21557"/>
                  </a:lnTo>
                  <a:lnTo>
                    <a:pt x="750658" y="18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F54E2C-0F16-E2FA-CB2A-9E0DE5FD433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91974" y="3167272"/>
            <a:ext cx="8194964" cy="146521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Explanation:</a:t>
            </a:r>
          </a:p>
          <a:p>
            <a:pPr marL="0" lvl="2" indent="-17875">
              <a:lnSpc>
                <a:spcPct val="150000"/>
              </a:lnSpc>
            </a:pPr>
            <a:r>
              <a:rPr lang="en-US" dirty="0"/>
              <a:t>‘</a:t>
            </a:r>
            <a:r>
              <a:rPr lang="en-US" dirty="0" err="1"/>
              <a:t>MyComponent</a:t>
            </a:r>
            <a:r>
              <a:rPr lang="en-US" dirty="0"/>
              <a:t>’ is a functional component that takes text as a prop and renders it inside a &lt;div&gt; element.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7F3C84-F0C7-99BB-A118-A66059188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Component (‘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MyComponent</a:t>
            </a:r>
            <a:r>
              <a:rPr lang="en-US" dirty="0"/>
              <a:t>’)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C14A7-5A8A-BC6F-489C-FE03FD607AE5}"/>
              </a:ext>
            </a:extLst>
          </p:cNvPr>
          <p:cNvSpPr txBox="1"/>
          <p:nvPr/>
        </p:nvSpPr>
        <p:spPr bwMode="ltGray">
          <a:xfrm>
            <a:off x="2473036" y="1454415"/>
            <a:ext cx="4572000" cy="7694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Example component to be wrapped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 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MyComponent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({ text }) =&gt; {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return &lt;div&gt;{text}&lt;/div&gt;;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047001034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3">
            <a:extLst>
              <a:ext uri="{FF2B5EF4-FFF2-40B4-BE49-F238E27FC236}">
                <a16:creationId xmlns:a16="http://schemas.microsoft.com/office/drawing/2014/main" id="{20BBF188-FD6E-525E-43C8-4A25EF6E5A41}"/>
              </a:ext>
            </a:extLst>
          </p:cNvPr>
          <p:cNvGrpSpPr/>
          <p:nvPr/>
        </p:nvGrpSpPr>
        <p:grpSpPr>
          <a:xfrm>
            <a:off x="1503891" y="977011"/>
            <a:ext cx="5250199" cy="1724962"/>
            <a:chOff x="1016838" y="1621536"/>
            <a:chExt cx="5948680" cy="2714625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6B298140-C9AC-33DE-E02E-319E25ED6215}"/>
                </a:ext>
              </a:extLst>
            </p:cNvPr>
            <p:cNvSpPr/>
            <p:nvPr/>
          </p:nvSpPr>
          <p:spPr>
            <a:xfrm>
              <a:off x="1025804" y="1630502"/>
              <a:ext cx="5930265" cy="2695575"/>
            </a:xfrm>
            <a:custGeom>
              <a:avLst/>
              <a:gdLst/>
              <a:ahLst/>
              <a:cxnLst/>
              <a:rect l="l" t="t" r="r" b="b"/>
              <a:pathLst>
                <a:path w="5930265" h="2695575">
                  <a:moveTo>
                    <a:pt x="5929807" y="2358237"/>
                  </a:moveTo>
                  <a:lnTo>
                    <a:pt x="5929807" y="0"/>
                  </a:lnTo>
                  <a:lnTo>
                    <a:pt x="0" y="0"/>
                  </a:lnTo>
                  <a:lnTo>
                    <a:pt x="0" y="2695486"/>
                  </a:lnTo>
                  <a:lnTo>
                    <a:pt x="5189372" y="2695486"/>
                  </a:lnTo>
                  <a:lnTo>
                    <a:pt x="5929807" y="2358237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4CA75B42-E8D1-80CC-C616-454962FF9F46}"/>
                </a:ext>
              </a:extLst>
            </p:cNvPr>
            <p:cNvSpPr/>
            <p:nvPr/>
          </p:nvSpPr>
          <p:spPr>
            <a:xfrm>
              <a:off x="1016838" y="1621536"/>
              <a:ext cx="5948045" cy="2713990"/>
            </a:xfrm>
            <a:custGeom>
              <a:avLst/>
              <a:gdLst/>
              <a:ahLst/>
              <a:cxnLst/>
              <a:rect l="l" t="t" r="r" b="b"/>
              <a:pathLst>
                <a:path w="5948045" h="2713990">
                  <a:moveTo>
                    <a:pt x="5947740" y="2370709"/>
                  </a:moveTo>
                  <a:lnTo>
                    <a:pt x="5947740" y="4013"/>
                  </a:lnTo>
                  <a:lnTo>
                    <a:pt x="5943727" y="0"/>
                  </a:lnTo>
                  <a:lnTo>
                    <a:pt x="4013" y="0"/>
                  </a:lnTo>
                  <a:lnTo>
                    <a:pt x="0" y="4013"/>
                  </a:lnTo>
                  <a:lnTo>
                    <a:pt x="0" y="2709405"/>
                  </a:lnTo>
                  <a:lnTo>
                    <a:pt x="4013" y="2713418"/>
                  </a:lnTo>
                  <a:lnTo>
                    <a:pt x="8966" y="2713418"/>
                  </a:lnTo>
                  <a:lnTo>
                    <a:pt x="8966" y="8966"/>
                  </a:lnTo>
                  <a:lnTo>
                    <a:pt x="17932" y="8966"/>
                  </a:lnTo>
                  <a:lnTo>
                    <a:pt x="17932" y="17945"/>
                  </a:lnTo>
                  <a:lnTo>
                    <a:pt x="5929807" y="17945"/>
                  </a:lnTo>
                  <a:lnTo>
                    <a:pt x="5929807" y="8966"/>
                  </a:lnTo>
                  <a:lnTo>
                    <a:pt x="5938774" y="8966"/>
                  </a:lnTo>
                  <a:lnTo>
                    <a:pt x="5938774" y="2377061"/>
                  </a:lnTo>
                  <a:lnTo>
                    <a:pt x="5945695" y="2373909"/>
                  </a:lnTo>
                  <a:lnTo>
                    <a:pt x="5947740" y="2370709"/>
                  </a:lnTo>
                  <a:close/>
                </a:path>
                <a:path w="5948045" h="2713990">
                  <a:moveTo>
                    <a:pt x="17932" y="17945"/>
                  </a:moveTo>
                  <a:lnTo>
                    <a:pt x="17932" y="8966"/>
                  </a:lnTo>
                  <a:lnTo>
                    <a:pt x="8966" y="8966"/>
                  </a:lnTo>
                  <a:lnTo>
                    <a:pt x="8966" y="17945"/>
                  </a:lnTo>
                  <a:lnTo>
                    <a:pt x="17932" y="17945"/>
                  </a:lnTo>
                  <a:close/>
                </a:path>
                <a:path w="5948045" h="2713990">
                  <a:moveTo>
                    <a:pt x="17932" y="2695486"/>
                  </a:moveTo>
                  <a:lnTo>
                    <a:pt x="17932" y="17945"/>
                  </a:lnTo>
                  <a:lnTo>
                    <a:pt x="8966" y="17945"/>
                  </a:lnTo>
                  <a:lnTo>
                    <a:pt x="8966" y="2695486"/>
                  </a:lnTo>
                  <a:lnTo>
                    <a:pt x="17932" y="2695486"/>
                  </a:lnTo>
                  <a:close/>
                </a:path>
                <a:path w="5948045" h="2713990">
                  <a:moveTo>
                    <a:pt x="5196374" y="2695486"/>
                  </a:moveTo>
                  <a:lnTo>
                    <a:pt x="8966" y="2695486"/>
                  </a:lnTo>
                  <a:lnTo>
                    <a:pt x="8966" y="2704452"/>
                  </a:lnTo>
                  <a:lnTo>
                    <a:pt x="17932" y="2704452"/>
                  </a:lnTo>
                  <a:lnTo>
                    <a:pt x="17932" y="2713418"/>
                  </a:lnTo>
                  <a:lnTo>
                    <a:pt x="5194617" y="2713418"/>
                  </a:lnTo>
                  <a:lnTo>
                    <a:pt x="5194617" y="2696286"/>
                  </a:lnTo>
                  <a:lnTo>
                    <a:pt x="5196374" y="2695486"/>
                  </a:lnTo>
                  <a:close/>
                </a:path>
                <a:path w="5948045" h="2713990">
                  <a:moveTo>
                    <a:pt x="17932" y="2713418"/>
                  </a:moveTo>
                  <a:lnTo>
                    <a:pt x="17932" y="2704452"/>
                  </a:lnTo>
                  <a:lnTo>
                    <a:pt x="8966" y="2704452"/>
                  </a:lnTo>
                  <a:lnTo>
                    <a:pt x="8966" y="2713418"/>
                  </a:lnTo>
                  <a:lnTo>
                    <a:pt x="17932" y="2713418"/>
                  </a:lnTo>
                  <a:close/>
                </a:path>
                <a:path w="5948045" h="2713990">
                  <a:moveTo>
                    <a:pt x="5198338" y="2704452"/>
                  </a:moveTo>
                  <a:lnTo>
                    <a:pt x="5198338" y="2695486"/>
                  </a:lnTo>
                  <a:lnTo>
                    <a:pt x="5196374" y="2695486"/>
                  </a:lnTo>
                  <a:lnTo>
                    <a:pt x="5194617" y="2696286"/>
                  </a:lnTo>
                  <a:lnTo>
                    <a:pt x="5198338" y="2704452"/>
                  </a:lnTo>
                  <a:close/>
                </a:path>
                <a:path w="5948045" h="2713990">
                  <a:moveTo>
                    <a:pt x="5198338" y="2713418"/>
                  </a:moveTo>
                  <a:lnTo>
                    <a:pt x="5198338" y="2704452"/>
                  </a:lnTo>
                  <a:lnTo>
                    <a:pt x="5194617" y="2696286"/>
                  </a:lnTo>
                  <a:lnTo>
                    <a:pt x="5194617" y="2713418"/>
                  </a:lnTo>
                  <a:lnTo>
                    <a:pt x="5198338" y="2713418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5052" y="2359037"/>
                  </a:lnTo>
                  <a:lnTo>
                    <a:pt x="5196374" y="2695486"/>
                  </a:lnTo>
                  <a:lnTo>
                    <a:pt x="5198338" y="2695486"/>
                  </a:lnTo>
                  <a:lnTo>
                    <a:pt x="5198338" y="2713418"/>
                  </a:lnTo>
                  <a:lnTo>
                    <a:pt x="5199646" y="2713418"/>
                  </a:lnTo>
                  <a:lnTo>
                    <a:pt x="5200865" y="2713151"/>
                  </a:lnTo>
                  <a:lnTo>
                    <a:pt x="5929807" y="2381145"/>
                  </a:lnTo>
                  <a:lnTo>
                    <a:pt x="5929807" y="2367203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17945"/>
                  </a:moveTo>
                  <a:lnTo>
                    <a:pt x="5938774" y="8966"/>
                  </a:lnTo>
                  <a:lnTo>
                    <a:pt x="5929807" y="8966"/>
                  </a:lnTo>
                  <a:lnTo>
                    <a:pt x="5929807" y="17945"/>
                  </a:lnTo>
                  <a:lnTo>
                    <a:pt x="5938774" y="17945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8774" y="17945"/>
                  </a:lnTo>
                  <a:lnTo>
                    <a:pt x="5929807" y="17945"/>
                  </a:lnTo>
                  <a:lnTo>
                    <a:pt x="5929807" y="2361426"/>
                  </a:lnTo>
                  <a:lnTo>
                    <a:pt x="5935052" y="2359037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2377061"/>
                  </a:moveTo>
                  <a:lnTo>
                    <a:pt x="5938774" y="2367203"/>
                  </a:lnTo>
                  <a:lnTo>
                    <a:pt x="5929807" y="2367203"/>
                  </a:lnTo>
                  <a:lnTo>
                    <a:pt x="5929807" y="2381145"/>
                  </a:lnTo>
                  <a:lnTo>
                    <a:pt x="5938774" y="2377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25F04E3F-2409-4035-F681-EED982825981}"/>
                </a:ext>
              </a:extLst>
            </p:cNvPr>
            <p:cNvSpPr/>
            <p:nvPr/>
          </p:nvSpPr>
          <p:spPr>
            <a:xfrm>
              <a:off x="6215176" y="3988739"/>
              <a:ext cx="741045" cy="337820"/>
            </a:xfrm>
            <a:custGeom>
              <a:avLst/>
              <a:gdLst/>
              <a:ahLst/>
              <a:cxnLst/>
              <a:rect l="l" t="t" r="r" b="b"/>
              <a:pathLst>
                <a:path w="741045" h="337820">
                  <a:moveTo>
                    <a:pt x="740435" y="0"/>
                  </a:moveTo>
                  <a:lnTo>
                    <a:pt x="655397" y="5180"/>
                  </a:lnTo>
                  <a:lnTo>
                    <a:pt x="584076" y="10387"/>
                  </a:lnTo>
                  <a:lnTo>
                    <a:pt x="432698" y="23262"/>
                  </a:lnTo>
                  <a:lnTo>
                    <a:pt x="396525" y="25669"/>
                  </a:lnTo>
                  <a:lnTo>
                    <a:pt x="364209" y="26651"/>
                  </a:lnTo>
                  <a:lnTo>
                    <a:pt x="333778" y="25916"/>
                  </a:lnTo>
                  <a:lnTo>
                    <a:pt x="303259" y="23174"/>
                  </a:lnTo>
                  <a:lnTo>
                    <a:pt x="270680" y="18134"/>
                  </a:lnTo>
                  <a:lnTo>
                    <a:pt x="234068" y="10506"/>
                  </a:lnTo>
                  <a:lnTo>
                    <a:pt x="191452" y="0"/>
                  </a:lnTo>
                  <a:lnTo>
                    <a:pt x="0" y="337248"/>
                  </a:lnTo>
                  <a:lnTo>
                    <a:pt x="740435" y="0"/>
                  </a:lnTo>
                  <a:close/>
                </a:path>
              </a:pathLst>
            </a:custGeom>
            <a:solidFill>
              <a:srgbClr val="DBD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8F1C05FB-1125-29EF-25FB-A0B63D9B7E8A}"/>
                </a:ext>
              </a:extLst>
            </p:cNvPr>
            <p:cNvSpPr/>
            <p:nvPr/>
          </p:nvSpPr>
          <p:spPr>
            <a:xfrm>
              <a:off x="6205448" y="3979037"/>
              <a:ext cx="760095" cy="356870"/>
            </a:xfrm>
            <a:custGeom>
              <a:avLst/>
              <a:gdLst/>
              <a:ahLst/>
              <a:cxnLst/>
              <a:rect l="l" t="t" r="r" b="b"/>
              <a:pathLst>
                <a:path w="760095" h="356870">
                  <a:moveTo>
                    <a:pt x="750658" y="19329"/>
                  </a:moveTo>
                  <a:lnTo>
                    <a:pt x="750658" y="18656"/>
                  </a:lnTo>
                  <a:lnTo>
                    <a:pt x="702488" y="21557"/>
                  </a:lnTo>
                  <a:lnTo>
                    <a:pt x="31195" y="327312"/>
                  </a:lnTo>
                  <a:lnTo>
                    <a:pt x="17538" y="351370"/>
                  </a:lnTo>
                  <a:lnTo>
                    <a:pt x="9728" y="346938"/>
                  </a:lnTo>
                  <a:lnTo>
                    <a:pt x="1930" y="342518"/>
                  </a:lnTo>
                  <a:lnTo>
                    <a:pt x="0" y="345909"/>
                  </a:lnTo>
                  <a:lnTo>
                    <a:pt x="482" y="350126"/>
                  </a:lnTo>
                  <a:lnTo>
                    <a:pt x="5740" y="355879"/>
                  </a:lnTo>
                  <a:lnTo>
                    <a:pt x="9893" y="356730"/>
                  </a:lnTo>
                  <a:lnTo>
                    <a:pt x="750658" y="19329"/>
                  </a:lnTo>
                  <a:close/>
                </a:path>
                <a:path w="760095" h="356870">
                  <a:moveTo>
                    <a:pt x="759904" y="11734"/>
                  </a:moveTo>
                  <a:lnTo>
                    <a:pt x="757847" y="3378"/>
                  </a:lnTo>
                  <a:lnTo>
                    <a:pt x="753973" y="508"/>
                  </a:lnTo>
                  <a:lnTo>
                    <a:pt x="749668" y="736"/>
                  </a:lnTo>
                  <a:lnTo>
                    <a:pt x="663424" y="6002"/>
                  </a:lnTo>
                  <a:lnTo>
                    <a:pt x="591256" y="11287"/>
                  </a:lnTo>
                  <a:lnTo>
                    <a:pt x="531145" y="16289"/>
                  </a:lnTo>
                  <a:lnTo>
                    <a:pt x="481069" y="20704"/>
                  </a:lnTo>
                  <a:lnTo>
                    <a:pt x="439010" y="24229"/>
                  </a:lnTo>
                  <a:lnTo>
                    <a:pt x="402949" y="26560"/>
                  </a:lnTo>
                  <a:lnTo>
                    <a:pt x="370865" y="27393"/>
                  </a:lnTo>
                  <a:lnTo>
                    <a:pt x="334414" y="26022"/>
                  </a:lnTo>
                  <a:lnTo>
                    <a:pt x="296849" y="21548"/>
                  </a:lnTo>
                  <a:lnTo>
                    <a:pt x="254436" y="13402"/>
                  </a:lnTo>
                  <a:lnTo>
                    <a:pt x="203441" y="1015"/>
                  </a:lnTo>
                  <a:lnTo>
                    <a:pt x="199504" y="0"/>
                  </a:lnTo>
                  <a:lnTo>
                    <a:pt x="195376" y="1739"/>
                  </a:lnTo>
                  <a:lnTo>
                    <a:pt x="1930" y="342518"/>
                  </a:lnTo>
                  <a:lnTo>
                    <a:pt x="6007" y="344836"/>
                  </a:lnTo>
                  <a:lnTo>
                    <a:pt x="6007" y="338785"/>
                  </a:lnTo>
                  <a:lnTo>
                    <a:pt x="31195" y="327312"/>
                  </a:lnTo>
                  <a:lnTo>
                    <a:pt x="198920" y="31841"/>
                  </a:lnTo>
                  <a:lnTo>
                    <a:pt x="198920" y="18376"/>
                  </a:lnTo>
                  <a:lnTo>
                    <a:pt x="201180" y="9702"/>
                  </a:lnTo>
                  <a:lnTo>
                    <a:pt x="208978" y="14122"/>
                  </a:lnTo>
                  <a:lnTo>
                    <a:pt x="208978" y="20820"/>
                  </a:lnTo>
                  <a:lnTo>
                    <a:pt x="250553" y="30922"/>
                  </a:lnTo>
                  <a:lnTo>
                    <a:pt x="294074" y="39268"/>
                  </a:lnTo>
                  <a:lnTo>
                    <a:pt x="333004" y="43908"/>
                  </a:lnTo>
                  <a:lnTo>
                    <a:pt x="370865" y="45338"/>
                  </a:lnTo>
                  <a:lnTo>
                    <a:pt x="399540" y="44669"/>
                  </a:lnTo>
                  <a:lnTo>
                    <a:pt x="430781" y="42832"/>
                  </a:lnTo>
                  <a:lnTo>
                    <a:pt x="465990" y="40031"/>
                  </a:lnTo>
                  <a:lnTo>
                    <a:pt x="506569" y="36469"/>
                  </a:lnTo>
                  <a:lnTo>
                    <a:pt x="553923" y="32348"/>
                  </a:lnTo>
                  <a:lnTo>
                    <a:pt x="609454" y="27870"/>
                  </a:lnTo>
                  <a:lnTo>
                    <a:pt x="674564" y="23239"/>
                  </a:lnTo>
                  <a:lnTo>
                    <a:pt x="702488" y="21557"/>
                  </a:lnTo>
                  <a:lnTo>
                    <a:pt x="746417" y="1549"/>
                  </a:lnTo>
                  <a:lnTo>
                    <a:pt x="750138" y="9702"/>
                  </a:lnTo>
                  <a:lnTo>
                    <a:pt x="750658" y="18656"/>
                  </a:lnTo>
                  <a:lnTo>
                    <a:pt x="750658" y="19329"/>
                  </a:lnTo>
                  <a:lnTo>
                    <a:pt x="757796" y="16078"/>
                  </a:lnTo>
                  <a:lnTo>
                    <a:pt x="759904" y="11734"/>
                  </a:lnTo>
                  <a:close/>
                </a:path>
                <a:path w="760095" h="356870">
                  <a:moveTo>
                    <a:pt x="31195" y="327312"/>
                  </a:moveTo>
                  <a:lnTo>
                    <a:pt x="6007" y="338785"/>
                  </a:lnTo>
                  <a:lnTo>
                    <a:pt x="9728" y="346951"/>
                  </a:lnTo>
                  <a:lnTo>
                    <a:pt x="17538" y="351370"/>
                  </a:lnTo>
                  <a:lnTo>
                    <a:pt x="31195" y="327312"/>
                  </a:lnTo>
                  <a:close/>
                </a:path>
                <a:path w="760095" h="356870">
                  <a:moveTo>
                    <a:pt x="9728" y="346951"/>
                  </a:moveTo>
                  <a:lnTo>
                    <a:pt x="6007" y="338785"/>
                  </a:lnTo>
                  <a:lnTo>
                    <a:pt x="6007" y="344836"/>
                  </a:lnTo>
                  <a:lnTo>
                    <a:pt x="9728" y="346951"/>
                  </a:lnTo>
                  <a:close/>
                </a:path>
                <a:path w="760095" h="356870">
                  <a:moveTo>
                    <a:pt x="208978" y="14122"/>
                  </a:moveTo>
                  <a:lnTo>
                    <a:pt x="201180" y="9702"/>
                  </a:lnTo>
                  <a:lnTo>
                    <a:pt x="198920" y="18376"/>
                  </a:lnTo>
                  <a:lnTo>
                    <a:pt x="205636" y="20008"/>
                  </a:lnTo>
                  <a:lnTo>
                    <a:pt x="208978" y="14122"/>
                  </a:lnTo>
                  <a:close/>
                </a:path>
                <a:path w="760095" h="356870">
                  <a:moveTo>
                    <a:pt x="205636" y="20008"/>
                  </a:moveTo>
                  <a:lnTo>
                    <a:pt x="198920" y="18376"/>
                  </a:lnTo>
                  <a:lnTo>
                    <a:pt x="198920" y="31841"/>
                  </a:lnTo>
                  <a:lnTo>
                    <a:pt x="205636" y="20008"/>
                  </a:lnTo>
                  <a:close/>
                </a:path>
                <a:path w="760095" h="356870">
                  <a:moveTo>
                    <a:pt x="208978" y="20820"/>
                  </a:moveTo>
                  <a:lnTo>
                    <a:pt x="208978" y="14122"/>
                  </a:lnTo>
                  <a:lnTo>
                    <a:pt x="205636" y="20008"/>
                  </a:lnTo>
                  <a:lnTo>
                    <a:pt x="208978" y="20820"/>
                  </a:lnTo>
                  <a:close/>
                </a:path>
                <a:path w="760095" h="356870">
                  <a:moveTo>
                    <a:pt x="750658" y="18656"/>
                  </a:moveTo>
                  <a:lnTo>
                    <a:pt x="750163" y="9702"/>
                  </a:lnTo>
                  <a:lnTo>
                    <a:pt x="746417" y="1549"/>
                  </a:lnTo>
                  <a:lnTo>
                    <a:pt x="702488" y="21557"/>
                  </a:lnTo>
                  <a:lnTo>
                    <a:pt x="750658" y="18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57F3C84-F0C7-99BB-A118-A66059188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the HOC to ‘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MyComponent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C14A7-5A8A-BC6F-489C-FE03FD607AE5}"/>
              </a:ext>
            </a:extLst>
          </p:cNvPr>
          <p:cNvSpPr txBox="1"/>
          <p:nvPr/>
        </p:nvSpPr>
        <p:spPr bwMode="ltGray">
          <a:xfrm>
            <a:off x="2473036" y="1454415"/>
            <a:ext cx="4572000" cy="60016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Apply the HOC to 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MyComponent</a:t>
            </a:r>
            <a:endParaRPr lang="en-US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 'MyComponentWithLogger' = withLogger(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MyComponent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C2C018-8675-418E-4BAA-6D049B07A454}"/>
              </a:ext>
            </a:extLst>
          </p:cNvPr>
          <p:cNvSpPr txBox="1"/>
          <p:nvPr/>
        </p:nvSpPr>
        <p:spPr bwMode="ltGray">
          <a:xfrm>
            <a:off x="973282" y="3001780"/>
            <a:ext cx="7197436" cy="141931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0A3E0"/>
                </a:solidFill>
                <a:latin typeface="+mn-lt"/>
              </a:rPr>
              <a:t>Explanation:</a:t>
            </a:r>
          </a:p>
          <a:p>
            <a:pPr marL="0" lvl="2" indent="-17875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'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MyComponentWithLogger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' is a new component created by applying the ‘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withLogger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’ HOC to ‘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MyComponent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’. Now, '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MyComponentWithLogger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' has the enhanced functionality provided by ‘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withLogger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’, specifically the logging of component mount.</a:t>
            </a:r>
          </a:p>
          <a:p>
            <a:pPr eaLnBrk="0" hangingPunct="0"/>
            <a:endParaRPr lang="en-US" sz="1200" dirty="0" err="1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612116"/>
      </p:ext>
    </p:extLst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3">
            <a:extLst>
              <a:ext uri="{FF2B5EF4-FFF2-40B4-BE49-F238E27FC236}">
                <a16:creationId xmlns:a16="http://schemas.microsoft.com/office/drawing/2014/main" id="{20BBF188-FD6E-525E-43C8-4A25EF6E5A41}"/>
              </a:ext>
            </a:extLst>
          </p:cNvPr>
          <p:cNvGrpSpPr/>
          <p:nvPr/>
        </p:nvGrpSpPr>
        <p:grpSpPr>
          <a:xfrm>
            <a:off x="1503891" y="561109"/>
            <a:ext cx="5250199" cy="2140864"/>
            <a:chOff x="1016838" y="1621536"/>
            <a:chExt cx="5948680" cy="2714625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6B298140-C9AC-33DE-E02E-319E25ED6215}"/>
                </a:ext>
              </a:extLst>
            </p:cNvPr>
            <p:cNvSpPr/>
            <p:nvPr/>
          </p:nvSpPr>
          <p:spPr>
            <a:xfrm>
              <a:off x="1025804" y="1630502"/>
              <a:ext cx="5930265" cy="2695575"/>
            </a:xfrm>
            <a:custGeom>
              <a:avLst/>
              <a:gdLst/>
              <a:ahLst/>
              <a:cxnLst/>
              <a:rect l="l" t="t" r="r" b="b"/>
              <a:pathLst>
                <a:path w="5930265" h="2695575">
                  <a:moveTo>
                    <a:pt x="5929807" y="2358237"/>
                  </a:moveTo>
                  <a:lnTo>
                    <a:pt x="5929807" y="0"/>
                  </a:lnTo>
                  <a:lnTo>
                    <a:pt x="0" y="0"/>
                  </a:lnTo>
                  <a:lnTo>
                    <a:pt x="0" y="2695486"/>
                  </a:lnTo>
                  <a:lnTo>
                    <a:pt x="5189372" y="2695486"/>
                  </a:lnTo>
                  <a:lnTo>
                    <a:pt x="5929807" y="2358237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4CA75B42-E8D1-80CC-C616-454962FF9F46}"/>
                </a:ext>
              </a:extLst>
            </p:cNvPr>
            <p:cNvSpPr/>
            <p:nvPr/>
          </p:nvSpPr>
          <p:spPr>
            <a:xfrm>
              <a:off x="1016838" y="1621536"/>
              <a:ext cx="5948045" cy="2713990"/>
            </a:xfrm>
            <a:custGeom>
              <a:avLst/>
              <a:gdLst/>
              <a:ahLst/>
              <a:cxnLst/>
              <a:rect l="l" t="t" r="r" b="b"/>
              <a:pathLst>
                <a:path w="5948045" h="2713990">
                  <a:moveTo>
                    <a:pt x="5947740" y="2370709"/>
                  </a:moveTo>
                  <a:lnTo>
                    <a:pt x="5947740" y="4013"/>
                  </a:lnTo>
                  <a:lnTo>
                    <a:pt x="5943727" y="0"/>
                  </a:lnTo>
                  <a:lnTo>
                    <a:pt x="4013" y="0"/>
                  </a:lnTo>
                  <a:lnTo>
                    <a:pt x="0" y="4013"/>
                  </a:lnTo>
                  <a:lnTo>
                    <a:pt x="0" y="2709405"/>
                  </a:lnTo>
                  <a:lnTo>
                    <a:pt x="4013" y="2713418"/>
                  </a:lnTo>
                  <a:lnTo>
                    <a:pt x="8966" y="2713418"/>
                  </a:lnTo>
                  <a:lnTo>
                    <a:pt x="8966" y="8966"/>
                  </a:lnTo>
                  <a:lnTo>
                    <a:pt x="17932" y="8966"/>
                  </a:lnTo>
                  <a:lnTo>
                    <a:pt x="17932" y="17945"/>
                  </a:lnTo>
                  <a:lnTo>
                    <a:pt x="5929807" y="17945"/>
                  </a:lnTo>
                  <a:lnTo>
                    <a:pt x="5929807" y="8966"/>
                  </a:lnTo>
                  <a:lnTo>
                    <a:pt x="5938774" y="8966"/>
                  </a:lnTo>
                  <a:lnTo>
                    <a:pt x="5938774" y="2377061"/>
                  </a:lnTo>
                  <a:lnTo>
                    <a:pt x="5945695" y="2373909"/>
                  </a:lnTo>
                  <a:lnTo>
                    <a:pt x="5947740" y="2370709"/>
                  </a:lnTo>
                  <a:close/>
                </a:path>
                <a:path w="5948045" h="2713990">
                  <a:moveTo>
                    <a:pt x="17932" y="17945"/>
                  </a:moveTo>
                  <a:lnTo>
                    <a:pt x="17932" y="8966"/>
                  </a:lnTo>
                  <a:lnTo>
                    <a:pt x="8966" y="8966"/>
                  </a:lnTo>
                  <a:lnTo>
                    <a:pt x="8966" y="17945"/>
                  </a:lnTo>
                  <a:lnTo>
                    <a:pt x="17932" y="17945"/>
                  </a:lnTo>
                  <a:close/>
                </a:path>
                <a:path w="5948045" h="2713990">
                  <a:moveTo>
                    <a:pt x="17932" y="2695486"/>
                  </a:moveTo>
                  <a:lnTo>
                    <a:pt x="17932" y="17945"/>
                  </a:lnTo>
                  <a:lnTo>
                    <a:pt x="8966" y="17945"/>
                  </a:lnTo>
                  <a:lnTo>
                    <a:pt x="8966" y="2695486"/>
                  </a:lnTo>
                  <a:lnTo>
                    <a:pt x="17932" y="2695486"/>
                  </a:lnTo>
                  <a:close/>
                </a:path>
                <a:path w="5948045" h="2713990">
                  <a:moveTo>
                    <a:pt x="5196374" y="2695486"/>
                  </a:moveTo>
                  <a:lnTo>
                    <a:pt x="8966" y="2695486"/>
                  </a:lnTo>
                  <a:lnTo>
                    <a:pt x="8966" y="2704452"/>
                  </a:lnTo>
                  <a:lnTo>
                    <a:pt x="17932" y="2704452"/>
                  </a:lnTo>
                  <a:lnTo>
                    <a:pt x="17932" y="2713418"/>
                  </a:lnTo>
                  <a:lnTo>
                    <a:pt x="5194617" y="2713418"/>
                  </a:lnTo>
                  <a:lnTo>
                    <a:pt x="5194617" y="2696286"/>
                  </a:lnTo>
                  <a:lnTo>
                    <a:pt x="5196374" y="2695486"/>
                  </a:lnTo>
                  <a:close/>
                </a:path>
                <a:path w="5948045" h="2713990">
                  <a:moveTo>
                    <a:pt x="17932" y="2713418"/>
                  </a:moveTo>
                  <a:lnTo>
                    <a:pt x="17932" y="2704452"/>
                  </a:lnTo>
                  <a:lnTo>
                    <a:pt x="8966" y="2704452"/>
                  </a:lnTo>
                  <a:lnTo>
                    <a:pt x="8966" y="2713418"/>
                  </a:lnTo>
                  <a:lnTo>
                    <a:pt x="17932" y="2713418"/>
                  </a:lnTo>
                  <a:close/>
                </a:path>
                <a:path w="5948045" h="2713990">
                  <a:moveTo>
                    <a:pt x="5198338" y="2704452"/>
                  </a:moveTo>
                  <a:lnTo>
                    <a:pt x="5198338" y="2695486"/>
                  </a:lnTo>
                  <a:lnTo>
                    <a:pt x="5196374" y="2695486"/>
                  </a:lnTo>
                  <a:lnTo>
                    <a:pt x="5194617" y="2696286"/>
                  </a:lnTo>
                  <a:lnTo>
                    <a:pt x="5198338" y="2704452"/>
                  </a:lnTo>
                  <a:close/>
                </a:path>
                <a:path w="5948045" h="2713990">
                  <a:moveTo>
                    <a:pt x="5198338" y="2713418"/>
                  </a:moveTo>
                  <a:lnTo>
                    <a:pt x="5198338" y="2704452"/>
                  </a:lnTo>
                  <a:lnTo>
                    <a:pt x="5194617" y="2696286"/>
                  </a:lnTo>
                  <a:lnTo>
                    <a:pt x="5194617" y="2713418"/>
                  </a:lnTo>
                  <a:lnTo>
                    <a:pt x="5198338" y="2713418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5052" y="2359037"/>
                  </a:lnTo>
                  <a:lnTo>
                    <a:pt x="5196374" y="2695486"/>
                  </a:lnTo>
                  <a:lnTo>
                    <a:pt x="5198338" y="2695486"/>
                  </a:lnTo>
                  <a:lnTo>
                    <a:pt x="5198338" y="2713418"/>
                  </a:lnTo>
                  <a:lnTo>
                    <a:pt x="5199646" y="2713418"/>
                  </a:lnTo>
                  <a:lnTo>
                    <a:pt x="5200865" y="2713151"/>
                  </a:lnTo>
                  <a:lnTo>
                    <a:pt x="5929807" y="2381145"/>
                  </a:lnTo>
                  <a:lnTo>
                    <a:pt x="5929807" y="2367203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17945"/>
                  </a:moveTo>
                  <a:lnTo>
                    <a:pt x="5938774" y="8966"/>
                  </a:lnTo>
                  <a:lnTo>
                    <a:pt x="5929807" y="8966"/>
                  </a:lnTo>
                  <a:lnTo>
                    <a:pt x="5929807" y="17945"/>
                  </a:lnTo>
                  <a:lnTo>
                    <a:pt x="5938774" y="17945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8774" y="17945"/>
                  </a:lnTo>
                  <a:lnTo>
                    <a:pt x="5929807" y="17945"/>
                  </a:lnTo>
                  <a:lnTo>
                    <a:pt x="5929807" y="2361426"/>
                  </a:lnTo>
                  <a:lnTo>
                    <a:pt x="5935052" y="2359037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2377061"/>
                  </a:moveTo>
                  <a:lnTo>
                    <a:pt x="5938774" y="2367203"/>
                  </a:lnTo>
                  <a:lnTo>
                    <a:pt x="5929807" y="2367203"/>
                  </a:lnTo>
                  <a:lnTo>
                    <a:pt x="5929807" y="2381145"/>
                  </a:lnTo>
                  <a:lnTo>
                    <a:pt x="5938774" y="2377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25F04E3F-2409-4035-F681-EED982825981}"/>
                </a:ext>
              </a:extLst>
            </p:cNvPr>
            <p:cNvSpPr/>
            <p:nvPr/>
          </p:nvSpPr>
          <p:spPr>
            <a:xfrm>
              <a:off x="6215176" y="3988739"/>
              <a:ext cx="741045" cy="337820"/>
            </a:xfrm>
            <a:custGeom>
              <a:avLst/>
              <a:gdLst/>
              <a:ahLst/>
              <a:cxnLst/>
              <a:rect l="l" t="t" r="r" b="b"/>
              <a:pathLst>
                <a:path w="741045" h="337820">
                  <a:moveTo>
                    <a:pt x="740435" y="0"/>
                  </a:moveTo>
                  <a:lnTo>
                    <a:pt x="655397" y="5180"/>
                  </a:lnTo>
                  <a:lnTo>
                    <a:pt x="584076" y="10387"/>
                  </a:lnTo>
                  <a:lnTo>
                    <a:pt x="432698" y="23262"/>
                  </a:lnTo>
                  <a:lnTo>
                    <a:pt x="396525" y="25669"/>
                  </a:lnTo>
                  <a:lnTo>
                    <a:pt x="364209" y="26651"/>
                  </a:lnTo>
                  <a:lnTo>
                    <a:pt x="333778" y="25916"/>
                  </a:lnTo>
                  <a:lnTo>
                    <a:pt x="303259" y="23174"/>
                  </a:lnTo>
                  <a:lnTo>
                    <a:pt x="270680" y="18134"/>
                  </a:lnTo>
                  <a:lnTo>
                    <a:pt x="234068" y="10506"/>
                  </a:lnTo>
                  <a:lnTo>
                    <a:pt x="191452" y="0"/>
                  </a:lnTo>
                  <a:lnTo>
                    <a:pt x="0" y="337248"/>
                  </a:lnTo>
                  <a:lnTo>
                    <a:pt x="740435" y="0"/>
                  </a:lnTo>
                  <a:close/>
                </a:path>
              </a:pathLst>
            </a:custGeom>
            <a:solidFill>
              <a:srgbClr val="DBD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8F1C05FB-1125-29EF-25FB-A0B63D9B7E8A}"/>
                </a:ext>
              </a:extLst>
            </p:cNvPr>
            <p:cNvSpPr/>
            <p:nvPr/>
          </p:nvSpPr>
          <p:spPr>
            <a:xfrm>
              <a:off x="6205448" y="3979037"/>
              <a:ext cx="760095" cy="356870"/>
            </a:xfrm>
            <a:custGeom>
              <a:avLst/>
              <a:gdLst/>
              <a:ahLst/>
              <a:cxnLst/>
              <a:rect l="l" t="t" r="r" b="b"/>
              <a:pathLst>
                <a:path w="760095" h="356870">
                  <a:moveTo>
                    <a:pt x="750658" y="19329"/>
                  </a:moveTo>
                  <a:lnTo>
                    <a:pt x="750658" y="18656"/>
                  </a:lnTo>
                  <a:lnTo>
                    <a:pt x="702488" y="21557"/>
                  </a:lnTo>
                  <a:lnTo>
                    <a:pt x="31195" y="327312"/>
                  </a:lnTo>
                  <a:lnTo>
                    <a:pt x="17538" y="351370"/>
                  </a:lnTo>
                  <a:lnTo>
                    <a:pt x="9728" y="346938"/>
                  </a:lnTo>
                  <a:lnTo>
                    <a:pt x="1930" y="342518"/>
                  </a:lnTo>
                  <a:lnTo>
                    <a:pt x="0" y="345909"/>
                  </a:lnTo>
                  <a:lnTo>
                    <a:pt x="482" y="350126"/>
                  </a:lnTo>
                  <a:lnTo>
                    <a:pt x="5740" y="355879"/>
                  </a:lnTo>
                  <a:lnTo>
                    <a:pt x="9893" y="356730"/>
                  </a:lnTo>
                  <a:lnTo>
                    <a:pt x="750658" y="19329"/>
                  </a:lnTo>
                  <a:close/>
                </a:path>
                <a:path w="760095" h="356870">
                  <a:moveTo>
                    <a:pt x="759904" y="11734"/>
                  </a:moveTo>
                  <a:lnTo>
                    <a:pt x="757847" y="3378"/>
                  </a:lnTo>
                  <a:lnTo>
                    <a:pt x="753973" y="508"/>
                  </a:lnTo>
                  <a:lnTo>
                    <a:pt x="749668" y="736"/>
                  </a:lnTo>
                  <a:lnTo>
                    <a:pt x="663424" y="6002"/>
                  </a:lnTo>
                  <a:lnTo>
                    <a:pt x="591256" y="11287"/>
                  </a:lnTo>
                  <a:lnTo>
                    <a:pt x="531145" y="16289"/>
                  </a:lnTo>
                  <a:lnTo>
                    <a:pt x="481069" y="20704"/>
                  </a:lnTo>
                  <a:lnTo>
                    <a:pt x="439010" y="24229"/>
                  </a:lnTo>
                  <a:lnTo>
                    <a:pt x="402949" y="26560"/>
                  </a:lnTo>
                  <a:lnTo>
                    <a:pt x="370865" y="27393"/>
                  </a:lnTo>
                  <a:lnTo>
                    <a:pt x="334414" y="26022"/>
                  </a:lnTo>
                  <a:lnTo>
                    <a:pt x="296849" y="21548"/>
                  </a:lnTo>
                  <a:lnTo>
                    <a:pt x="254436" y="13402"/>
                  </a:lnTo>
                  <a:lnTo>
                    <a:pt x="203441" y="1015"/>
                  </a:lnTo>
                  <a:lnTo>
                    <a:pt x="199504" y="0"/>
                  </a:lnTo>
                  <a:lnTo>
                    <a:pt x="195376" y="1739"/>
                  </a:lnTo>
                  <a:lnTo>
                    <a:pt x="1930" y="342518"/>
                  </a:lnTo>
                  <a:lnTo>
                    <a:pt x="6007" y="344836"/>
                  </a:lnTo>
                  <a:lnTo>
                    <a:pt x="6007" y="338785"/>
                  </a:lnTo>
                  <a:lnTo>
                    <a:pt x="31195" y="327312"/>
                  </a:lnTo>
                  <a:lnTo>
                    <a:pt x="198920" y="31841"/>
                  </a:lnTo>
                  <a:lnTo>
                    <a:pt x="198920" y="18376"/>
                  </a:lnTo>
                  <a:lnTo>
                    <a:pt x="201180" y="9702"/>
                  </a:lnTo>
                  <a:lnTo>
                    <a:pt x="208978" y="14122"/>
                  </a:lnTo>
                  <a:lnTo>
                    <a:pt x="208978" y="20820"/>
                  </a:lnTo>
                  <a:lnTo>
                    <a:pt x="250553" y="30922"/>
                  </a:lnTo>
                  <a:lnTo>
                    <a:pt x="294074" y="39268"/>
                  </a:lnTo>
                  <a:lnTo>
                    <a:pt x="333004" y="43908"/>
                  </a:lnTo>
                  <a:lnTo>
                    <a:pt x="370865" y="45338"/>
                  </a:lnTo>
                  <a:lnTo>
                    <a:pt x="399540" y="44669"/>
                  </a:lnTo>
                  <a:lnTo>
                    <a:pt x="430781" y="42832"/>
                  </a:lnTo>
                  <a:lnTo>
                    <a:pt x="465990" y="40031"/>
                  </a:lnTo>
                  <a:lnTo>
                    <a:pt x="506569" y="36469"/>
                  </a:lnTo>
                  <a:lnTo>
                    <a:pt x="553923" y="32348"/>
                  </a:lnTo>
                  <a:lnTo>
                    <a:pt x="609454" y="27870"/>
                  </a:lnTo>
                  <a:lnTo>
                    <a:pt x="674564" y="23239"/>
                  </a:lnTo>
                  <a:lnTo>
                    <a:pt x="702488" y="21557"/>
                  </a:lnTo>
                  <a:lnTo>
                    <a:pt x="746417" y="1549"/>
                  </a:lnTo>
                  <a:lnTo>
                    <a:pt x="750138" y="9702"/>
                  </a:lnTo>
                  <a:lnTo>
                    <a:pt x="750658" y="18656"/>
                  </a:lnTo>
                  <a:lnTo>
                    <a:pt x="750658" y="19329"/>
                  </a:lnTo>
                  <a:lnTo>
                    <a:pt x="757796" y="16078"/>
                  </a:lnTo>
                  <a:lnTo>
                    <a:pt x="759904" y="11734"/>
                  </a:lnTo>
                  <a:close/>
                </a:path>
                <a:path w="760095" h="356870">
                  <a:moveTo>
                    <a:pt x="31195" y="327312"/>
                  </a:moveTo>
                  <a:lnTo>
                    <a:pt x="6007" y="338785"/>
                  </a:lnTo>
                  <a:lnTo>
                    <a:pt x="9728" y="346951"/>
                  </a:lnTo>
                  <a:lnTo>
                    <a:pt x="17538" y="351370"/>
                  </a:lnTo>
                  <a:lnTo>
                    <a:pt x="31195" y="327312"/>
                  </a:lnTo>
                  <a:close/>
                </a:path>
                <a:path w="760095" h="356870">
                  <a:moveTo>
                    <a:pt x="9728" y="346951"/>
                  </a:moveTo>
                  <a:lnTo>
                    <a:pt x="6007" y="338785"/>
                  </a:lnTo>
                  <a:lnTo>
                    <a:pt x="6007" y="344836"/>
                  </a:lnTo>
                  <a:lnTo>
                    <a:pt x="9728" y="346951"/>
                  </a:lnTo>
                  <a:close/>
                </a:path>
                <a:path w="760095" h="356870">
                  <a:moveTo>
                    <a:pt x="208978" y="14122"/>
                  </a:moveTo>
                  <a:lnTo>
                    <a:pt x="201180" y="9702"/>
                  </a:lnTo>
                  <a:lnTo>
                    <a:pt x="198920" y="18376"/>
                  </a:lnTo>
                  <a:lnTo>
                    <a:pt x="205636" y="20008"/>
                  </a:lnTo>
                  <a:lnTo>
                    <a:pt x="208978" y="14122"/>
                  </a:lnTo>
                  <a:close/>
                </a:path>
                <a:path w="760095" h="356870">
                  <a:moveTo>
                    <a:pt x="205636" y="20008"/>
                  </a:moveTo>
                  <a:lnTo>
                    <a:pt x="198920" y="18376"/>
                  </a:lnTo>
                  <a:lnTo>
                    <a:pt x="198920" y="31841"/>
                  </a:lnTo>
                  <a:lnTo>
                    <a:pt x="205636" y="20008"/>
                  </a:lnTo>
                  <a:close/>
                </a:path>
                <a:path w="760095" h="356870">
                  <a:moveTo>
                    <a:pt x="208978" y="20820"/>
                  </a:moveTo>
                  <a:lnTo>
                    <a:pt x="208978" y="14122"/>
                  </a:lnTo>
                  <a:lnTo>
                    <a:pt x="205636" y="20008"/>
                  </a:lnTo>
                  <a:lnTo>
                    <a:pt x="208978" y="20820"/>
                  </a:lnTo>
                  <a:close/>
                </a:path>
                <a:path w="760095" h="356870">
                  <a:moveTo>
                    <a:pt x="750658" y="18656"/>
                  </a:moveTo>
                  <a:lnTo>
                    <a:pt x="750163" y="9702"/>
                  </a:lnTo>
                  <a:lnTo>
                    <a:pt x="746417" y="1549"/>
                  </a:lnTo>
                  <a:lnTo>
                    <a:pt x="702488" y="21557"/>
                  </a:lnTo>
                  <a:lnTo>
                    <a:pt x="750658" y="18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57F3C84-F0C7-99BB-A118-A66059188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in ‘App’</a:t>
            </a:r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C14A7-5A8A-BC6F-489C-FE03FD607AE5}"/>
              </a:ext>
            </a:extLst>
          </p:cNvPr>
          <p:cNvSpPr txBox="1"/>
          <p:nvPr/>
        </p:nvSpPr>
        <p:spPr bwMode="ltGray">
          <a:xfrm>
            <a:off x="1938178" y="803324"/>
            <a:ext cx="4572000" cy="17851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Usage in your application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 App = () =&gt; {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return (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&lt;div&gt;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MyComponentWithLogger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text="Hello, World!" /&gt;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&lt;/div&gt;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);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};</a:t>
            </a:r>
          </a:p>
          <a:p>
            <a:endParaRPr lang="en-US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export default App;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C2C018-8675-418E-4BAA-6D049B07A454}"/>
              </a:ext>
            </a:extLst>
          </p:cNvPr>
          <p:cNvSpPr txBox="1"/>
          <p:nvPr/>
        </p:nvSpPr>
        <p:spPr bwMode="ltGray">
          <a:xfrm>
            <a:off x="973282" y="3001780"/>
            <a:ext cx="7197436" cy="90090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0A3E0"/>
                </a:solidFill>
                <a:latin typeface="+mn-lt"/>
              </a:rPr>
              <a:t>Explanation:</a:t>
            </a:r>
          </a:p>
          <a:p>
            <a:pPr marL="0" lvl="2" indent="-17875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In the ‘App’ component, ‘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MyComponentWithLogger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’ is rendered. This component, derived from ‘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MyComponent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’ and enhanced by ‘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withLogger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’, displays the text "Hello, World!" inside a &lt;div&gt;.</a:t>
            </a:r>
          </a:p>
        </p:txBody>
      </p:sp>
    </p:spTree>
    <p:extLst>
      <p:ext uri="{BB962C8B-B14F-4D97-AF65-F5344CB8AC3E}">
        <p14:creationId xmlns:p14="http://schemas.microsoft.com/office/powerpoint/2010/main" val="3903432330"/>
      </p:ext>
    </p:extLst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A81C7A-2096-47F6-69E2-9E95D5C5D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35</a:t>
            </a:fld>
            <a:endParaRPr lang="en-GB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60D6E-FC8A-317D-34F4-2A6D281DFF70}"/>
              </a:ext>
            </a:extLst>
          </p:cNvPr>
          <p:cNvSpPr txBox="1"/>
          <p:nvPr/>
        </p:nvSpPr>
        <p:spPr bwMode="ltGray">
          <a:xfrm>
            <a:off x="443345" y="332509"/>
            <a:ext cx="3075710" cy="31734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sz="1400" dirty="0">
                <a:solidFill>
                  <a:schemeClr val="tx2"/>
                </a:solidFill>
                <a:latin typeface="+mj-lt"/>
              </a:rPr>
              <a:t>APPENDIX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6E4CB5F2-FA4A-B038-9435-CAD19C504CE2}"/>
              </a:ext>
            </a:extLst>
          </p:cNvPr>
          <p:cNvSpPr/>
          <p:nvPr/>
        </p:nvSpPr>
        <p:spPr bwMode="auto">
          <a:xfrm>
            <a:off x="6650182" y="1856509"/>
            <a:ext cx="1544782" cy="1579417"/>
          </a:xfrm>
          <a:prstGeom prst="can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A81ED7B-94F3-516E-CFE2-4B39D49CBA75}"/>
              </a:ext>
            </a:extLst>
          </p:cNvPr>
          <p:cNvSpPr/>
          <p:nvPr/>
        </p:nvSpPr>
        <p:spPr bwMode="auto">
          <a:xfrm>
            <a:off x="2438400" y="1714500"/>
            <a:ext cx="3814609" cy="1721426"/>
          </a:xfrm>
          <a:prstGeom prst="roundRect">
            <a:avLst/>
          </a:prstGeom>
          <a:solidFill>
            <a:schemeClr val="bg2">
              <a:lumMod val="90000"/>
              <a:alpha val="35000"/>
            </a:schemeClr>
          </a:solidFill>
          <a:ln w="28575">
            <a:solidFill>
              <a:schemeClr val="bg2">
                <a:lumMod val="50000"/>
              </a:schemeClr>
            </a:solidFill>
            <a:prstDash val="solid"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979A31D-5218-4EFB-5764-66352272D9A2}"/>
              </a:ext>
            </a:extLst>
          </p:cNvPr>
          <p:cNvSpPr/>
          <p:nvPr/>
        </p:nvSpPr>
        <p:spPr bwMode="auto">
          <a:xfrm rot="5400000">
            <a:off x="207142" y="1420780"/>
            <a:ext cx="2388178" cy="1658585"/>
          </a:xfrm>
          <a:prstGeom prst="roundRect">
            <a:avLst/>
          </a:prstGeom>
          <a:solidFill>
            <a:schemeClr val="accent6">
              <a:lumMod val="40000"/>
              <a:lumOff val="60000"/>
              <a:alpha val="45000"/>
            </a:schemeClr>
          </a:solidFill>
          <a:ln w="28575">
            <a:solidFill>
              <a:schemeClr val="bg2">
                <a:lumMod val="50000"/>
              </a:schemeClr>
            </a:solidFill>
            <a:prstDash val="solid"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F452E8-4569-BF39-E7F6-68F026640A5A}"/>
              </a:ext>
            </a:extLst>
          </p:cNvPr>
          <p:cNvSpPr txBox="1"/>
          <p:nvPr/>
        </p:nvSpPr>
        <p:spPr bwMode="ltGray">
          <a:xfrm>
            <a:off x="812800" y="2175933"/>
            <a:ext cx="1176867" cy="311316"/>
          </a:xfrm>
          <a:prstGeom prst="rect">
            <a:avLst/>
          </a:prstGeom>
          <a:noFill/>
          <a:ln w="6350">
            <a:solidFill>
              <a:srgbClr val="16184E"/>
            </a:solidFill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algn="ctr" eaLnBrk="0" hangingPunct="0"/>
            <a:r>
              <a:rPr lang="en-US" dirty="0">
                <a:latin typeface="+mn-lt"/>
              </a:rPr>
              <a:t>WEB UI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2B3773-0B03-664D-4D56-96F77E6AF446}"/>
              </a:ext>
            </a:extLst>
          </p:cNvPr>
          <p:cNvSpPr txBox="1"/>
          <p:nvPr/>
        </p:nvSpPr>
        <p:spPr bwMode="ltGray">
          <a:xfrm>
            <a:off x="1080223" y="2675467"/>
            <a:ext cx="642019" cy="2711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sz="1100" dirty="0">
                <a:latin typeface="+mn-lt"/>
              </a:rPr>
              <a:t>React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B9A365-DCE5-7AD9-5DD6-353BEF44C8C4}"/>
              </a:ext>
            </a:extLst>
          </p:cNvPr>
          <p:cNvSpPr txBox="1"/>
          <p:nvPr/>
        </p:nvSpPr>
        <p:spPr bwMode="ltGray">
          <a:xfrm>
            <a:off x="951345" y="1181546"/>
            <a:ext cx="1637143" cy="31734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dirty="0">
                <a:latin typeface="+mn-lt"/>
              </a:rPr>
              <a:t>Frontend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B73DBF-B696-DF41-E165-878F66A9A120}"/>
              </a:ext>
            </a:extLst>
          </p:cNvPr>
          <p:cNvSpPr txBox="1"/>
          <p:nvPr/>
        </p:nvSpPr>
        <p:spPr bwMode="ltGray">
          <a:xfrm>
            <a:off x="3722433" y="1113138"/>
            <a:ext cx="1637143" cy="31734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dirty="0">
                <a:latin typeface="+mn-lt"/>
              </a:rPr>
              <a:t>Mid-Tier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9EFE19-4BA5-218B-9A95-E53AD78F5435}"/>
              </a:ext>
            </a:extLst>
          </p:cNvPr>
          <p:cNvSpPr txBox="1"/>
          <p:nvPr/>
        </p:nvSpPr>
        <p:spPr bwMode="ltGray">
          <a:xfrm>
            <a:off x="6763250" y="1129800"/>
            <a:ext cx="1637143" cy="31734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dirty="0">
                <a:latin typeface="+mn-lt"/>
              </a:rPr>
              <a:t>Backend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B2DA23-9E07-6EA6-801C-DE9E87456B84}"/>
              </a:ext>
            </a:extLst>
          </p:cNvPr>
          <p:cNvSpPr txBox="1"/>
          <p:nvPr/>
        </p:nvSpPr>
        <p:spPr bwMode="ltGray">
          <a:xfrm>
            <a:off x="3436496" y="1860354"/>
            <a:ext cx="1637143" cy="31734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b="1" dirty="0">
                <a:latin typeface="+mn-lt"/>
              </a:rPr>
              <a:t>JAVA Application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8991BB-AF7E-8B48-0029-441F48EC92A6}"/>
              </a:ext>
            </a:extLst>
          </p:cNvPr>
          <p:cNvSpPr txBox="1"/>
          <p:nvPr/>
        </p:nvSpPr>
        <p:spPr bwMode="ltGray">
          <a:xfrm>
            <a:off x="2546390" y="2387600"/>
            <a:ext cx="1176041" cy="7301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algn="ctr" eaLnBrk="0" hangingPunct="0"/>
            <a:r>
              <a:rPr lang="en-US" dirty="0">
                <a:latin typeface="+mn-lt"/>
              </a:rPr>
              <a:t>Rest</a:t>
            </a:r>
          </a:p>
          <a:p>
            <a:pPr algn="ctr" eaLnBrk="0" hangingPunct="0"/>
            <a:r>
              <a:rPr lang="en-US" dirty="0">
                <a:latin typeface="+mn-lt"/>
              </a:rPr>
              <a:t>Endpoints</a:t>
            </a:r>
          </a:p>
          <a:p>
            <a:pPr algn="ctr" eaLnBrk="0" hangingPunct="0"/>
            <a:endParaRPr lang="en-US" dirty="0"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4FC920-4293-8015-84C7-B69009660357}"/>
              </a:ext>
            </a:extLst>
          </p:cNvPr>
          <p:cNvSpPr txBox="1"/>
          <p:nvPr/>
        </p:nvSpPr>
        <p:spPr bwMode="ltGray">
          <a:xfrm>
            <a:off x="3711964" y="2387600"/>
            <a:ext cx="1176041" cy="7301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algn="ctr" eaLnBrk="0" hangingPunct="0"/>
            <a:endParaRPr lang="en-US" dirty="0">
              <a:latin typeface="+mn-lt"/>
            </a:endParaRPr>
          </a:p>
          <a:p>
            <a:pPr algn="ctr" eaLnBrk="0" hangingPunct="0"/>
            <a:r>
              <a:rPr lang="en-US" dirty="0">
                <a:latin typeface="+mn-lt"/>
              </a:rPr>
              <a:t>Services</a:t>
            </a:r>
          </a:p>
          <a:p>
            <a:pPr algn="ctr" eaLnBrk="0" hangingPunct="0"/>
            <a:endParaRPr lang="en-US" dirty="0"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F7DCCE-96FB-56BC-7CD4-A00AE28D24B6}"/>
              </a:ext>
            </a:extLst>
          </p:cNvPr>
          <p:cNvSpPr txBox="1"/>
          <p:nvPr/>
        </p:nvSpPr>
        <p:spPr bwMode="ltGray">
          <a:xfrm>
            <a:off x="4877538" y="2387600"/>
            <a:ext cx="1176041" cy="7301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algn="ctr" eaLnBrk="0" hangingPunct="0"/>
            <a:r>
              <a:rPr lang="en-US" dirty="0">
                <a:latin typeface="+mn-lt"/>
              </a:rPr>
              <a:t>Spring data JPA</a:t>
            </a:r>
          </a:p>
          <a:p>
            <a:pPr algn="ctr" eaLnBrk="0" hangingPunct="0"/>
            <a:endParaRPr lang="en-US" dirty="0">
              <a:latin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97EAF4-A42C-D6EE-8D7C-4214ABC6D5A1}"/>
              </a:ext>
            </a:extLst>
          </p:cNvPr>
          <p:cNvSpPr txBox="1"/>
          <p:nvPr/>
        </p:nvSpPr>
        <p:spPr bwMode="ltGray">
          <a:xfrm>
            <a:off x="2808168" y="3055222"/>
            <a:ext cx="903796" cy="2711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sz="1100" dirty="0">
                <a:latin typeface="+mn-lt"/>
              </a:rPr>
              <a:t>Controller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49FDF4-ECA5-09B4-A45B-B8C3C45032D1}"/>
              </a:ext>
            </a:extLst>
          </p:cNvPr>
          <p:cNvSpPr txBox="1"/>
          <p:nvPr/>
        </p:nvSpPr>
        <p:spPr bwMode="ltGray">
          <a:xfrm>
            <a:off x="3877502" y="3069099"/>
            <a:ext cx="903796" cy="2711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/>
            <a:r>
              <a:rPr lang="en-US" sz="1100" dirty="0">
                <a:latin typeface="+mn-lt"/>
              </a:rPr>
              <a:t>Services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43F13B-D287-FA36-973F-96EA809D2EB7}"/>
              </a:ext>
            </a:extLst>
          </p:cNvPr>
          <p:cNvSpPr txBox="1"/>
          <p:nvPr/>
        </p:nvSpPr>
        <p:spPr bwMode="ltGray">
          <a:xfrm>
            <a:off x="5078455" y="3069099"/>
            <a:ext cx="903796" cy="2711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algn="ctr" eaLnBrk="0" hangingPunct="0"/>
            <a:r>
              <a:rPr lang="en-US" sz="1100" dirty="0">
                <a:latin typeface="+mn-lt"/>
              </a:rPr>
              <a:t>JPA</a:t>
            </a:r>
          </a:p>
        </p:txBody>
      </p:sp>
      <p:sp>
        <p:nvSpPr>
          <p:cNvPr id="29" name="Arrow: Left-Right 28">
            <a:extLst>
              <a:ext uri="{FF2B5EF4-FFF2-40B4-BE49-F238E27FC236}">
                <a16:creationId xmlns:a16="http://schemas.microsoft.com/office/drawing/2014/main" id="{6794F85F-9519-929C-004E-7DF4598F80A6}"/>
              </a:ext>
            </a:extLst>
          </p:cNvPr>
          <p:cNvSpPr/>
          <p:nvPr/>
        </p:nvSpPr>
        <p:spPr bwMode="auto">
          <a:xfrm>
            <a:off x="6240036" y="2563120"/>
            <a:ext cx="397173" cy="241288"/>
          </a:xfrm>
          <a:prstGeom prst="leftRightArrow">
            <a:avLst/>
          </a:prstGeom>
          <a:solidFill>
            <a:srgbClr val="E7001D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5EBBB11D-CA15-87FC-11E0-CFA5B60CD474}"/>
              </a:ext>
            </a:extLst>
          </p:cNvPr>
          <p:cNvSpPr/>
          <p:nvPr/>
        </p:nvSpPr>
        <p:spPr bwMode="auto">
          <a:xfrm>
            <a:off x="2104020" y="2577877"/>
            <a:ext cx="397173" cy="241288"/>
          </a:xfrm>
          <a:prstGeom prst="leftRightArrow">
            <a:avLst/>
          </a:prstGeom>
          <a:solidFill>
            <a:srgbClr val="E7001D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EFCA8-5AF7-88B1-E6A5-A29353E86F03}"/>
              </a:ext>
            </a:extLst>
          </p:cNvPr>
          <p:cNvSpPr txBox="1"/>
          <p:nvPr/>
        </p:nvSpPr>
        <p:spPr bwMode="ltGray">
          <a:xfrm>
            <a:off x="6600011" y="2492308"/>
            <a:ext cx="1637143" cy="47123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algn="ctr" eaLnBrk="0" hangingPunct="0"/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h2/SQL </a:t>
            </a:r>
          </a:p>
          <a:p>
            <a:pPr algn="ctr" eaLnBrk="0" hangingPunct="0"/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Database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EE47D3-80F6-6AE5-1DA5-A595BB891833}"/>
              </a:ext>
            </a:extLst>
          </p:cNvPr>
          <p:cNvSpPr txBox="1"/>
          <p:nvPr/>
        </p:nvSpPr>
        <p:spPr bwMode="ltGray">
          <a:xfrm>
            <a:off x="787576" y="3835971"/>
            <a:ext cx="4572000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/>
              <a:t>localhost:8080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280A71-C547-457D-66B1-D6EF8E5BAB79}"/>
              </a:ext>
            </a:extLst>
          </p:cNvPr>
          <p:cNvSpPr txBox="1"/>
          <p:nvPr/>
        </p:nvSpPr>
        <p:spPr bwMode="ltGray">
          <a:xfrm>
            <a:off x="4781298" y="3827735"/>
            <a:ext cx="4572000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/>
              <a:t>localhost:8081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C9038B7-7F42-2B14-06FF-4FFE6FD6E41B}"/>
              </a:ext>
            </a:extLst>
          </p:cNvPr>
          <p:cNvCxnSpPr>
            <a:stCxn id="14" idx="1"/>
          </p:cNvCxnSpPr>
          <p:nvPr/>
        </p:nvCxnSpPr>
        <p:spPr bwMode="auto">
          <a:xfrm flipH="1" flipV="1">
            <a:off x="2501193" y="3966234"/>
            <a:ext cx="2280105" cy="1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/>
          </a:ln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9C27DB1-B2BF-EAB1-88C8-A6F910410CDF}"/>
              </a:ext>
            </a:extLst>
          </p:cNvPr>
          <p:cNvCxnSpPr/>
          <p:nvPr/>
        </p:nvCxnSpPr>
        <p:spPr bwMode="auto">
          <a:xfrm>
            <a:off x="5888182" y="3966234"/>
            <a:ext cx="2202873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/>
          </a:ln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FDF359E-4D9C-7606-F9CA-247116C4FBAE}"/>
              </a:ext>
            </a:extLst>
          </p:cNvPr>
          <p:cNvCxnSpPr/>
          <p:nvPr/>
        </p:nvCxnSpPr>
        <p:spPr bwMode="auto">
          <a:xfrm>
            <a:off x="1877291" y="3972216"/>
            <a:ext cx="30479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/>
          </a:ln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27B3862-43AC-F6F9-984C-E05D2351C47C}"/>
              </a:ext>
            </a:extLst>
          </p:cNvPr>
          <p:cNvCxnSpPr>
            <a:stCxn id="8" idx="1"/>
          </p:cNvCxnSpPr>
          <p:nvPr/>
        </p:nvCxnSpPr>
        <p:spPr bwMode="auto">
          <a:xfrm flipH="1" flipV="1">
            <a:off x="523500" y="3972216"/>
            <a:ext cx="264076" cy="225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4DB8A5-09E6-4403-515F-C35E62CC1AFF}"/>
              </a:ext>
            </a:extLst>
          </p:cNvPr>
          <p:cNvSpPr txBox="1"/>
          <p:nvPr/>
        </p:nvSpPr>
        <p:spPr bwMode="ltGray">
          <a:xfrm>
            <a:off x="1915380" y="4280939"/>
            <a:ext cx="6720620" cy="600164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100" dirty="0">
                <a:latin typeface="+mn-lt"/>
              </a:rPr>
              <a:t>NOTE: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</a:rPr>
              <a:t>Frontend is hosted on localhost:8080 which is with </a:t>
            </a:r>
            <a:r>
              <a:rPr lang="en-US" sz="1100" dirty="0" err="1">
                <a:latin typeface="+mn-lt"/>
              </a:rPr>
              <a:t>Reactjs</a:t>
            </a:r>
            <a:r>
              <a:rPr lang="en-US" sz="1100" dirty="0">
                <a:latin typeface="+mn-lt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</a:rPr>
              <a:t>With backend connection established with localhost:8081 with </a:t>
            </a:r>
            <a:r>
              <a:rPr lang="en-US" sz="1100" dirty="0" err="1">
                <a:latin typeface="+mn-lt"/>
              </a:rPr>
              <a:t>Springboot</a:t>
            </a:r>
            <a:r>
              <a:rPr lang="en-US" sz="1100" dirty="0">
                <a:latin typeface="+mn-lt"/>
              </a:rPr>
              <a:t> as a backend.</a:t>
            </a:r>
          </a:p>
        </p:txBody>
      </p:sp>
    </p:spTree>
    <p:extLst>
      <p:ext uri="{BB962C8B-B14F-4D97-AF65-F5344CB8AC3E}">
        <p14:creationId xmlns:p14="http://schemas.microsoft.com/office/powerpoint/2010/main" val="1305860898"/>
      </p:ext>
    </p:extLst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A3268-15BF-5D2F-45D4-E37FECBB4C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Knowledge Check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3226C-D01B-0558-DD25-1168B5BF7D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3928C-3E02-D9E0-47B9-54CF8212CD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CD4C48-EED6-7198-0995-1A4153CD4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59218" y="1493493"/>
            <a:ext cx="1630971" cy="163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29491"/>
      </p:ext>
    </p:extLst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08351-FFCA-1807-937B-E1E24BDB0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37</a:t>
            </a:fld>
            <a:endParaRPr lang="en-GB" noProof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2FA99-0D52-6434-D27B-19203608C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176F7-F0B2-9813-F426-B492766B4A06}"/>
              </a:ext>
            </a:extLst>
          </p:cNvPr>
          <p:cNvSpPr txBox="1"/>
          <p:nvPr/>
        </p:nvSpPr>
        <p:spPr bwMode="ltGray">
          <a:xfrm>
            <a:off x="775564" y="301130"/>
            <a:ext cx="6173466" cy="43373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1: What is the primary purpose of conditional rendering in React?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To enhance performance by reducing component re-renders.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To control the visibility of elements based on user actions.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To manage state updates within components.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To organize components into a structured hierarchy.</a:t>
            </a: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2: What is JSX in React?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A syntax extension for JavaScript that allows HTML to be written in JS files.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A built-in component in React for managing state.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A package manager for installing React libraries.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An IDE for React development. </a:t>
            </a: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3: What is the purpose of a Higher-Order Component (HOC) in React?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To encapsulate logic that can be reused across multiple components.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To manage complex state interactions within a single component.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To optimize rendering performance of React applications.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To simplify the process of creating new React components.</a:t>
            </a:r>
          </a:p>
        </p:txBody>
      </p:sp>
    </p:spTree>
    <p:extLst>
      <p:ext uri="{BB962C8B-B14F-4D97-AF65-F5344CB8AC3E}">
        <p14:creationId xmlns:p14="http://schemas.microsoft.com/office/powerpoint/2010/main" val="1072149755"/>
      </p:ext>
    </p:extLst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08351-FFCA-1807-937B-E1E24BDB0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38</a:t>
            </a:fld>
            <a:endParaRPr lang="en-GB" noProof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2FA99-0D52-6434-D27B-19203608C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176F7-F0B2-9813-F426-B492766B4A06}"/>
              </a:ext>
            </a:extLst>
          </p:cNvPr>
          <p:cNvSpPr txBox="1"/>
          <p:nvPr/>
        </p:nvSpPr>
        <p:spPr bwMode="ltGray">
          <a:xfrm>
            <a:off x="775564" y="301130"/>
            <a:ext cx="6173466" cy="43373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1: What is the primary purpose of conditional rendering in React?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To enhance performance by reducing component re-renders.</a:t>
            </a: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B) To control the visibility of elements based on user actions.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To manage state updates within components.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To organize components into a structured hierarchy.</a:t>
            </a: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2: What is JSX in React?</a:t>
            </a: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A) A syntax extension for JavaScript that allows HTML to be written in JS files.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A built-in component in React for managing state.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A package manager for installing React libraries.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An IDE for React development. </a:t>
            </a: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3: What is the purpose of a Higher-Order Component (HOC) in React?</a:t>
            </a: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A) To encapsulate logic that can be reused across multiple components.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To manage complex state interactions within a single component.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To optimize rendering performance of React applications.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To simplify the process of creating new React components.</a:t>
            </a:r>
          </a:p>
        </p:txBody>
      </p:sp>
    </p:spTree>
    <p:extLst>
      <p:ext uri="{BB962C8B-B14F-4D97-AF65-F5344CB8AC3E}">
        <p14:creationId xmlns:p14="http://schemas.microsoft.com/office/powerpoint/2010/main" val="243675713"/>
      </p:ext>
    </p:extLst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08351-FFCA-1807-937B-E1E24BDB0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39</a:t>
            </a:fld>
            <a:endParaRPr lang="en-GB" noProof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2FA99-0D52-6434-D27B-19203608C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176F7-F0B2-9813-F426-B492766B4A06}"/>
              </a:ext>
            </a:extLst>
          </p:cNvPr>
          <p:cNvSpPr txBox="1"/>
          <p:nvPr/>
        </p:nvSpPr>
        <p:spPr bwMode="ltGray">
          <a:xfrm>
            <a:off x="685509" y="418894"/>
            <a:ext cx="6173466" cy="282885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4: How does React handle forms and form data?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By using Redux to manage form state.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By using the </a:t>
            </a:r>
            <a:r>
              <a:rPr lang="en-US" sz="1089" dirty="0" err="1">
                <a:latin typeface="+mn-lt"/>
              </a:rPr>
              <a:t>useState</a:t>
            </a:r>
            <a:r>
              <a:rPr lang="en-US" sz="1089" dirty="0">
                <a:latin typeface="+mn-lt"/>
              </a:rPr>
              <a:t> hook to manage form data.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By using the </a:t>
            </a:r>
            <a:r>
              <a:rPr lang="en-US" sz="1089" dirty="0" err="1">
                <a:latin typeface="+mn-lt"/>
              </a:rPr>
              <a:t>useEffect</a:t>
            </a:r>
            <a:r>
              <a:rPr lang="en-US" sz="1089" dirty="0">
                <a:latin typeface="+mn-lt"/>
              </a:rPr>
              <a:t> hook to fetch form data from an API.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By using controlled components to manage form state in the component's state.</a:t>
            </a: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5: What is the purpose of render props in React?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To render components conditionally based on certain props.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To share code between React components using a prop whose value is a function.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To optimize rendering performance of React components.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To handle event listeners within React components.</a:t>
            </a:r>
          </a:p>
        </p:txBody>
      </p:sp>
    </p:spTree>
    <p:extLst>
      <p:ext uri="{BB962C8B-B14F-4D97-AF65-F5344CB8AC3E}">
        <p14:creationId xmlns:p14="http://schemas.microsoft.com/office/powerpoint/2010/main" val="2805986548"/>
      </p:ext>
    </p:extLst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08351-FFCA-1807-937B-E1E24BDB0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40</a:t>
            </a:fld>
            <a:endParaRPr lang="en-GB" noProof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2FA99-0D52-6434-D27B-19203608C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176F7-F0B2-9813-F426-B492766B4A06}"/>
              </a:ext>
            </a:extLst>
          </p:cNvPr>
          <p:cNvSpPr txBox="1"/>
          <p:nvPr/>
        </p:nvSpPr>
        <p:spPr bwMode="ltGray">
          <a:xfrm>
            <a:off x="685509" y="418894"/>
            <a:ext cx="6173466" cy="282885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4: How does React handle forms and form data?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By using Redux to manage form state.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By using the </a:t>
            </a:r>
            <a:r>
              <a:rPr lang="en-US" sz="1089" dirty="0" err="1">
                <a:latin typeface="+mn-lt"/>
              </a:rPr>
              <a:t>useState</a:t>
            </a:r>
            <a:r>
              <a:rPr lang="en-US" sz="1089" dirty="0">
                <a:latin typeface="+mn-lt"/>
              </a:rPr>
              <a:t> hook to manage form data.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By using the </a:t>
            </a:r>
            <a:r>
              <a:rPr lang="en-US" sz="1089" dirty="0" err="1">
                <a:latin typeface="+mn-lt"/>
              </a:rPr>
              <a:t>useEffect</a:t>
            </a:r>
            <a:r>
              <a:rPr lang="en-US" sz="1089" dirty="0">
                <a:latin typeface="+mn-lt"/>
              </a:rPr>
              <a:t> hook to fetch form data from an API.</a:t>
            </a: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D) By using controlled components to manage form state in the component's state.</a:t>
            </a: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5: What is the purpose of render props in React?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To render components conditionally based on certain props.</a:t>
            </a: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B) To share code between React components using a prop whose value is a function</a:t>
            </a:r>
            <a:r>
              <a:rPr lang="en-US" sz="1089" dirty="0">
                <a:latin typeface="+mn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To optimize rendering performance of React components.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To handle event listeners within React components.</a:t>
            </a:r>
          </a:p>
        </p:txBody>
      </p:sp>
    </p:spTree>
    <p:extLst>
      <p:ext uri="{BB962C8B-B14F-4D97-AF65-F5344CB8AC3E}">
        <p14:creationId xmlns:p14="http://schemas.microsoft.com/office/powerpoint/2010/main" val="4113432962"/>
      </p:ext>
    </p:extLst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799C7E-BA01-A280-281C-D8CD798349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React Forms Lab: Saucy Tango Food Order 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EF04D-08E0-677F-6285-26EC86D503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65E24-B943-7E9D-000D-202C541D0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35623"/>
      </p:ext>
    </p:extLst>
  </p:cSld>
  <p:clrMapOvr>
    <a:masterClrMapping/>
  </p:clrMapOvr>
  <p:transition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FE4391-7611-5F97-97C8-935AC19C3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React Hooks Lab: Passing Thoughts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F42D-D7F1-D93E-AAEA-2D06CD3EFE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6E3D3-C9E7-066D-EB85-5294C43BB2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83417"/>
      </p:ext>
    </p:extLst>
  </p:cSld>
  <p:clrMapOvr>
    <a:masterClrMapping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68AEE3-51BD-4F45-12D1-9108AAB71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React Jest Lab: Currency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E31B0-0DB8-2471-2983-421C4E720D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8B93E-1DB7-E737-8C28-5F1C30235F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25917"/>
      </p:ext>
    </p:extLst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7E4292-FB8D-7263-0032-6133AFA77C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React JSX Lab: Animal Fun Facts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0ABFB-6EF1-BEEF-52A9-91C9D30F4A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024DD-41AA-D0D4-92AA-5A60C11473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72778"/>
      </p:ext>
    </p:extLst>
  </p:cSld>
  <p:clrMapOvr>
    <a:masterClrMapping/>
  </p:clrMapOvr>
  <p:transition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7DF02A-D444-96AD-5CF2-58C5D292C4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React Optimization Lab: Optimize This!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76BF8-A2B4-2A46-0171-B75B8253F2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4F908-3D95-BB75-9C97-5B4E2C6B05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01096"/>
      </p:ext>
    </p:extLst>
  </p:cSld>
  <p:clrMapOvr>
    <a:masterClrMapping/>
  </p:clrMapOvr>
  <p:transition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495D14-F2B2-6DB8-888F-5E4AC7FDFC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Web Apps Developer</a:t>
            </a:r>
          </a:p>
        </p:txBody>
      </p:sp>
    </p:spTree>
    <p:extLst>
      <p:ext uri="{BB962C8B-B14F-4D97-AF65-F5344CB8AC3E}">
        <p14:creationId xmlns:p14="http://schemas.microsoft.com/office/powerpoint/2010/main" val="1550577952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Deutsche Bank title master 2024 05">
  <a:themeElements>
    <a:clrScheme name="Deutsche Bank 2024 05">
      <a:dk1>
        <a:srgbClr val="000000"/>
      </a:dk1>
      <a:lt1>
        <a:srgbClr val="FFFFFF"/>
      </a:lt1>
      <a:dk2>
        <a:srgbClr val="16184E"/>
      </a:dk2>
      <a:lt2>
        <a:srgbClr val="CCEDF9"/>
      </a:lt2>
      <a:accent1>
        <a:srgbClr val="1E2A78"/>
      </a:accent1>
      <a:accent2>
        <a:srgbClr val="3BB8B8"/>
      </a:accent2>
      <a:accent3>
        <a:srgbClr val="24778D"/>
      </a:accent3>
      <a:accent4>
        <a:srgbClr val="25A62D"/>
      </a:accent4>
      <a:accent5>
        <a:srgbClr val="C9DD03"/>
      </a:accent5>
      <a:accent6>
        <a:srgbClr val="A1AC05"/>
      </a:accent6>
      <a:hlink>
        <a:srgbClr val="00A3E0"/>
      </a:hlink>
      <a:folHlink>
        <a:srgbClr val="00A3E0"/>
      </a:folHlink>
    </a:clrScheme>
    <a:fontScheme name="Deutsche Bank 04.2024">
      <a:majorFont>
        <a:latin typeface="Deutsche Bank Text"/>
        <a:ea typeface="MS PGothic"/>
        <a:cs typeface=""/>
      </a:majorFont>
      <a:minorFont>
        <a:latin typeface="Deutsche Ban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  <a:miter lim="800000"/>
          <a:headEnd/>
          <a:tailEnd/>
        </a:ln>
      </a:spPr>
      <a:bodyPr lIns="100913" tIns="50457" rIns="100913" bIns="50457" rtlCol="0" anchor="ctr">
        <a:noAutofit/>
      </a:bodyPr>
      <a:lstStyle>
        <a:defPPr algn="ctr" defTabSz="963613" eaLnBrk="0" hangingPunct="0">
          <a:tabLst>
            <a:tab pos="1257300" algn="l"/>
          </a:tabLst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noFill/>
        <a:ln w="12700">
          <a:solidFill>
            <a:schemeClr val="tx1"/>
          </a:solidFill>
          <a:round/>
          <a:headEnd/>
          <a:tailEnd/>
        </a:ln>
      </a:spPr>
      <a:bodyPr/>
      <a:lstStyle/>
    </a:lnDef>
    <a:txDef>
      <a:spPr bwMode="ltGray">
        <a:noFill/>
        <a:ln w="6350">
          <a:noFill/>
          <a:miter lim="800000"/>
          <a:headEnd/>
          <a:tailEnd/>
        </a:ln>
      </a:spPr>
      <a:bodyPr wrap="square" lIns="100913" tIns="50457" rIns="100913" bIns="50457" rtlCol="0" anchor="t" anchorCtr="0">
        <a:spAutoFit/>
      </a:bodyPr>
      <a:lstStyle>
        <a:defPPr eaLnBrk="0" hangingPunct="0">
          <a:defRPr dirty="0" err="1" smtClean="0">
            <a:latin typeface="+mn-lt"/>
          </a:defRPr>
        </a:defPPr>
      </a:lstStyle>
    </a:txDef>
  </a:objectDefaults>
  <a:extraClrSchemeLst/>
  <a:custClrLst>
    <a:custClr name="Deep Blue">
      <a:srgbClr val="1E2A78"/>
    </a:custClr>
    <a:custClr name="Dark Blue">
      <a:srgbClr val="16184E"/>
    </a:custClr>
    <a:custClr name="Bright Blue 100">
      <a:srgbClr val="00A3E0"/>
    </a:custClr>
    <a:custClr name="Vibrant Cyan">
      <a:srgbClr val="00D1FF"/>
    </a:custClr>
    <a:custClr name="Light Blue">
      <a:srgbClr val="ADEBFF"/>
    </a:custClr>
    <a:custClr name="Bright Blue 20">
      <a:srgbClr val="CCEDF9"/>
    </a:custClr>
    <a:custClr name="Bright Blue 10">
      <a:srgbClr val="E1F5FA"/>
    </a:custClr>
    <a:custClr name="Grey">
      <a:srgbClr val="EDF1F7"/>
    </a:custClr>
    <a:custClr name="White">
      <a:srgbClr val="FFFFFF"/>
    </a:custClr>
    <a:custClr name="White">
      <a:srgbClr val="FFFFFF"/>
    </a:custClr>
    <a:custClr name="Turquoise">
      <a:srgbClr val="3BB8B8"/>
    </a:custClr>
    <a:custClr name="Petrol">
      <a:srgbClr val="24778D"/>
    </a:custClr>
    <a:custClr name="Summer Green">
      <a:srgbClr val="25A62D"/>
    </a:custClr>
    <a:custClr name="Spring Green">
      <a:srgbClr val="C9DD03"/>
    </a:custClr>
    <a:custClr name="Autumn Green">
      <a:srgbClr val="A1AC05"/>
    </a:custClr>
    <a:custClr name="Yellow">
      <a:srgbClr val="FFE600"/>
    </a:custClr>
    <a:custClr name="Orange">
      <a:srgbClr val="F28011"/>
    </a:custClr>
    <a:custClr name="Red">
      <a:srgbClr val="E7001D"/>
    </a:custClr>
    <a:custClr name="Night Violet">
      <a:srgbClr val="452061"/>
    </a:custClr>
  </a:custClrLst>
  <a:extLst>
    <a:ext uri="{05A4C25C-085E-4340-85A3-A5531E510DB2}">
      <thm15:themeFamily xmlns:thm15="http://schemas.microsoft.com/office/thememl/2012/main" name="DB-ppt-master-16-9-en-2024-0508.potx" id="{03F4F82C-A993-420A-BE3F-9533B8D296BE}" vid="{F9659FAA-5FD8-4348-BAB2-E491194513AB}"/>
    </a:ext>
  </a:extLst>
</a:theme>
</file>

<file path=ppt/theme/theme2.xml><?xml version="1.0" encoding="utf-8"?>
<a:theme xmlns:a="http://schemas.openxmlformats.org/drawingml/2006/main" name="Deutsche Bank content master 2024 05">
  <a:themeElements>
    <a:clrScheme name="Deutsche Bank 2024 05">
      <a:dk1>
        <a:srgbClr val="000000"/>
      </a:dk1>
      <a:lt1>
        <a:srgbClr val="FFFFFF"/>
      </a:lt1>
      <a:dk2>
        <a:srgbClr val="16184E"/>
      </a:dk2>
      <a:lt2>
        <a:srgbClr val="CCEDF9"/>
      </a:lt2>
      <a:accent1>
        <a:srgbClr val="1E2A78"/>
      </a:accent1>
      <a:accent2>
        <a:srgbClr val="3BB8B8"/>
      </a:accent2>
      <a:accent3>
        <a:srgbClr val="24778D"/>
      </a:accent3>
      <a:accent4>
        <a:srgbClr val="25A62D"/>
      </a:accent4>
      <a:accent5>
        <a:srgbClr val="C9DD03"/>
      </a:accent5>
      <a:accent6>
        <a:srgbClr val="A1AC05"/>
      </a:accent6>
      <a:hlink>
        <a:srgbClr val="00A3E0"/>
      </a:hlink>
      <a:folHlink>
        <a:srgbClr val="00A3E0"/>
      </a:folHlink>
    </a:clrScheme>
    <a:fontScheme name="Deutsche Bank 04.2024">
      <a:majorFont>
        <a:latin typeface="Deutsche Bank Text"/>
        <a:ea typeface="MS PGothic"/>
        <a:cs typeface=""/>
      </a:majorFont>
      <a:minorFont>
        <a:latin typeface="Deutsche Ban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  <a:miter lim="800000"/>
          <a:headEnd/>
          <a:tailEnd/>
        </a:ln>
      </a:spPr>
      <a:bodyPr lIns="100913" tIns="50457" rIns="100913" bIns="50457" rtlCol="0" anchor="ctr">
        <a:noAutofit/>
      </a:bodyPr>
      <a:lstStyle>
        <a:defPPr algn="ctr" defTabSz="963613" eaLnBrk="0" hangingPunct="0">
          <a:tabLst>
            <a:tab pos="1257300" algn="l"/>
          </a:tabLst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noFill/>
        <a:ln w="12700">
          <a:solidFill>
            <a:schemeClr val="tx1"/>
          </a:solidFill>
          <a:round/>
          <a:headEnd/>
          <a:tailEnd/>
        </a:ln>
      </a:spPr>
      <a:bodyPr/>
      <a:lstStyle/>
    </a:lnDef>
    <a:txDef>
      <a:spPr bwMode="ltGray">
        <a:noFill/>
        <a:ln w="6350">
          <a:noFill/>
          <a:miter lim="800000"/>
          <a:headEnd/>
          <a:tailEnd/>
        </a:ln>
      </a:spPr>
      <a:bodyPr wrap="square" lIns="100913" tIns="50457" rIns="100913" bIns="50457" rtlCol="0" anchor="t" anchorCtr="0">
        <a:spAutoFit/>
      </a:bodyPr>
      <a:lstStyle>
        <a:defPPr eaLnBrk="0" hangingPunct="0">
          <a:defRPr dirty="0" err="1" smtClean="0">
            <a:latin typeface="+mn-lt"/>
          </a:defRPr>
        </a:defPPr>
      </a:lstStyle>
    </a:txDef>
  </a:objectDefaults>
  <a:extraClrSchemeLst/>
  <a:custClrLst>
    <a:custClr name="Deep Blue">
      <a:srgbClr val="1E2A78"/>
    </a:custClr>
    <a:custClr name="Dark Blue">
      <a:srgbClr val="16184E"/>
    </a:custClr>
    <a:custClr name="Bright Blue 100">
      <a:srgbClr val="00A3E0"/>
    </a:custClr>
    <a:custClr name="Vibrant Cyan">
      <a:srgbClr val="00D1FF"/>
    </a:custClr>
    <a:custClr name="Light Blue">
      <a:srgbClr val="ADEBFF"/>
    </a:custClr>
    <a:custClr name="Bright Blue 20">
      <a:srgbClr val="CCEDF9"/>
    </a:custClr>
    <a:custClr name="Bright Blue 10">
      <a:srgbClr val="E1F5FA"/>
    </a:custClr>
    <a:custClr name="Grey">
      <a:srgbClr val="EDF1F7"/>
    </a:custClr>
    <a:custClr name="White">
      <a:srgbClr val="FFFFFF"/>
    </a:custClr>
    <a:custClr name="White">
      <a:srgbClr val="FFFFFF"/>
    </a:custClr>
    <a:custClr name="Turquoise">
      <a:srgbClr val="3BB8B8"/>
    </a:custClr>
    <a:custClr name="Petrol">
      <a:srgbClr val="24778D"/>
    </a:custClr>
    <a:custClr name="Summer Green">
      <a:srgbClr val="25A62D"/>
    </a:custClr>
    <a:custClr name="Spring Green">
      <a:srgbClr val="C9DD03"/>
    </a:custClr>
    <a:custClr name="Autumn Green">
      <a:srgbClr val="A1AC05"/>
    </a:custClr>
    <a:custClr name="Yellow">
      <a:srgbClr val="FFE600"/>
    </a:custClr>
    <a:custClr name="Orange">
      <a:srgbClr val="F28011"/>
    </a:custClr>
    <a:custClr name="Red">
      <a:srgbClr val="E7001D"/>
    </a:custClr>
    <a:custClr name="Night Violet">
      <a:srgbClr val="452061"/>
    </a:custClr>
  </a:custClrLst>
  <a:extLst>
    <a:ext uri="{05A4C25C-085E-4340-85A3-A5531E510DB2}">
      <thm15:themeFamily xmlns:thm15="http://schemas.microsoft.com/office/thememl/2012/main" name="DB-ppt-master-16-9-en-2024-0508.potx" id="{03F4F82C-A993-420A-BE3F-9533B8D296BE}" vid="{F22E8401-D8BC-4370-AC03-B59A9642005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DB-ppt-master-16-9-en-2024-0508</Template>
  <TotalTime>385</TotalTime>
  <Words>2767</Words>
  <Application>Microsoft Office PowerPoint</Application>
  <PresentationFormat>On-screen Show (16:9)</PresentationFormat>
  <Paragraphs>445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Calibri</vt:lpstr>
      <vt:lpstr>Cascadia Code</vt:lpstr>
      <vt:lpstr>Arial</vt:lpstr>
      <vt:lpstr>Arial MT</vt:lpstr>
      <vt:lpstr>Inter</vt:lpstr>
      <vt:lpstr>Deutsche Bank Text</vt:lpstr>
      <vt:lpstr>Consolas</vt:lpstr>
      <vt:lpstr>Courier New</vt:lpstr>
      <vt:lpstr>Deutsche Bank title master 2024 05</vt:lpstr>
      <vt:lpstr>Deutsche Bank content master 2024 05</vt:lpstr>
      <vt:lpstr>PowerPoint Presentation</vt:lpstr>
      <vt:lpstr>PowerPoint Presentation</vt:lpstr>
      <vt:lpstr>PowerPoint Presentation</vt:lpstr>
      <vt:lpstr>PowerPoint Presentation</vt:lpstr>
      <vt:lpstr>Dynamic Content – which changes according to data requested by the user. </vt:lpstr>
      <vt:lpstr>PowerPoint Presentation</vt:lpstr>
      <vt:lpstr>Initiation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First React hook: useState</vt:lpstr>
      <vt:lpstr>PowerPoint Presentation</vt:lpstr>
      <vt:lpstr>Second React hook: useEffect</vt:lpstr>
      <vt:lpstr>PowerPoint Presentation</vt:lpstr>
      <vt:lpstr>PowerPoint Presentation</vt:lpstr>
      <vt:lpstr>Step 1 — Adding Axios to the Project</vt:lpstr>
      <vt:lpstr>Step 2 — Making a GET Request</vt:lpstr>
      <vt:lpstr>src/components/PersonList.js </vt:lpstr>
      <vt:lpstr>src/app.js</vt:lpstr>
      <vt:lpstr>Run your Application</vt:lpstr>
      <vt:lpstr>Step 3 — Making a POST Request</vt:lpstr>
      <vt:lpstr>Add this component to your app.js:</vt:lpstr>
      <vt:lpstr>Run your Application</vt:lpstr>
      <vt:lpstr>PowerPoint Presentation</vt:lpstr>
      <vt:lpstr>PowerPoint Presentation</vt:lpstr>
      <vt:lpstr>HOC</vt:lpstr>
      <vt:lpstr>Explanation</vt:lpstr>
      <vt:lpstr>Example Component (‘MyComponent’)</vt:lpstr>
      <vt:lpstr>Applying the HOC to ‘MyComponent’</vt:lpstr>
      <vt:lpstr>Usage in ‘App’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Cynthia Majhi</dc:creator>
  <cp:keywords/>
  <dc:description/>
  <cp:lastModifiedBy>Cynthia Majhi</cp:lastModifiedBy>
  <cp:revision>21</cp:revision>
  <dcterms:created xsi:type="dcterms:W3CDTF">2024-07-01T10:06:05Z</dcterms:created>
  <dcterms:modified xsi:type="dcterms:W3CDTF">2024-07-10T09:38:21Z</dcterms:modified>
  <cp:category/>
</cp:coreProperties>
</file>