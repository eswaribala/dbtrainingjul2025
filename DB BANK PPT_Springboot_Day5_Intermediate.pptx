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autoCompressPictures="0">
  <p:sldMasterIdLst>
    <p:sldMasterId id="2147485431" r:id="rId1"/>
    <p:sldMasterId id="2147485382" r:id="rId2"/>
  </p:sldMasterIdLst>
  <p:notesMasterIdLst>
    <p:notesMasterId r:id="rId66"/>
  </p:notesMasterIdLst>
  <p:handoutMasterIdLst>
    <p:handoutMasterId r:id="rId67"/>
  </p:handoutMasterIdLst>
  <p:sldIdLst>
    <p:sldId id="345" r:id="rId3"/>
    <p:sldId id="305" r:id="rId4"/>
    <p:sldId id="382" r:id="rId5"/>
    <p:sldId id="383" r:id="rId6"/>
    <p:sldId id="384" r:id="rId7"/>
    <p:sldId id="385" r:id="rId8"/>
    <p:sldId id="386" r:id="rId9"/>
    <p:sldId id="387" r:id="rId10"/>
    <p:sldId id="388" r:id="rId11"/>
    <p:sldId id="389" r:id="rId12"/>
    <p:sldId id="390" r:id="rId13"/>
    <p:sldId id="391" r:id="rId14"/>
    <p:sldId id="392" r:id="rId15"/>
    <p:sldId id="393" r:id="rId16"/>
    <p:sldId id="394" r:id="rId17"/>
    <p:sldId id="395" r:id="rId18"/>
    <p:sldId id="396" r:id="rId19"/>
    <p:sldId id="397" r:id="rId20"/>
    <p:sldId id="398" r:id="rId21"/>
    <p:sldId id="399" r:id="rId22"/>
    <p:sldId id="400" r:id="rId23"/>
    <p:sldId id="401" r:id="rId24"/>
    <p:sldId id="402" r:id="rId25"/>
    <p:sldId id="403" r:id="rId26"/>
    <p:sldId id="404" r:id="rId27"/>
    <p:sldId id="405" r:id="rId28"/>
    <p:sldId id="406" r:id="rId29"/>
    <p:sldId id="409" r:id="rId30"/>
    <p:sldId id="410" r:id="rId31"/>
    <p:sldId id="411" r:id="rId32"/>
    <p:sldId id="412" r:id="rId33"/>
    <p:sldId id="413" r:id="rId34"/>
    <p:sldId id="414" r:id="rId35"/>
    <p:sldId id="415" r:id="rId36"/>
    <p:sldId id="416" r:id="rId37"/>
    <p:sldId id="417" r:id="rId38"/>
    <p:sldId id="418" r:id="rId39"/>
    <p:sldId id="370" r:id="rId40"/>
    <p:sldId id="419" r:id="rId41"/>
    <p:sldId id="420" r:id="rId42"/>
    <p:sldId id="421" r:id="rId43"/>
    <p:sldId id="422" r:id="rId44"/>
    <p:sldId id="423" r:id="rId45"/>
    <p:sldId id="424" r:id="rId46"/>
    <p:sldId id="425" r:id="rId47"/>
    <p:sldId id="426" r:id="rId48"/>
    <p:sldId id="427" r:id="rId49"/>
    <p:sldId id="428" r:id="rId50"/>
    <p:sldId id="429" r:id="rId51"/>
    <p:sldId id="430" r:id="rId52"/>
    <p:sldId id="381" r:id="rId53"/>
    <p:sldId id="431" r:id="rId54"/>
    <p:sldId id="432" r:id="rId55"/>
    <p:sldId id="433" r:id="rId56"/>
    <p:sldId id="348" r:id="rId57"/>
    <p:sldId id="434" r:id="rId58"/>
    <p:sldId id="435" r:id="rId59"/>
    <p:sldId id="407" r:id="rId60"/>
    <p:sldId id="437" r:id="rId61"/>
    <p:sldId id="408" r:id="rId62"/>
    <p:sldId id="438" r:id="rId63"/>
    <p:sldId id="439" r:id="rId64"/>
    <p:sldId id="436" r:id="rId65"/>
  </p:sldIdLst>
  <p:sldSz cx="9144000" cy="5143500" type="screen16x9"/>
  <p:notesSz cx="6794500" cy="9906000"/>
  <p:embeddedFontLst>
    <p:embeddedFont>
      <p:font typeface="ＭＳ Ｐゴシック" panose="020B0600070205080204" pitchFamily="34" charset="-128"/>
      <p:regular r:id="rId68"/>
    </p:embeddedFont>
    <p:embeddedFont>
      <p:font typeface="Deutsche Bank Text" panose="020B0604020202020204" charset="0"/>
      <p:regular r:id="rId69"/>
      <p:italic r:id="rId70"/>
    </p:embeddedFont>
  </p:embeddedFontLst>
  <p:defaultTextStyle>
    <a:defPPr>
      <a:defRPr lang="de-DE"/>
    </a:defPPr>
    <a:lvl1pPr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1pPr>
    <a:lvl2pPr marL="342353" indent="-31320"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2pPr>
    <a:lvl3pPr marL="685785" indent="-63719"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3pPr>
    <a:lvl4pPr marL="1029218" indent="-96118"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4pPr>
    <a:lvl5pPr marL="1372650" indent="-128518"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5pPr>
    <a:lvl6pPr marL="1555166" algn="l" defTabSz="622066" rtl="0" eaLnBrk="1" latinLnBrk="0" hangingPunct="1">
      <a:defRPr sz="1361" kern="1200">
        <a:solidFill>
          <a:schemeClr val="tx1"/>
        </a:solidFill>
        <a:latin typeface="Arial" charset="0"/>
        <a:ea typeface="+mn-ea"/>
        <a:cs typeface="Arial" charset="0"/>
      </a:defRPr>
    </a:lvl6pPr>
    <a:lvl7pPr marL="1866199" algn="l" defTabSz="622066" rtl="0" eaLnBrk="1" latinLnBrk="0" hangingPunct="1">
      <a:defRPr sz="1361" kern="1200">
        <a:solidFill>
          <a:schemeClr val="tx1"/>
        </a:solidFill>
        <a:latin typeface="Arial" charset="0"/>
        <a:ea typeface="+mn-ea"/>
        <a:cs typeface="Arial" charset="0"/>
      </a:defRPr>
    </a:lvl7pPr>
    <a:lvl8pPr marL="2177232" algn="l" defTabSz="622066" rtl="0" eaLnBrk="1" latinLnBrk="0" hangingPunct="1">
      <a:defRPr sz="1361" kern="1200">
        <a:solidFill>
          <a:schemeClr val="tx1"/>
        </a:solidFill>
        <a:latin typeface="Arial" charset="0"/>
        <a:ea typeface="+mn-ea"/>
        <a:cs typeface="Arial" charset="0"/>
      </a:defRPr>
    </a:lvl8pPr>
    <a:lvl9pPr marL="2488265" algn="l" defTabSz="622066" rtl="0" eaLnBrk="1" latinLnBrk="0" hangingPunct="1">
      <a:defRPr sz="1361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Module 1" id="{AF9E29CC-F782-43D6-9232-F0F0C59CC269}">
          <p14:sldIdLst>
            <p14:sldId id="345"/>
            <p14:sldId id="305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</p14:sldIdLst>
        </p14:section>
        <p14:section name="Module 2" id="{820FA16F-AFE6-47F6-8A3A-32086330E443}">
          <p14:sldIdLst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370"/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381"/>
            <p14:sldId id="431"/>
            <p14:sldId id="432"/>
            <p14:sldId id="433"/>
            <p14:sldId id="348"/>
            <p14:sldId id="434"/>
            <p14:sldId id="435"/>
          </p14:sldIdLst>
        </p14:section>
        <p14:section name="LABS" id="{4B47A179-1A02-4E84-8363-2FE258B37DCD}">
          <p14:sldIdLst>
            <p14:sldId id="407"/>
            <p14:sldId id="437"/>
            <p14:sldId id="408"/>
            <p14:sldId id="438"/>
            <p14:sldId id="439"/>
            <p14:sldId id="43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256D"/>
    <a:srgbClr val="18246A"/>
    <a:srgbClr val="1B1D5F"/>
    <a:srgbClr val="202272"/>
    <a:srgbClr val="23257B"/>
    <a:srgbClr val="671E75"/>
    <a:srgbClr val="E1F5FA"/>
    <a:srgbClr val="CCEDF9"/>
    <a:srgbClr val="1E2A78"/>
    <a:srgbClr val="121D69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7C034E-9611-07D7-2277-D94FB0D8A988}" v="57" dt="2025-07-07T17:36:31.0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4" autoAdjust="0"/>
    <p:restoredTop sz="96339" autoAdjust="0"/>
  </p:normalViewPr>
  <p:slideViewPr>
    <p:cSldViewPr snapToGrid="0" snapToObjects="1" showGuides="1">
      <p:cViewPr varScale="1">
        <p:scale>
          <a:sx n="153" d="100"/>
          <a:sy n="153" d="100"/>
        </p:scale>
        <p:origin x="486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115" d="100"/>
          <a:sy n="115" d="100"/>
        </p:scale>
        <p:origin x="5491" y="58"/>
      </p:cViewPr>
      <p:guideLst>
        <p:guide orient="horz" pos="3120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notesMaster" Target="notesMasters/notesMaster1.xml"/><Relationship Id="rId74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font" Target="fonts/font2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font" Target="fonts/font3.fntdata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microsoft.com/office/2015/10/relationships/revisionInfo" Target="revisionInfo.xml"/><Relationship Id="rId7" Type="http://schemas.openxmlformats.org/officeDocument/2006/relationships/slide" Target="slides/slide5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.sidcloud" userId="S::s.sidcloud_hotmail.com#ext#@skillsoft.onmicrosoft.com::51588e84-ca86-4ccb-847d-09a86edce369" providerId="AD" clId="Web-{D57C034E-9611-07D7-2277-D94FB0D8A988}"/>
    <pc:docChg chg="addSld modSld modSection">
      <pc:chgData name="s.sidcloud" userId="S::s.sidcloud_hotmail.com#ext#@skillsoft.onmicrosoft.com::51588e84-ca86-4ccb-847d-09a86edce369" providerId="AD" clId="Web-{D57C034E-9611-07D7-2277-D94FB0D8A988}" dt="2025-07-07T17:36:31.023" v="53" actId="20577"/>
      <pc:docMkLst>
        <pc:docMk/>
      </pc:docMkLst>
      <pc:sldChg chg="modSp add replId">
        <pc:chgData name="s.sidcloud" userId="S::s.sidcloud_hotmail.com#ext#@skillsoft.onmicrosoft.com::51588e84-ca86-4ccb-847d-09a86edce369" providerId="AD" clId="Web-{D57C034E-9611-07D7-2277-D94FB0D8A988}" dt="2025-07-07T17:35:31.443" v="3" actId="20577"/>
        <pc:sldMkLst>
          <pc:docMk/>
          <pc:sldMk cId="3843981981" sldId="437"/>
        </pc:sldMkLst>
        <pc:spChg chg="mod">
          <ac:chgData name="s.sidcloud" userId="S::s.sidcloud_hotmail.com#ext#@skillsoft.onmicrosoft.com::51588e84-ca86-4ccb-847d-09a86edce369" providerId="AD" clId="Web-{D57C034E-9611-07D7-2277-D94FB0D8A988}" dt="2025-07-07T17:35:31.443" v="3" actId="20577"/>
          <ac:spMkLst>
            <pc:docMk/>
            <pc:sldMk cId="3843981981" sldId="437"/>
            <ac:spMk id="2" creationId="{59F2C234-5F38-FC57-90C0-F6D1188E1113}"/>
          </ac:spMkLst>
        </pc:spChg>
      </pc:sldChg>
      <pc:sldChg chg="modSp add replId">
        <pc:chgData name="s.sidcloud" userId="S::s.sidcloud_hotmail.com#ext#@skillsoft.onmicrosoft.com::51588e84-ca86-4ccb-847d-09a86edce369" providerId="AD" clId="Web-{D57C034E-9611-07D7-2277-D94FB0D8A988}" dt="2025-07-07T17:35:50.178" v="20" actId="20577"/>
        <pc:sldMkLst>
          <pc:docMk/>
          <pc:sldMk cId="4066234586" sldId="438"/>
        </pc:sldMkLst>
        <pc:spChg chg="mod">
          <ac:chgData name="s.sidcloud" userId="S::s.sidcloud_hotmail.com#ext#@skillsoft.onmicrosoft.com::51588e84-ca86-4ccb-847d-09a86edce369" providerId="AD" clId="Web-{D57C034E-9611-07D7-2277-D94FB0D8A988}" dt="2025-07-07T17:35:50.178" v="20" actId="20577"/>
          <ac:spMkLst>
            <pc:docMk/>
            <pc:sldMk cId="4066234586" sldId="438"/>
            <ac:spMk id="2" creationId="{3C8278E4-5A61-2AEF-C4A2-73F6D3F66824}"/>
          </ac:spMkLst>
        </pc:spChg>
      </pc:sldChg>
      <pc:sldChg chg="modSp add replId">
        <pc:chgData name="s.sidcloud" userId="S::s.sidcloud_hotmail.com#ext#@skillsoft.onmicrosoft.com::51588e84-ca86-4ccb-847d-09a86edce369" providerId="AD" clId="Web-{D57C034E-9611-07D7-2277-D94FB0D8A988}" dt="2025-07-07T17:36:31.023" v="53" actId="20577"/>
        <pc:sldMkLst>
          <pc:docMk/>
          <pc:sldMk cId="1898807776" sldId="439"/>
        </pc:sldMkLst>
        <pc:spChg chg="mod">
          <ac:chgData name="s.sidcloud" userId="S::s.sidcloud_hotmail.com#ext#@skillsoft.onmicrosoft.com::51588e84-ca86-4ccb-847d-09a86edce369" providerId="AD" clId="Web-{D57C034E-9611-07D7-2277-D94FB0D8A988}" dt="2025-07-07T17:36:31.023" v="53" actId="20577"/>
          <ac:spMkLst>
            <pc:docMk/>
            <pc:sldMk cId="1898807776" sldId="439"/>
            <ac:spMk id="2" creationId="{01AF772B-1A43-080D-267D-395C2B4383E3}"/>
          </ac:spMkLst>
        </pc:spChg>
      </pc:sldChg>
    </pc:docChg>
  </pc:docChgLst>
  <pc:docChgLst>
    <pc:chgData name="Siddharth Sharma" userId="328151699659f444" providerId="Windows Live" clId="Web-{2EF34443-3F7C-4955-9F18-955AA92245D0}"/>
    <pc:docChg chg="modSld">
      <pc:chgData name="Siddharth Sharma" userId="328151699659f444" providerId="Windows Live" clId="Web-{2EF34443-3F7C-4955-9F18-955AA92245D0}" dt="2024-07-27T11:35:00.251" v="2" actId="20577"/>
      <pc:docMkLst>
        <pc:docMk/>
      </pc:docMkLst>
      <pc:sldChg chg="modSp">
        <pc:chgData name="Siddharth Sharma" userId="328151699659f444" providerId="Windows Live" clId="Web-{2EF34443-3F7C-4955-9F18-955AA92245D0}" dt="2024-07-27T11:24:18.860" v="0" actId="1076"/>
        <pc:sldMkLst>
          <pc:docMk/>
          <pc:sldMk cId="3492648122" sldId="398"/>
        </pc:sldMkLst>
      </pc:sldChg>
      <pc:sldChg chg="modSp">
        <pc:chgData name="Siddharth Sharma" userId="328151699659f444" providerId="Windows Live" clId="Web-{2EF34443-3F7C-4955-9F18-955AA92245D0}" dt="2024-07-27T11:35:00.251" v="2" actId="20577"/>
        <pc:sldMkLst>
          <pc:docMk/>
          <pc:sldMk cId="1674323337" sldId="42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GB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9BAC376-ACF6-4037-8F33-4FBF19ACBAFA}" type="datetime1">
              <a:rPr lang="en-US">
                <a:latin typeface="Deutsche Bank Text" panose="020B0503020202030204" pitchFamily="34" charset="0"/>
                <a:cs typeface="Deutsche Bank Text" panose="020B0503020202030204" pitchFamily="34" charset="0"/>
              </a:rPr>
              <a:pPr>
                <a:defRPr/>
              </a:pPr>
              <a:t>7/7/2025</a:t>
            </a:fld>
            <a:endParaRPr lang="en-GB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GB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10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9938E28-B09B-447E-BCAC-DE51036E3ED3}" type="slidenum">
              <a:rPr lang="en-GB">
                <a:latin typeface="Deutsche Bank Text" panose="020B0503020202030204" pitchFamily="34" charset="0"/>
                <a:cs typeface="Deutsche Bank Text" panose="020B0503020202030204" pitchFamily="34" charset="0"/>
              </a:rPr>
              <a:pPr>
                <a:defRPr/>
              </a:pPr>
              <a:t>‹#›</a:t>
            </a:fld>
            <a:endParaRPr lang="en-GB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1513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0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Deutsche Bank Text" panose="020B0503020202030204" pitchFamily="34" charset="0"/>
                <a:ea typeface="+mn-ea"/>
                <a:cs typeface="Deutsche Bank Text" panose="020B0503020202030204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defRPr/>
            </a:pPr>
            <a:fld id="{43EBB1D3-38BD-4B0D-B98C-370541E46E48}" type="datetime1">
              <a:rPr lang="en-US" smtClean="0"/>
              <a:pPr>
                <a:defRPr/>
              </a:pPr>
              <a:t>7/7/2025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" y="742950"/>
            <a:ext cx="6604000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05350"/>
            <a:ext cx="5435600" cy="44577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Deutsche Bank Text" panose="020B0503020202030204" pitchFamily="34" charset="0"/>
                <a:ea typeface="+mn-ea"/>
                <a:cs typeface="Deutsche Bank Text" panose="020B0503020202030204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10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58564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ＭＳ Ｐゴシック" pitchFamily="-106" charset="-128"/>
      </a:defRPr>
    </a:lvl1pPr>
    <a:lvl2pPr marL="311033"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+mn-cs"/>
      </a:defRPr>
    </a:lvl2pPr>
    <a:lvl3pPr marL="622066"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+mn-cs"/>
      </a:defRPr>
    </a:lvl3pPr>
    <a:lvl4pPr marL="933099"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+mn-cs"/>
      </a:defRPr>
    </a:lvl4pPr>
    <a:lvl5pPr marL="1244133"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+mn-cs"/>
      </a:defRPr>
    </a:lvl5pPr>
    <a:lvl6pPr marL="1555166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6pPr>
    <a:lvl7pPr marL="1866199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7pPr>
    <a:lvl8pPr marL="2177232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8pPr>
    <a:lvl9pPr marL="2488265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0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5788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7456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2058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3841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27506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2406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03674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6689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578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13643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24443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50131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03755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08844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04533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10447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53517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54025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57888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74567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30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57091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31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61454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32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84518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33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72031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34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28423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35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95873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36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61013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38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74355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39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33007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40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29353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43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43312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44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37922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45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31734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46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12198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47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61816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51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90658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52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8403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otif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8675094C-6D1B-DA5D-A98F-A3608A45C1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7D5582B9-A14B-4A21-8DF9-86F8C3E76015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</p:spTree>
    <p:extLst>
      <p:ext uri="{BB962C8B-B14F-4D97-AF65-F5344CB8AC3E}">
        <p14:creationId xmlns:p14="http://schemas.microsoft.com/office/powerpoint/2010/main" val="1437373360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otif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F55DC8F6-EA8B-0DFB-6CB9-063D3DC092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Google Shape;12;p7">
            <a:extLst>
              <a:ext uri="{FF2B5EF4-FFF2-40B4-BE49-F238E27FC236}">
                <a16:creationId xmlns:a16="http://schemas.microsoft.com/office/drawing/2014/main" id="{C0671CDF-CBD6-A4B5-7F49-5EE9C863640F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26421A6F-196D-40A6-230B-CAC806CB44B5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14D8C02C-9441-F254-5EE6-5CE3B2F8F371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307441855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otif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4C5F394-0EB6-5BE1-B52E-84BABE9DE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Google Shape;12;p7">
            <a:extLst>
              <a:ext uri="{FF2B5EF4-FFF2-40B4-BE49-F238E27FC236}">
                <a16:creationId xmlns:a16="http://schemas.microsoft.com/office/drawing/2014/main" id="{CD585D08-BB24-28CD-E5CE-6562806D13BB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0EA4A7D6-1DAA-B051-5AED-3861D270795C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047B53F5-4203-E6BF-38DB-A0516B3987A8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363265782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motif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4C5F394-0EB6-5BE1-B52E-84BABE9DE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Google Shape;12;p7">
            <a:extLst>
              <a:ext uri="{FF2B5EF4-FFF2-40B4-BE49-F238E27FC236}">
                <a16:creationId xmlns:a16="http://schemas.microsoft.com/office/drawing/2014/main" id="{CD585D08-BB24-28CD-E5CE-6562806D13BB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02ED9A7C-65FF-4367-8593-09EFEDC37EE2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3580BBC9-37EC-89A3-2DEA-0582A4D4FC02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454086197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motif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4C5F394-0EB6-5BE1-B52E-84BABE9DE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Google Shape;12;p7">
            <a:extLst>
              <a:ext uri="{FF2B5EF4-FFF2-40B4-BE49-F238E27FC236}">
                <a16:creationId xmlns:a16="http://schemas.microsoft.com/office/drawing/2014/main" id="{CD585D08-BB24-28CD-E5CE-6562806D13BB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B37039A0-AFF2-091B-FE74-0F0F0481FBAD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8C05AF85-84F7-FA11-BB3D-37A3D626CACF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41531847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motif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4C5F394-0EB6-5BE1-B52E-84BABE9DE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Google Shape;12;p7">
            <a:extLst>
              <a:ext uri="{FF2B5EF4-FFF2-40B4-BE49-F238E27FC236}">
                <a16:creationId xmlns:a16="http://schemas.microsoft.com/office/drawing/2014/main" id="{CD585D08-BB24-28CD-E5CE-6562806D13BB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B1B0E698-121E-1017-754B-BB3D946E242E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69BC94E3-938A-09B3-5E44-CB93EF59C0C8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113873569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Motif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6A1C39-83E4-3A0E-2953-8177B5997A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2;p7">
            <a:extLst>
              <a:ext uri="{FF2B5EF4-FFF2-40B4-BE49-F238E27FC236}">
                <a16:creationId xmlns:a16="http://schemas.microsoft.com/office/drawing/2014/main" id="{672C52A1-3847-B8CF-F905-F2666F2B1032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86E28985-449B-BE87-B1A0-7513213870D2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8BFECFFB-D440-20ED-B182-56633829A3D0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88140168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ark blu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900000"/>
            <a:ext cx="7794000" cy="3798000"/>
          </a:xfrm>
          <a:prstGeom prst="rect">
            <a:avLst/>
          </a:prstGeom>
          <a:gradFill flip="none" rotWithShape="1">
            <a:gsLst>
              <a:gs pos="0">
                <a:srgbClr val="1E2A78"/>
              </a:gs>
              <a:gs pos="0">
                <a:srgbClr val="16184E"/>
              </a:gs>
              <a:gs pos="50000">
                <a:srgbClr val="1E2A78">
                  <a:shade val="67500"/>
                  <a:satMod val="115000"/>
                </a:srgbClr>
              </a:gs>
              <a:gs pos="100000">
                <a:srgbClr val="1E2A78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rgbClr val="00A3E0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3" name="TextBox 19">
            <a:extLst>
              <a:ext uri="{FF2B5EF4-FFF2-40B4-BE49-F238E27FC236}">
                <a16:creationId xmlns:a16="http://schemas.microsoft.com/office/drawing/2014/main" id="{6484FE55-51FD-EE64-5049-84B77457AFCF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402642732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dark blue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900000"/>
            <a:ext cx="7794000" cy="3798000"/>
          </a:xfrm>
          <a:prstGeom prst="rect">
            <a:avLst/>
          </a:prstGeom>
          <a:noFill/>
          <a:ln>
            <a:solidFill>
              <a:srgbClr val="1E2A78"/>
            </a:solidFill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7D5582B9-A14B-4A21-8DF9-86F8C3E76015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1E2A78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rgbClr val="1E2A78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rgbClr val="00A3E0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1E2A78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BECA304E-EBE3-4C8E-68E1-5712F2D2D803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rgbClr val="1E2A78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05200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ark blue a">
    <p:bg>
      <p:bgPr>
        <a:gradFill>
          <a:gsLst>
            <a:gs pos="0">
              <a:srgbClr val="16184E"/>
            </a:gs>
            <a:gs pos="60000">
              <a:srgbClr val="121D69"/>
            </a:gs>
            <a:gs pos="100000">
              <a:srgbClr val="1E2A78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gradFill flip="none" rotWithShape="1">
            <a:gsLst>
              <a:gs pos="0">
                <a:srgbClr val="1E2A78"/>
              </a:gs>
              <a:gs pos="0">
                <a:srgbClr val="16184E"/>
              </a:gs>
              <a:gs pos="50000">
                <a:srgbClr val="1E2A78">
                  <a:shade val="67500"/>
                  <a:satMod val="115000"/>
                </a:srgbClr>
              </a:gs>
              <a:gs pos="100000">
                <a:srgbClr val="1E2A78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" name="Textplatzhalter 28">
            <a:extLst>
              <a:ext uri="{FF2B5EF4-FFF2-40B4-BE49-F238E27FC236}">
                <a16:creationId xmlns:a16="http://schemas.microsoft.com/office/drawing/2014/main" id="{CA990533-1AB6-AD8B-9943-917D9C9EEF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122363"/>
            <a:ext cx="7342187" cy="199820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rgbClr val="00A3E0"/>
                </a:solidFill>
              </a:defRPr>
            </a:lvl1pPr>
            <a:lvl2pPr>
              <a:defRPr sz="3000"/>
            </a:lvl2pPr>
          </a:lstStyle>
          <a:p>
            <a:pPr lvl="0"/>
            <a:r>
              <a:rPr lang="en-GB" noProof="0" dirty="0"/>
              <a:t>Click to edit topline</a:t>
            </a:r>
          </a:p>
          <a:p>
            <a:pPr lvl="1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358632534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ark blu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;p7">
            <a:extLst>
              <a:ext uri="{FF2B5EF4-FFF2-40B4-BE49-F238E27FC236}">
                <a16:creationId xmlns:a16="http://schemas.microsoft.com/office/drawing/2014/main" id="{55C03535-6265-42EE-6675-8963596CE341}"/>
              </a:ext>
            </a:extLst>
          </p:cNvPr>
          <p:cNvSpPr/>
          <p:nvPr userDrawn="1"/>
        </p:nvSpPr>
        <p:spPr>
          <a:xfrm>
            <a:off x="2825513" y="898525"/>
            <a:ext cx="3450027" cy="3797300"/>
          </a:xfrm>
          <a:prstGeom prst="rect">
            <a:avLst/>
          </a:prstGeom>
          <a:gradFill flip="none" rotWithShape="1">
            <a:gsLst>
              <a:gs pos="0">
                <a:srgbClr val="1E2A78"/>
              </a:gs>
              <a:gs pos="0">
                <a:srgbClr val="16184E">
                  <a:lumMod val="95209"/>
                  <a:lumOff val="4791"/>
                </a:srgbClr>
              </a:gs>
              <a:gs pos="40000">
                <a:srgbClr val="1E2A78">
                  <a:shade val="67500"/>
                  <a:satMod val="115000"/>
                </a:srgbClr>
              </a:gs>
              <a:gs pos="60000">
                <a:srgbClr val="1A2673"/>
              </a:gs>
              <a:gs pos="100000">
                <a:srgbClr val="1E2A78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6280836" y="448525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3" name="Textplatzhalter 28">
            <a:extLst>
              <a:ext uri="{FF2B5EF4-FFF2-40B4-BE49-F238E27FC236}">
                <a16:creationId xmlns:a16="http://schemas.microsoft.com/office/drawing/2014/main" id="{98EFC762-1F5A-5D2E-0A3E-4D9CA051CE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348525"/>
            <a:ext cx="7342187" cy="131767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1500">
                <a:solidFill>
                  <a:srgbClr val="00A3E0"/>
                </a:solidFill>
              </a:defRPr>
            </a:lvl1pPr>
            <a:lvl2pPr>
              <a:defRPr sz="2000"/>
            </a:lvl2pPr>
            <a:lvl3pPr marL="0" indent="0">
              <a:buNone/>
              <a:defRPr sz="3000"/>
            </a:lvl3pPr>
          </a:lstStyle>
          <a:p>
            <a:pPr lvl="0"/>
            <a:r>
              <a:rPr lang="en-GB" noProof="0" dirty="0"/>
              <a:t>Click to edit topline</a:t>
            </a:r>
          </a:p>
          <a:p>
            <a:pPr lvl="2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270095566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84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ark blue c">
    <p:bg>
      <p:bgPr>
        <a:solidFill>
          <a:srgbClr val="1E2A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;p7">
            <a:extLst>
              <a:ext uri="{FF2B5EF4-FFF2-40B4-BE49-F238E27FC236}">
                <a16:creationId xmlns:a16="http://schemas.microsoft.com/office/drawing/2014/main" id="{478F2925-04D1-4766-6CA4-84070AEF58B6}"/>
              </a:ext>
            </a:extLst>
          </p:cNvPr>
          <p:cNvSpPr/>
          <p:nvPr userDrawn="1"/>
        </p:nvSpPr>
        <p:spPr>
          <a:xfrm>
            <a:off x="2825513" y="898525"/>
            <a:ext cx="3450027" cy="3797300"/>
          </a:xfrm>
          <a:prstGeom prst="rect">
            <a:avLst/>
          </a:prstGeom>
          <a:gradFill flip="none" rotWithShape="1">
            <a:gsLst>
              <a:gs pos="0">
                <a:srgbClr val="1E2A78"/>
              </a:gs>
              <a:gs pos="0">
                <a:srgbClr val="16184E">
                  <a:lumMod val="95209"/>
                  <a:lumOff val="4791"/>
                </a:srgbClr>
              </a:gs>
              <a:gs pos="50000">
                <a:srgbClr val="1E2A78">
                  <a:shade val="67500"/>
                  <a:satMod val="115000"/>
                </a:srgbClr>
              </a:gs>
              <a:gs pos="100000">
                <a:srgbClr val="19256D"/>
              </a:gs>
            </a:gsLst>
            <a:lin ang="5400000" scaled="0"/>
            <a:tileRect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6280836" y="448525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2" name="Textplatzhalter 28">
            <a:extLst>
              <a:ext uri="{FF2B5EF4-FFF2-40B4-BE49-F238E27FC236}">
                <a16:creationId xmlns:a16="http://schemas.microsoft.com/office/drawing/2014/main" id="{2D154478-B3C3-CC94-6883-38EF02BC66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348525"/>
            <a:ext cx="7342187" cy="131767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1500">
                <a:solidFill>
                  <a:srgbClr val="00A3E0"/>
                </a:solidFill>
              </a:defRPr>
            </a:lvl1pPr>
            <a:lvl2pPr>
              <a:defRPr sz="2000"/>
            </a:lvl2pPr>
            <a:lvl3pPr marL="0" indent="0">
              <a:buNone/>
              <a:defRPr sz="3000"/>
            </a:lvl3pPr>
          </a:lstStyle>
          <a:p>
            <a:pPr lvl="0"/>
            <a:r>
              <a:rPr lang="en-GB" noProof="0" dirty="0"/>
              <a:t>Click to edit topline</a:t>
            </a:r>
          </a:p>
          <a:p>
            <a:pPr lvl="2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104641233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84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Motif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6A1C39-83E4-3A0E-2953-8177B5997A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2" name="Textplatzhalter 28">
            <a:extLst>
              <a:ext uri="{FF2B5EF4-FFF2-40B4-BE49-F238E27FC236}">
                <a16:creationId xmlns:a16="http://schemas.microsoft.com/office/drawing/2014/main" id="{BB54C801-FE4C-70B2-6F05-BCDA55557D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122363"/>
            <a:ext cx="7342187" cy="199820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rgbClr val="00A3E0"/>
                </a:solidFill>
              </a:defRPr>
            </a:lvl1pPr>
            <a:lvl2pPr>
              <a:defRPr sz="3000"/>
            </a:lvl2pPr>
          </a:lstStyle>
          <a:p>
            <a:pPr lvl="0"/>
            <a:r>
              <a:rPr lang="en-GB" noProof="0" dirty="0"/>
              <a:t>Click to edit topline</a:t>
            </a:r>
          </a:p>
          <a:p>
            <a:pPr lvl="1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2583516740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Motif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4509FB4-19F7-0C11-F4C6-EC7612DD28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900000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4" name="Textplatzhalter 28">
            <a:extLst>
              <a:ext uri="{FF2B5EF4-FFF2-40B4-BE49-F238E27FC236}">
                <a16:creationId xmlns:a16="http://schemas.microsoft.com/office/drawing/2014/main" id="{B42C112B-6D63-7D0F-AE00-6B8EC125D9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122363"/>
            <a:ext cx="7342187" cy="199820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rgbClr val="00A3E0"/>
                </a:solidFill>
              </a:defRPr>
            </a:lvl1pPr>
            <a:lvl2pPr>
              <a:defRPr sz="3000"/>
            </a:lvl2pPr>
          </a:lstStyle>
          <a:p>
            <a:pPr lvl="0"/>
            <a:r>
              <a:rPr lang="en-GB" noProof="0" dirty="0"/>
              <a:t>Click to edit topline</a:t>
            </a:r>
          </a:p>
          <a:p>
            <a:pPr lvl="1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1866107160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AC88D1-244E-446D-8A03-B95B197796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8138" y="1016000"/>
            <a:ext cx="8469311" cy="3622675"/>
          </a:xfrm>
        </p:spPr>
        <p:txBody>
          <a:bodyPr numCol="2" spcCol="273600"/>
          <a:lstStyle>
            <a:lvl1pPr marL="269875" indent="-269875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 sz="1200"/>
            </a:lvl1pPr>
            <a:lvl2pPr marL="538163" indent="-269875">
              <a:lnSpc>
                <a:spcPct val="100000"/>
              </a:lnSpc>
              <a:buFont typeface="+mj-lt"/>
              <a:buNone/>
              <a:tabLst>
                <a:tab pos="538163" algn="l"/>
                <a:tab pos="7175500" algn="r"/>
              </a:tabLst>
              <a:defRPr sz="1200" u="none"/>
            </a:lvl2pPr>
          </a:lstStyle>
          <a:p>
            <a:pPr lvl="0"/>
            <a:r>
              <a:rPr lang="en-GB" noProof="0" dirty="0"/>
              <a:t>Chapter</a:t>
            </a:r>
          </a:p>
          <a:p>
            <a:pPr lvl="1"/>
            <a:r>
              <a:rPr lang="en-GB" noProof="0" dirty="0"/>
              <a:t>1.1	Subchapter	Page X</a:t>
            </a:r>
          </a:p>
        </p:txBody>
      </p:sp>
      <p:sp>
        <p:nvSpPr>
          <p:cNvPr id="15" name="Foliennummernplatzhalter 1">
            <a:extLst>
              <a:ext uri="{FF2B5EF4-FFF2-40B4-BE49-F238E27FC236}">
                <a16:creationId xmlns:a16="http://schemas.microsoft.com/office/drawing/2014/main" id="{4A32BABE-48EC-85B4-13D6-56EBD3CE2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7" name="Title Placeholder 4">
            <a:extLst>
              <a:ext uri="{FF2B5EF4-FFF2-40B4-BE49-F238E27FC236}">
                <a16:creationId xmlns:a16="http://schemas.microsoft.com/office/drawing/2014/main" id="{C70868BA-483D-9E53-E24E-BC0DE093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19" name="Fußzeilenplatzhalter 2">
            <a:extLst>
              <a:ext uri="{FF2B5EF4-FFF2-40B4-BE49-F238E27FC236}">
                <a16:creationId xmlns:a16="http://schemas.microsoft.com/office/drawing/2014/main" id="{0007B342-5D62-7150-D615-B32255D02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6D2FD727-7DF9-7F06-5290-44E178BCADC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582186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2971">
          <p15:clr>
            <a:srgbClr val="FBAE40"/>
          </p15:clr>
        </p15:guide>
        <p15:guide id="3" pos="278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AC88D1-244E-446D-8A03-B95B197796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8400" y="1015199"/>
            <a:ext cx="8467463" cy="3623475"/>
          </a:xfrm>
        </p:spPr>
        <p:txBody>
          <a:bodyPr numCol="2" spcCol="273600"/>
          <a:lstStyle>
            <a:lvl1pPr marL="252000" indent="-2520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 sz="1200"/>
            </a:lvl1pPr>
            <a:lvl2pPr marL="504000" indent="-252000">
              <a:lnSpc>
                <a:spcPct val="100000"/>
              </a:lnSpc>
              <a:buFont typeface="+mj-lt"/>
              <a:buNone/>
              <a:tabLst>
                <a:tab pos="7175500" algn="r"/>
              </a:tabLst>
              <a:defRPr sz="1000" u="none"/>
            </a:lvl2pPr>
          </a:lstStyle>
          <a:p>
            <a:pPr lvl="0"/>
            <a:r>
              <a:rPr lang="en-GB" noProof="0" dirty="0"/>
              <a:t>Chapter</a:t>
            </a:r>
          </a:p>
          <a:p>
            <a:pPr lvl="1"/>
            <a:r>
              <a:rPr lang="en-GB" noProof="0" dirty="0"/>
              <a:t>1.1	Subchapter	Page X</a:t>
            </a:r>
          </a:p>
        </p:txBody>
      </p:sp>
      <p:sp>
        <p:nvSpPr>
          <p:cNvPr id="15" name="Foliennummernplatzhalter 1">
            <a:extLst>
              <a:ext uri="{FF2B5EF4-FFF2-40B4-BE49-F238E27FC236}">
                <a16:creationId xmlns:a16="http://schemas.microsoft.com/office/drawing/2014/main" id="{4A32BABE-48EC-85B4-13D6-56EBD3CE2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7" name="Title Placeholder 4">
            <a:extLst>
              <a:ext uri="{FF2B5EF4-FFF2-40B4-BE49-F238E27FC236}">
                <a16:creationId xmlns:a16="http://schemas.microsoft.com/office/drawing/2014/main" id="{C70868BA-483D-9E53-E24E-BC0DE093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19" name="Fußzeilenplatzhalter 2">
            <a:extLst>
              <a:ext uri="{FF2B5EF4-FFF2-40B4-BE49-F238E27FC236}">
                <a16:creationId xmlns:a16="http://schemas.microsoft.com/office/drawing/2014/main" id="{0007B342-5D62-7150-D615-B32255D02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6D2FD727-7DF9-7F06-5290-44E178BCADC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671075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2971">
          <p15:clr>
            <a:srgbClr val="FBAE40"/>
          </p15:clr>
        </p15:guide>
        <p15:guide id="3" pos="278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AC88D1-244E-446D-8A03-B95B197796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8138" y="1016000"/>
            <a:ext cx="8467725" cy="3622675"/>
          </a:xfrm>
        </p:spPr>
        <p:txBody>
          <a:bodyPr numCol="2" spcCol="273600"/>
          <a:lstStyle>
            <a:lvl1pPr marL="179388" indent="-179388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 sz="1000"/>
            </a:lvl1pPr>
            <a:lvl2pPr marL="446088" indent="-266700">
              <a:lnSpc>
                <a:spcPct val="100000"/>
              </a:lnSpc>
              <a:buFont typeface="+mj-lt"/>
              <a:buNone/>
              <a:tabLst>
                <a:tab pos="7175500" algn="r"/>
              </a:tabLst>
              <a:defRPr sz="1000" u="none"/>
            </a:lvl2pPr>
          </a:lstStyle>
          <a:p>
            <a:pPr lvl="0"/>
            <a:r>
              <a:rPr lang="en-GB" noProof="0" dirty="0"/>
              <a:t>Chapter</a:t>
            </a:r>
          </a:p>
          <a:p>
            <a:pPr lvl="1"/>
            <a:r>
              <a:rPr lang="en-GB" noProof="0" dirty="0"/>
              <a:t>1.1	Subchapter	Page X</a:t>
            </a:r>
          </a:p>
        </p:txBody>
      </p:sp>
      <p:sp>
        <p:nvSpPr>
          <p:cNvPr id="15" name="Foliennummernplatzhalter 1">
            <a:extLst>
              <a:ext uri="{FF2B5EF4-FFF2-40B4-BE49-F238E27FC236}">
                <a16:creationId xmlns:a16="http://schemas.microsoft.com/office/drawing/2014/main" id="{4A32BABE-48EC-85B4-13D6-56EBD3CE2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7" name="Title Placeholder 4">
            <a:extLst>
              <a:ext uri="{FF2B5EF4-FFF2-40B4-BE49-F238E27FC236}">
                <a16:creationId xmlns:a16="http://schemas.microsoft.com/office/drawing/2014/main" id="{C70868BA-483D-9E53-E24E-BC0DE093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19" name="Fußzeilenplatzhalter 2">
            <a:extLst>
              <a:ext uri="{FF2B5EF4-FFF2-40B4-BE49-F238E27FC236}">
                <a16:creationId xmlns:a16="http://schemas.microsoft.com/office/drawing/2014/main" id="{0007B342-5D62-7150-D615-B32255D02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6D2FD727-7DF9-7F06-5290-44E178BCADC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787921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2971">
          <p15:clr>
            <a:srgbClr val="FBAE40"/>
          </p15:clr>
        </p15:guide>
        <p15:guide id="3" pos="278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c 1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8" y="1015999"/>
            <a:ext cx="8467725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7258233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c 1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8" y="1015999"/>
            <a:ext cx="4144961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Inhaltsplatzhalter 13">
            <a:extLst>
              <a:ext uri="{FF2B5EF4-FFF2-40B4-BE49-F238E27FC236}">
                <a16:creationId xmlns:a16="http://schemas.microsoft.com/office/drawing/2014/main" id="{54D13192-5D33-EA9A-E52F-CF35A037118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61692" y="1015999"/>
            <a:ext cx="4145758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4766738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2936" userDrawn="1">
          <p15:clr>
            <a:srgbClr val="FBAE40"/>
          </p15:clr>
        </p15:guide>
        <p15:guide id="3" pos="282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c 2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8" y="1016000"/>
            <a:ext cx="4144961" cy="17145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Inhaltsplatzhalter 13">
            <a:extLst>
              <a:ext uri="{FF2B5EF4-FFF2-40B4-BE49-F238E27FC236}">
                <a16:creationId xmlns:a16="http://schemas.microsoft.com/office/drawing/2014/main" id="{54D13192-5D33-EA9A-E52F-CF35A037118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62488" y="1016000"/>
            <a:ext cx="4144962" cy="17145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Inhaltsplatzhalter 13">
            <a:extLst>
              <a:ext uri="{FF2B5EF4-FFF2-40B4-BE49-F238E27FC236}">
                <a16:creationId xmlns:a16="http://schemas.microsoft.com/office/drawing/2014/main" id="{84CC4C7D-7F5D-1ADB-A30E-CEAD08A0BFE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8444" y="2913063"/>
            <a:ext cx="4144961" cy="172561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Inhaltsplatzhalter 13">
            <a:extLst>
              <a:ext uri="{FF2B5EF4-FFF2-40B4-BE49-F238E27FC236}">
                <a16:creationId xmlns:a16="http://schemas.microsoft.com/office/drawing/2014/main" id="{5C26C813-FC2A-E649-F811-FFA8D670A8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662794" y="2913063"/>
            <a:ext cx="4144962" cy="172561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822893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2937" userDrawn="1">
          <p15:clr>
            <a:srgbClr val="FBAE40"/>
          </p15:clr>
        </p15:guide>
        <p15:guide id="3" pos="2824" userDrawn="1">
          <p15:clr>
            <a:srgbClr val="FBAE40"/>
          </p15:clr>
        </p15:guide>
        <p15:guide id="4" orient="horz" pos="1835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c 1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7" y="1015999"/>
            <a:ext cx="2685033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Inhaltsplatzhalter 13">
            <a:extLst>
              <a:ext uri="{FF2B5EF4-FFF2-40B4-BE49-F238E27FC236}">
                <a16:creationId xmlns:a16="http://schemas.microsoft.com/office/drawing/2014/main" id="{5CA372FA-9895-0C5F-1EC7-D1A032F9AA6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200967" y="1018599"/>
            <a:ext cx="2739458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1" name="Inhaltsplatzhalter 13">
            <a:extLst>
              <a:ext uri="{FF2B5EF4-FFF2-40B4-BE49-F238E27FC236}">
                <a16:creationId xmlns:a16="http://schemas.microsoft.com/office/drawing/2014/main" id="{883BB2EE-32A9-3A08-7709-8604193B1BD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9813" y="1015998"/>
            <a:ext cx="2686049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215490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4" pos="1905" userDrawn="1">
          <p15:clr>
            <a:srgbClr val="FBAE40"/>
          </p15:clr>
        </p15:guide>
        <p15:guide id="5" pos="2018" userDrawn="1">
          <p15:clr>
            <a:srgbClr val="FBAE40"/>
          </p15:clr>
        </p15:guide>
        <p15:guide id="6" pos="3742" userDrawn="1">
          <p15:clr>
            <a:srgbClr val="FBAE40"/>
          </p15:clr>
        </p15:guide>
        <p15:guide id="7" pos="3855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c 2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7" name="Inhaltsplatzhalter 13">
            <a:extLst>
              <a:ext uri="{FF2B5EF4-FFF2-40B4-BE49-F238E27FC236}">
                <a16:creationId xmlns:a16="http://schemas.microsoft.com/office/drawing/2014/main" id="{B30ECE1C-C670-6B68-2F14-86A63985F73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400" y="1016000"/>
            <a:ext cx="2684462" cy="171190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1" name="Inhaltsplatzhalter 13">
            <a:extLst>
              <a:ext uri="{FF2B5EF4-FFF2-40B4-BE49-F238E27FC236}">
                <a16:creationId xmlns:a16="http://schemas.microsoft.com/office/drawing/2014/main" id="{EE9A095C-F7B4-ACB2-F2F9-076925C67FC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204474" y="1016000"/>
            <a:ext cx="2736850" cy="171190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2" name="Inhaltsplatzhalter 13">
            <a:extLst>
              <a:ext uri="{FF2B5EF4-FFF2-40B4-BE49-F238E27FC236}">
                <a16:creationId xmlns:a16="http://schemas.microsoft.com/office/drawing/2014/main" id="{353DE1C3-A7F2-83E9-A120-4FE2A1FA9AF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27512" y="1016000"/>
            <a:ext cx="2680837" cy="171190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3" name="Inhaltsplatzhalter 13">
            <a:extLst>
              <a:ext uri="{FF2B5EF4-FFF2-40B4-BE49-F238E27FC236}">
                <a16:creationId xmlns:a16="http://schemas.microsoft.com/office/drawing/2014/main" id="{E47B2B28-13D4-5795-3ABD-B70AF78F25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9726" y="2909888"/>
            <a:ext cx="2684462" cy="17250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5" name="Inhaltsplatzhalter 13">
            <a:extLst>
              <a:ext uri="{FF2B5EF4-FFF2-40B4-BE49-F238E27FC236}">
                <a16:creationId xmlns:a16="http://schemas.microsoft.com/office/drawing/2014/main" id="{0779CD6A-02D9-4FC6-91F7-5992E2F89E9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203575" y="2909888"/>
            <a:ext cx="2736850" cy="17250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6" name="Inhaltsplatzhalter 13">
            <a:extLst>
              <a:ext uri="{FF2B5EF4-FFF2-40B4-BE49-F238E27FC236}">
                <a16:creationId xmlns:a16="http://schemas.microsoft.com/office/drawing/2014/main" id="{62C094EA-31F1-49C8-6434-500F1546138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26613" y="2909888"/>
            <a:ext cx="2680837" cy="17250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7896736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4" orient="horz" pos="1833" userDrawn="1">
          <p15:clr>
            <a:srgbClr val="FBAE40"/>
          </p15:clr>
        </p15:guide>
        <p15:guide id="5" pos="1905" userDrawn="1">
          <p15:clr>
            <a:srgbClr val="FBAE40"/>
          </p15:clr>
        </p15:guide>
        <p15:guide id="6" pos="2018" userDrawn="1">
          <p15:clr>
            <a:srgbClr val="FBAE40"/>
          </p15:clr>
        </p15:guide>
        <p15:guide id="7" pos="3742" userDrawn="1">
          <p15:clr>
            <a:srgbClr val="FBAE40"/>
          </p15:clr>
        </p15:guide>
        <p15:guide id="8" pos="3855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c 1p blue box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9" y="1015999"/>
            <a:ext cx="4144965" cy="3622675"/>
          </a:xfrm>
          <a:solidFill>
            <a:srgbClr val="E5F6FC"/>
          </a:solidFill>
        </p:spPr>
        <p:txBody>
          <a:bodyPr lIns="108000" tIns="108000" rIns="108000" bIns="108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Inhaltsplatzhalter 13">
            <a:extLst>
              <a:ext uri="{FF2B5EF4-FFF2-40B4-BE49-F238E27FC236}">
                <a16:creationId xmlns:a16="http://schemas.microsoft.com/office/drawing/2014/main" id="{54D13192-5D33-EA9A-E52F-CF35A037118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60900" y="1015999"/>
            <a:ext cx="4146550" cy="3622675"/>
          </a:xfrm>
          <a:solidFill>
            <a:srgbClr val="E5F6FC"/>
          </a:solidFill>
        </p:spPr>
        <p:txBody>
          <a:bodyPr lIns="108000" tIns="108000" rIns="108000" bIns="108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4403096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2936" userDrawn="1">
          <p15:clr>
            <a:srgbClr val="FBAE40"/>
          </p15:clr>
        </p15:guide>
        <p15:guide id="3" pos="282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c 1p blue box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9" y="1460500"/>
            <a:ext cx="4144966" cy="3178174"/>
          </a:xfrm>
          <a:solidFill>
            <a:srgbClr val="E5F6FC"/>
          </a:solidFill>
        </p:spPr>
        <p:txBody>
          <a:bodyPr lIns="108000" tIns="108000" rIns="108000" bIns="108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Inhaltsplatzhalter 13">
            <a:extLst>
              <a:ext uri="{FF2B5EF4-FFF2-40B4-BE49-F238E27FC236}">
                <a16:creationId xmlns:a16="http://schemas.microsoft.com/office/drawing/2014/main" id="{54D13192-5D33-EA9A-E52F-CF35A037118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62484" y="1460500"/>
            <a:ext cx="4144966" cy="3178174"/>
          </a:xfrm>
          <a:solidFill>
            <a:srgbClr val="E5F6FC"/>
          </a:solidFill>
        </p:spPr>
        <p:txBody>
          <a:bodyPr lIns="108000" tIns="108000" rIns="108000" bIns="108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857D3E1-ED2A-BFB9-AD11-2FCA92D5B0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8" y="1016000"/>
            <a:ext cx="4144966" cy="406400"/>
          </a:xfrm>
          <a:solidFill>
            <a:srgbClr val="1E2A78"/>
          </a:solidFill>
        </p:spPr>
        <p:txBody>
          <a:bodyPr lIns="108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Edit Master </a:t>
            </a:r>
            <a:r>
              <a:rPr lang="de-DE" dirty="0" err="1"/>
              <a:t>text</a:t>
            </a:r>
            <a:r>
              <a:rPr lang="de-DE" dirty="0"/>
              <a:t> style</a:t>
            </a:r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9F643515-DC98-8830-840D-88F0A16EFC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0896" y="1016000"/>
            <a:ext cx="4144966" cy="406400"/>
          </a:xfrm>
          <a:solidFill>
            <a:srgbClr val="1E2A78"/>
          </a:solidFill>
        </p:spPr>
        <p:txBody>
          <a:bodyPr lIns="108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Edit Master </a:t>
            </a:r>
            <a:r>
              <a:rPr lang="de-DE" dirty="0" err="1"/>
              <a:t>text</a:t>
            </a:r>
            <a:r>
              <a:rPr lang="de-DE" dirty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251009314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2" pos="2936" userDrawn="1">
          <p15:clr>
            <a:srgbClr val="FBAE40"/>
          </p15:clr>
        </p15:guide>
        <p15:guide id="3" pos="2824" userDrawn="1">
          <p15:clr>
            <a:srgbClr val="FBAE40"/>
          </p15:clr>
        </p15:guide>
        <p15:guide id="4" pos="288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86748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092774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234A8AF-6BA9-11CB-30CE-F32AC5ED34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138" y="1015999"/>
            <a:ext cx="7788275" cy="3622675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  <a:lvl2pPr>
              <a:defRPr sz="1000">
                <a:solidFill>
                  <a:srgbClr val="8794A1"/>
                </a:solidFill>
              </a:defRPr>
            </a:lvl2pPr>
            <a:lvl3pPr>
              <a:defRPr sz="1000">
                <a:solidFill>
                  <a:schemeClr val="tx1"/>
                </a:solidFill>
              </a:defRPr>
            </a:lvl3pPr>
            <a:lvl4pPr>
              <a:defRPr sz="800">
                <a:solidFill>
                  <a:schemeClr val="tx1"/>
                </a:solidFill>
              </a:defRPr>
            </a:lvl4pPr>
            <a:lvl5pPr>
              <a:defRPr>
                <a:solidFill>
                  <a:srgbClr val="8794A1"/>
                </a:solidFill>
              </a:defRPr>
            </a:lvl5pPr>
          </a:lstStyle>
          <a:p>
            <a:pPr lvl="0"/>
            <a:r>
              <a:rPr lang="de-DE" dirty="0"/>
              <a:t>Disclaimer </a:t>
            </a:r>
            <a:r>
              <a:rPr lang="de-DE" dirty="0" err="1"/>
              <a:t>text</a:t>
            </a:r>
            <a:endParaRPr lang="de-DE" dirty="0"/>
          </a:p>
          <a:p>
            <a:pPr lvl="2"/>
            <a:r>
              <a:rPr lang="de-DE" dirty="0"/>
              <a:t>Second Level</a:t>
            </a:r>
          </a:p>
          <a:p>
            <a:pPr lvl="3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03837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ntent a">
    <p:bg>
      <p:bgPr>
        <a:gradFill>
          <a:gsLst>
            <a:gs pos="0">
              <a:srgbClr val="16184E"/>
            </a:gs>
            <a:gs pos="60000">
              <a:srgbClr val="121D69"/>
            </a:gs>
            <a:gs pos="100000">
              <a:srgbClr val="1E2A78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chemeClr val="bg1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0" name="Grafik 9">
            <a:extLst>
              <a:ext uri="{FF2B5EF4-FFF2-40B4-BE49-F238E27FC236}">
                <a16:creationId xmlns:a16="http://schemas.microsoft.com/office/drawing/2014/main" id="{0B884D4E-2E62-A2AC-08DE-431DAE758A58}"/>
              </a:ext>
            </a:extLst>
          </p:cNvPr>
          <p:cNvSpPr>
            <a:spLocks noChangeAspect="1"/>
          </p:cNvSpPr>
          <p:nvPr userDrawn="1"/>
        </p:nvSpPr>
        <p:spPr>
          <a:xfrm>
            <a:off x="8467463" y="338400"/>
            <a:ext cx="338400" cy="338400"/>
          </a:xfrm>
          <a:custGeom>
            <a:avLst/>
            <a:gdLst>
              <a:gd name="connsiteX0" fmla="*/ 385667 w 2699994"/>
              <a:gd name="connsiteY0" fmla="*/ 2314346 h 2700004"/>
              <a:gd name="connsiteX1" fmla="*/ 2314146 w 2699994"/>
              <a:gd name="connsiteY1" fmla="*/ 2314346 h 2700004"/>
              <a:gd name="connsiteX2" fmla="*/ 2314146 w 2699994"/>
              <a:gd name="connsiteY2" fmla="*/ 385658 h 2700004"/>
              <a:gd name="connsiteX3" fmla="*/ 385667 w 2699994"/>
              <a:gd name="connsiteY3" fmla="*/ 385658 h 2700004"/>
              <a:gd name="connsiteX4" fmla="*/ 385667 w 2699994"/>
              <a:gd name="connsiteY4" fmla="*/ 2314346 h 2700004"/>
              <a:gd name="connsiteX5" fmla="*/ 0 w 2699994"/>
              <a:gd name="connsiteY5" fmla="*/ 0 h 2700004"/>
              <a:gd name="connsiteX6" fmla="*/ 2699995 w 2699994"/>
              <a:gd name="connsiteY6" fmla="*/ 0 h 2700004"/>
              <a:gd name="connsiteX7" fmla="*/ 2699995 w 2699994"/>
              <a:gd name="connsiteY7" fmla="*/ 2700004 h 2700004"/>
              <a:gd name="connsiteX8" fmla="*/ 0 w 2699994"/>
              <a:gd name="connsiteY8" fmla="*/ 2700004 h 2700004"/>
              <a:gd name="connsiteX9" fmla="*/ 0 w 2699994"/>
              <a:gd name="connsiteY9" fmla="*/ 0 h 2700004"/>
              <a:gd name="connsiteX10" fmla="*/ 582549 w 2699994"/>
              <a:gd name="connsiteY10" fmla="*/ 2051971 h 2700004"/>
              <a:gd name="connsiteX11" fmla="*/ 1635709 w 2699994"/>
              <a:gd name="connsiteY11" fmla="*/ 648033 h 2700004"/>
              <a:gd name="connsiteX12" fmla="*/ 2117874 w 2699994"/>
              <a:gd name="connsiteY12" fmla="*/ 648033 h 2700004"/>
              <a:gd name="connsiteX13" fmla="*/ 1064714 w 2699994"/>
              <a:gd name="connsiteY13" fmla="*/ 2051971 h 2700004"/>
              <a:gd name="connsiteX14" fmla="*/ 582549 w 2699994"/>
              <a:gd name="connsiteY14" fmla="*/ 2051971 h 2700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99994" h="2700004">
                <a:moveTo>
                  <a:pt x="385667" y="2314346"/>
                </a:moveTo>
                <a:lnTo>
                  <a:pt x="2314146" y="2314346"/>
                </a:lnTo>
                <a:lnTo>
                  <a:pt x="2314146" y="385658"/>
                </a:lnTo>
                <a:lnTo>
                  <a:pt x="385667" y="385658"/>
                </a:lnTo>
                <a:lnTo>
                  <a:pt x="385667" y="2314346"/>
                </a:lnTo>
                <a:close/>
                <a:moveTo>
                  <a:pt x="0" y="0"/>
                </a:moveTo>
                <a:lnTo>
                  <a:pt x="2699995" y="0"/>
                </a:lnTo>
                <a:lnTo>
                  <a:pt x="2699995" y="2700004"/>
                </a:lnTo>
                <a:lnTo>
                  <a:pt x="0" y="2700004"/>
                </a:lnTo>
                <a:lnTo>
                  <a:pt x="0" y="0"/>
                </a:lnTo>
                <a:close/>
                <a:moveTo>
                  <a:pt x="582549" y="2051971"/>
                </a:moveTo>
                <a:lnTo>
                  <a:pt x="1635709" y="648033"/>
                </a:lnTo>
                <a:lnTo>
                  <a:pt x="2117874" y="648033"/>
                </a:lnTo>
                <a:lnTo>
                  <a:pt x="1064714" y="2051971"/>
                </a:lnTo>
                <a:lnTo>
                  <a:pt x="582549" y="2051971"/>
                </a:ln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234A8AF-6BA9-11CB-30CE-F32AC5ED34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138" y="1015999"/>
            <a:ext cx="7788275" cy="3622675"/>
          </a:xfrm>
        </p:spPr>
        <p:txBody>
          <a:bodyPr/>
          <a:lstStyle>
            <a:lvl1pPr>
              <a:defRPr sz="1200">
                <a:solidFill>
                  <a:srgbClr val="00A3E0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EE5C55C-FC6F-43BD-470C-E7A30DD15F0B}"/>
              </a:ext>
            </a:extLst>
          </p:cNvPr>
          <p:cNvSpPr/>
          <p:nvPr userDrawn="1"/>
        </p:nvSpPr>
        <p:spPr>
          <a:xfrm>
            <a:off x="338138" y="4805100"/>
            <a:ext cx="1798363" cy="24152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pPr marL="0" indent="0">
              <a:lnSpc>
                <a:spcPts val="800"/>
              </a:lnSpc>
              <a:defRPr/>
            </a:pPr>
            <a:r>
              <a:rPr lang="en-GB" sz="700" noProof="1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Bank. </a:t>
            </a:r>
            <a:r>
              <a:rPr lang="en-GB" sz="700" noProof="1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3812640786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Motif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6A1C39-83E4-3A0E-2953-8177B5997A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2;p7">
            <a:extLst>
              <a:ext uri="{FF2B5EF4-FFF2-40B4-BE49-F238E27FC236}">
                <a16:creationId xmlns:a16="http://schemas.microsoft.com/office/drawing/2014/main" id="{672C52A1-3847-B8CF-F905-F2666F2B1032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86E28985-449B-BE87-B1A0-7513213870D2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8BFECFFB-D440-20ED-B182-56633829A3D0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3767806806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pter dark blue c">
    <p:bg>
      <p:bgPr>
        <a:solidFill>
          <a:srgbClr val="1E2A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;p7">
            <a:extLst>
              <a:ext uri="{FF2B5EF4-FFF2-40B4-BE49-F238E27FC236}">
                <a16:creationId xmlns:a16="http://schemas.microsoft.com/office/drawing/2014/main" id="{478F2925-04D1-4766-6CA4-84070AEF58B6}"/>
              </a:ext>
            </a:extLst>
          </p:cNvPr>
          <p:cNvSpPr/>
          <p:nvPr userDrawn="1"/>
        </p:nvSpPr>
        <p:spPr>
          <a:xfrm>
            <a:off x="2825513" y="898525"/>
            <a:ext cx="3450027" cy="3797300"/>
          </a:xfrm>
          <a:prstGeom prst="rect">
            <a:avLst/>
          </a:prstGeom>
          <a:gradFill flip="none" rotWithShape="1">
            <a:gsLst>
              <a:gs pos="0">
                <a:srgbClr val="1E2A78"/>
              </a:gs>
              <a:gs pos="0">
                <a:srgbClr val="16184E">
                  <a:lumMod val="95209"/>
                  <a:lumOff val="4791"/>
                </a:srgbClr>
              </a:gs>
              <a:gs pos="50000">
                <a:srgbClr val="1E2A78">
                  <a:shade val="67500"/>
                  <a:satMod val="115000"/>
                </a:srgbClr>
              </a:gs>
              <a:gs pos="100000">
                <a:srgbClr val="19256D"/>
              </a:gs>
            </a:gsLst>
            <a:lin ang="5400000" scaled="0"/>
            <a:tileRect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6280836" y="448525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2" name="Textplatzhalter 28">
            <a:extLst>
              <a:ext uri="{FF2B5EF4-FFF2-40B4-BE49-F238E27FC236}">
                <a16:creationId xmlns:a16="http://schemas.microsoft.com/office/drawing/2014/main" id="{2D154478-B3C3-CC94-6883-38EF02BC66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348525"/>
            <a:ext cx="7342187" cy="131767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1500">
                <a:solidFill>
                  <a:srgbClr val="00A3E0"/>
                </a:solidFill>
              </a:defRPr>
            </a:lvl1pPr>
            <a:lvl2pPr>
              <a:defRPr sz="2000"/>
            </a:lvl2pPr>
            <a:lvl3pPr marL="0" indent="0">
              <a:buNone/>
              <a:defRPr sz="3000"/>
            </a:lvl3pPr>
          </a:lstStyle>
          <a:p>
            <a:pPr lvl="0"/>
            <a:r>
              <a:rPr lang="en-GB" noProof="0" dirty="0"/>
              <a:t>Click to edit topline</a:t>
            </a:r>
          </a:p>
          <a:p>
            <a:pPr lvl="2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4025864292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849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motif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8675094C-6D1B-DA5D-A98F-A3608A45C1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7D5582B9-A14B-4A21-8DF9-86F8C3E76015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</p:spTree>
    <p:extLst>
      <p:ext uri="{BB962C8B-B14F-4D97-AF65-F5344CB8AC3E}">
        <p14:creationId xmlns:p14="http://schemas.microsoft.com/office/powerpoint/2010/main" val="397523109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motif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F55DC8F6-EA8B-0DFB-6CB9-063D3DC092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Google Shape;12;p7">
            <a:extLst>
              <a:ext uri="{FF2B5EF4-FFF2-40B4-BE49-F238E27FC236}">
                <a16:creationId xmlns:a16="http://schemas.microsoft.com/office/drawing/2014/main" id="{C0671CDF-CBD6-A4B5-7F49-5EE9C863640F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26421A6F-196D-40A6-230B-CAC806CB44B5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14D8C02C-9441-F254-5EE6-5CE3B2F8F371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1190730748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motif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4C5F394-0EB6-5BE1-B52E-84BABE9DE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Google Shape;12;p7">
            <a:extLst>
              <a:ext uri="{FF2B5EF4-FFF2-40B4-BE49-F238E27FC236}">
                <a16:creationId xmlns:a16="http://schemas.microsoft.com/office/drawing/2014/main" id="{CD585D08-BB24-28CD-E5CE-6562806D13BB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0EA4A7D6-1DAA-B051-5AED-3861D270795C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047B53F5-4203-E6BF-38DB-A0516B3987A8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2323424097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65C97-7830-49FC-9697-6D19DA821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4688" y="1120459"/>
            <a:ext cx="2676862" cy="14512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C2B49-C94A-476B-8639-FC6E77CEDC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5C3C28A-B976-B1E4-63A7-9E463F950C8F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802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69" r:id="rId1"/>
    <p:sldLayoutId id="2147485468" r:id="rId2"/>
    <p:sldLayoutId id="2147485455" r:id="rId3"/>
    <p:sldLayoutId id="2147485471" r:id="rId4"/>
    <p:sldLayoutId id="2147485472" r:id="rId5"/>
    <p:sldLayoutId id="2147485475" r:id="rId6"/>
    <p:sldLayoutId id="2147485474" r:id="rId7"/>
    <p:sldLayoutId id="2147485449" r:id="rId8"/>
    <p:sldLayoutId id="2147485476" r:id="rId9"/>
    <p:sldLayoutId id="2147485457" r:id="rId10"/>
    <p:sldLayoutId id="2147485464" r:id="rId11"/>
    <p:sldLayoutId id="2147485465" r:id="rId12"/>
    <p:sldLayoutId id="2147485460" r:id="rId13"/>
    <p:sldLayoutId id="2147485470" r:id="rId14"/>
  </p:sldLayoutIdLst>
  <p:transition>
    <p:wipe dir="r"/>
  </p:transition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/>
        <a:defRPr sz="1400" kern="1200" baseline="0">
          <a:solidFill>
            <a:srgbClr val="1E2A78"/>
          </a:solidFill>
          <a:latin typeface="+mj-lt"/>
          <a:ea typeface="Deutsche Bank Display" panose="020F0403020203030304" pitchFamily="34" charset="0"/>
          <a:cs typeface="Deutsche Bank Display" panose="020F04030202030303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5pPr>
      <a:lvl6pPr marL="34225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6pPr>
      <a:lvl7pPr marL="68450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7pPr>
      <a:lvl8pPr marL="102676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8pPr>
      <a:lvl9pPr marL="136901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defRPr sz="1200" kern="1200" baseline="0">
          <a:solidFill>
            <a:srgbClr val="00A3E0"/>
          </a:solidFill>
          <a:latin typeface="+mn-lt"/>
          <a:ea typeface="ＭＳ Ｐゴシック" pitchFamily="-109" charset="-128"/>
          <a:cs typeface="ＭＳ Ｐゴシック" pitchFamily="-109" charset="-128"/>
        </a:defRPr>
      </a:lvl1pPr>
      <a:lvl2pPr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defRPr sz="1200" kern="1200" baseline="0">
          <a:solidFill>
            <a:schemeClr val="bg1"/>
          </a:solidFill>
          <a:latin typeface="+mn-lt"/>
          <a:ea typeface="ＭＳ Ｐゴシック" pitchFamily="-109" charset="-128"/>
        </a:defRPr>
      </a:lvl2pPr>
      <a:lvl3pPr marL="252000" indent="-252000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200" kern="1200" baseline="0">
          <a:solidFill>
            <a:schemeClr val="bg1"/>
          </a:solidFill>
          <a:latin typeface="+mn-lt"/>
          <a:ea typeface="Deutsche Bank Text" panose="020B0503020202030204" pitchFamily="34" charset="0"/>
          <a:cs typeface="Deutsche Bank Text" panose="020B0503020202030204" pitchFamily="34" charset="0"/>
        </a:defRPr>
      </a:lvl3pPr>
      <a:lvl4pPr marL="468000" indent="-216000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000" kern="1200" baseline="0">
          <a:solidFill>
            <a:schemeClr val="bg1"/>
          </a:solidFill>
          <a:latin typeface="+mn-lt"/>
          <a:ea typeface="ＭＳ Ｐゴシック" pitchFamily="-109" charset="-128"/>
        </a:defRPr>
      </a:lvl4pPr>
      <a:lvl5pPr marL="717550" indent="-227013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000" kern="1200" baseline="0">
          <a:solidFill>
            <a:schemeClr val="bg1"/>
          </a:solidFill>
          <a:latin typeface="+mn-lt"/>
          <a:ea typeface="ＭＳ Ｐゴシック" pitchFamily="-109" charset="-128"/>
        </a:defRPr>
      </a:lvl5pPr>
      <a:lvl6pPr marL="882969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6pPr>
      <a:lvl7pPr marL="1225221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7pPr>
      <a:lvl8pPr marL="1567475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8pPr>
      <a:lvl9pPr marL="1909729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1pPr>
      <a:lvl2pPr marL="342254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2pPr>
      <a:lvl3pPr marL="684508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3pPr>
      <a:lvl4pPr marL="1026762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4pPr>
      <a:lvl5pPr marL="1369014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5pPr>
      <a:lvl6pPr marL="1711269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6pPr>
      <a:lvl7pPr marL="2053523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7pPr>
      <a:lvl8pPr marL="2395776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8pPr>
      <a:lvl9pPr marL="2738030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476" userDrawn="1">
          <p15:clr>
            <a:srgbClr val="F26B43"/>
          </p15:clr>
        </p15:guide>
        <p15:guide id="12" pos="283" userDrawn="1">
          <p15:clr>
            <a:srgbClr val="F26B43"/>
          </p15:clr>
        </p15:guide>
        <p15:guide id="13" orient="horz" pos="283" userDrawn="1">
          <p15:clr>
            <a:srgbClr val="F26B43"/>
          </p15:clr>
        </p15:guide>
        <p15:guide id="17" orient="horz" pos="565" userDrawn="1">
          <p15:clr>
            <a:srgbClr val="F26B43"/>
          </p15:clr>
        </p15:guide>
        <p15:guide id="18" orient="horz" pos="2958" userDrawn="1">
          <p15:clr>
            <a:srgbClr val="F26B43"/>
          </p15:clr>
        </p15:guide>
        <p15:guide id="19" orient="horz" pos="2822" userDrawn="1">
          <p15:clr>
            <a:srgbClr val="F26B43"/>
          </p15:clr>
        </p15:guide>
        <p15:guide id="22" pos="5050" userDrawn="1">
          <p15:clr>
            <a:srgbClr val="F26B43"/>
          </p15:clr>
        </p15:guide>
        <p15:guide id="23" orient="horz" pos="707" userDrawn="1">
          <p15:clr>
            <a:srgbClr val="F26B43"/>
          </p15:clr>
        </p15:guide>
        <p15:guide id="24" pos="5193" userDrawn="1">
          <p15:clr>
            <a:srgbClr val="F26B43"/>
          </p15:clr>
        </p15:guide>
        <p15:guide id="27" pos="425" userDrawn="1">
          <p15:clr>
            <a:srgbClr val="F26B43"/>
          </p15:clr>
        </p15:guide>
        <p15:guide id="28" orient="horz" pos="16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5B9FD7A-E47D-464F-908E-0A898F099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65C97-7830-49FC-9697-6D19DA821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8138" y="1015199"/>
            <a:ext cx="8467725" cy="36234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429F3B1B-8104-4CBB-A285-B4B3ADCCE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6EDBBC0-08FC-4FF5-93D8-319C27CD84CB}"/>
              </a:ext>
            </a:extLst>
          </p:cNvPr>
          <p:cNvSpPr/>
          <p:nvPr userDrawn="1"/>
        </p:nvSpPr>
        <p:spPr>
          <a:xfrm>
            <a:off x="338138" y="4805100"/>
            <a:ext cx="1798363" cy="24152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pPr marL="0" indent="0">
              <a:lnSpc>
                <a:spcPts val="800"/>
              </a:lnSpc>
              <a:defRPr/>
            </a:pPr>
            <a:r>
              <a:rPr lang="en-GB" sz="700" noProof="1">
                <a:solidFill>
                  <a:srgbClr val="1E2A78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Bank. </a:t>
            </a:r>
            <a:r>
              <a:rPr lang="en-GB" sz="700" noProof="1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4A4B362-19DC-4728-8691-B4DF4C9AAD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C2B49-C94A-476B-8639-FC6E77CEDC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2" name="Grafik 9">
            <a:extLst>
              <a:ext uri="{FF2B5EF4-FFF2-40B4-BE49-F238E27FC236}">
                <a16:creationId xmlns:a16="http://schemas.microsoft.com/office/drawing/2014/main" id="{B29001C1-63DA-2119-A100-853E4B7B6C6E}"/>
              </a:ext>
            </a:extLst>
          </p:cNvPr>
          <p:cNvSpPr>
            <a:spLocks noChangeAspect="1"/>
          </p:cNvSpPr>
          <p:nvPr userDrawn="1"/>
        </p:nvSpPr>
        <p:spPr>
          <a:xfrm>
            <a:off x="8467463" y="338400"/>
            <a:ext cx="338400" cy="338400"/>
          </a:xfrm>
          <a:custGeom>
            <a:avLst/>
            <a:gdLst>
              <a:gd name="connsiteX0" fmla="*/ 385667 w 2699994"/>
              <a:gd name="connsiteY0" fmla="*/ 2314346 h 2700004"/>
              <a:gd name="connsiteX1" fmla="*/ 2314146 w 2699994"/>
              <a:gd name="connsiteY1" fmla="*/ 2314346 h 2700004"/>
              <a:gd name="connsiteX2" fmla="*/ 2314146 w 2699994"/>
              <a:gd name="connsiteY2" fmla="*/ 385658 h 2700004"/>
              <a:gd name="connsiteX3" fmla="*/ 385667 w 2699994"/>
              <a:gd name="connsiteY3" fmla="*/ 385658 h 2700004"/>
              <a:gd name="connsiteX4" fmla="*/ 385667 w 2699994"/>
              <a:gd name="connsiteY4" fmla="*/ 2314346 h 2700004"/>
              <a:gd name="connsiteX5" fmla="*/ 0 w 2699994"/>
              <a:gd name="connsiteY5" fmla="*/ 0 h 2700004"/>
              <a:gd name="connsiteX6" fmla="*/ 2699995 w 2699994"/>
              <a:gd name="connsiteY6" fmla="*/ 0 h 2700004"/>
              <a:gd name="connsiteX7" fmla="*/ 2699995 w 2699994"/>
              <a:gd name="connsiteY7" fmla="*/ 2700004 h 2700004"/>
              <a:gd name="connsiteX8" fmla="*/ 0 w 2699994"/>
              <a:gd name="connsiteY8" fmla="*/ 2700004 h 2700004"/>
              <a:gd name="connsiteX9" fmla="*/ 0 w 2699994"/>
              <a:gd name="connsiteY9" fmla="*/ 0 h 2700004"/>
              <a:gd name="connsiteX10" fmla="*/ 582549 w 2699994"/>
              <a:gd name="connsiteY10" fmla="*/ 2051971 h 2700004"/>
              <a:gd name="connsiteX11" fmla="*/ 1635709 w 2699994"/>
              <a:gd name="connsiteY11" fmla="*/ 648033 h 2700004"/>
              <a:gd name="connsiteX12" fmla="*/ 2117874 w 2699994"/>
              <a:gd name="connsiteY12" fmla="*/ 648033 h 2700004"/>
              <a:gd name="connsiteX13" fmla="*/ 1064714 w 2699994"/>
              <a:gd name="connsiteY13" fmla="*/ 2051971 h 2700004"/>
              <a:gd name="connsiteX14" fmla="*/ 582549 w 2699994"/>
              <a:gd name="connsiteY14" fmla="*/ 2051971 h 2700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99994" h="2700004">
                <a:moveTo>
                  <a:pt x="385667" y="2314346"/>
                </a:moveTo>
                <a:lnTo>
                  <a:pt x="2314146" y="2314346"/>
                </a:lnTo>
                <a:lnTo>
                  <a:pt x="2314146" y="385658"/>
                </a:lnTo>
                <a:lnTo>
                  <a:pt x="385667" y="385658"/>
                </a:lnTo>
                <a:lnTo>
                  <a:pt x="385667" y="2314346"/>
                </a:lnTo>
                <a:close/>
                <a:moveTo>
                  <a:pt x="0" y="0"/>
                </a:moveTo>
                <a:lnTo>
                  <a:pt x="2699995" y="0"/>
                </a:lnTo>
                <a:lnTo>
                  <a:pt x="2699995" y="2700004"/>
                </a:lnTo>
                <a:lnTo>
                  <a:pt x="0" y="2700004"/>
                </a:lnTo>
                <a:lnTo>
                  <a:pt x="0" y="0"/>
                </a:lnTo>
                <a:close/>
                <a:moveTo>
                  <a:pt x="582549" y="2051971"/>
                </a:moveTo>
                <a:lnTo>
                  <a:pt x="1635709" y="648033"/>
                </a:lnTo>
                <a:lnTo>
                  <a:pt x="2117874" y="648033"/>
                </a:lnTo>
                <a:lnTo>
                  <a:pt x="1064714" y="2051971"/>
                </a:lnTo>
                <a:lnTo>
                  <a:pt x="582549" y="2051971"/>
                </a:lnTo>
              </a:path>
            </a:pathLst>
          </a:custGeom>
          <a:solidFill>
            <a:srgbClr val="1E2A7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592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85" r:id="rId1"/>
    <p:sldLayoutId id="2147485423" r:id="rId2"/>
    <p:sldLayoutId id="2147485424" r:id="rId3"/>
    <p:sldLayoutId id="2147485411" r:id="rId4"/>
    <p:sldLayoutId id="2147485422" r:id="rId5"/>
    <p:sldLayoutId id="2147485425" r:id="rId6"/>
    <p:sldLayoutId id="2147485426" r:id="rId7"/>
    <p:sldLayoutId id="2147485427" r:id="rId8"/>
    <p:sldLayoutId id="2147485462" r:id="rId9"/>
    <p:sldLayoutId id="2147485463" r:id="rId10"/>
    <p:sldLayoutId id="2147485428" r:id="rId11"/>
    <p:sldLayoutId id="2147485429" r:id="rId12"/>
    <p:sldLayoutId id="2147485430" r:id="rId13"/>
    <p:sldLayoutId id="2147485466" r:id="rId14"/>
    <p:sldLayoutId id="2147485477" r:id="rId15"/>
    <p:sldLayoutId id="2147485478" r:id="rId16"/>
    <p:sldLayoutId id="2147485479" r:id="rId17"/>
    <p:sldLayoutId id="2147485480" r:id="rId18"/>
    <p:sldLayoutId id="2147485481" r:id="rId19"/>
  </p:sldLayoutIdLst>
  <p:transition>
    <p:wipe dir="r"/>
  </p:transition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/>
        <a:defRPr sz="1400" kern="1200" baseline="0">
          <a:solidFill>
            <a:srgbClr val="1E2A78"/>
          </a:solidFill>
          <a:latin typeface="+mj-lt"/>
          <a:ea typeface="Deutsche Bank Text" panose="020B0503020202030204" pitchFamily="34" charset="0"/>
          <a:cs typeface="Deutsche Bank Text" panose="020B050302020203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5pPr>
      <a:lvl6pPr marL="34225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6pPr>
      <a:lvl7pPr marL="68450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7pPr>
      <a:lvl8pPr marL="102676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8pPr>
      <a:lvl9pPr marL="136901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defRPr sz="1200" kern="1200" baseline="0">
          <a:solidFill>
            <a:srgbClr val="00A3E0"/>
          </a:solidFill>
          <a:latin typeface="+mn-lt"/>
          <a:ea typeface="ＭＳ Ｐゴシック" pitchFamily="-109" charset="-128"/>
          <a:cs typeface="ＭＳ Ｐゴシック" pitchFamily="-109" charset="-128"/>
        </a:defRPr>
      </a:lvl1pPr>
      <a:lvl2pPr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defRPr sz="1200" kern="1200" baseline="0">
          <a:solidFill>
            <a:schemeClr val="tx1"/>
          </a:solidFill>
          <a:latin typeface="+mn-lt"/>
          <a:ea typeface="ＭＳ Ｐゴシック" pitchFamily="-109" charset="-128"/>
        </a:defRPr>
      </a:lvl2pPr>
      <a:lvl3pPr marL="252000" indent="-252000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200" kern="1200" baseline="0">
          <a:solidFill>
            <a:schemeClr val="tx1"/>
          </a:solidFill>
          <a:latin typeface="+mn-lt"/>
          <a:ea typeface="Deutsche Bank Text" panose="020B0503020202030204" pitchFamily="34" charset="0"/>
          <a:cs typeface="Deutsche Bank Text" panose="020B0503020202030204" pitchFamily="34" charset="0"/>
        </a:defRPr>
      </a:lvl3pPr>
      <a:lvl4pPr marL="468000" indent="-216000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000" kern="1200" baseline="0">
          <a:solidFill>
            <a:schemeClr val="tx1"/>
          </a:solidFill>
          <a:latin typeface="+mn-lt"/>
          <a:ea typeface="ＭＳ Ｐゴシック" pitchFamily="-109" charset="-128"/>
        </a:defRPr>
      </a:lvl4pPr>
      <a:lvl5pPr marL="717550" indent="-227013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000" kern="1200" baseline="0">
          <a:solidFill>
            <a:schemeClr val="tx1"/>
          </a:solidFill>
          <a:latin typeface="+mn-lt"/>
          <a:ea typeface="ＭＳ Ｐゴシック" pitchFamily="-109" charset="-128"/>
        </a:defRPr>
      </a:lvl5pPr>
      <a:lvl6pPr marL="882969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6pPr>
      <a:lvl7pPr marL="1225221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7pPr>
      <a:lvl8pPr marL="1567475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8pPr>
      <a:lvl9pPr marL="1909729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1pPr>
      <a:lvl2pPr marL="342254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2pPr>
      <a:lvl3pPr marL="684508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3pPr>
      <a:lvl4pPr marL="1026762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4pPr>
      <a:lvl5pPr marL="1369014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5pPr>
      <a:lvl6pPr marL="1711269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6pPr>
      <a:lvl7pPr marL="2053523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7pPr>
      <a:lvl8pPr marL="2395776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8pPr>
      <a:lvl9pPr marL="2738030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548">
          <p15:clr>
            <a:srgbClr val="F26B43"/>
          </p15:clr>
        </p15:guide>
        <p15:guide id="12" pos="213">
          <p15:clr>
            <a:srgbClr val="F26B43"/>
          </p15:clr>
        </p15:guide>
        <p15:guide id="13" orient="horz" pos="211">
          <p15:clr>
            <a:srgbClr val="F26B43"/>
          </p15:clr>
        </p15:guide>
        <p15:guide id="17" orient="horz" pos="427">
          <p15:clr>
            <a:srgbClr val="F26B43"/>
          </p15:clr>
        </p15:guide>
        <p15:guide id="18" orient="horz" pos="3028">
          <p15:clr>
            <a:srgbClr val="F26B43"/>
          </p15:clr>
        </p15:guide>
        <p15:guide id="19" orient="horz" pos="2599">
          <p15:clr>
            <a:srgbClr val="F26B43"/>
          </p15:clr>
        </p15:guide>
        <p15:guide id="21" orient="horz" pos="2813">
          <p15:clr>
            <a:srgbClr val="F26B43"/>
          </p15:clr>
        </p15:guide>
        <p15:guide id="22" pos="5332">
          <p15:clr>
            <a:srgbClr val="F26B43"/>
          </p15:clr>
        </p15:guide>
        <p15:guide id="23" orient="horz" pos="640">
          <p15:clr>
            <a:srgbClr val="F26B43"/>
          </p15:clr>
        </p15:guide>
        <p15:guide id="24" pos="5119">
          <p15:clr>
            <a:srgbClr val="F26B43"/>
          </p15:clr>
        </p15:guide>
        <p15:guide id="25" orient="horz" pos="1720">
          <p15:clr>
            <a:srgbClr val="F26B43"/>
          </p15:clr>
        </p15:guide>
        <p15:guide id="26" pos="425">
          <p15:clr>
            <a:srgbClr val="F26B43"/>
          </p15:clr>
        </p15:guide>
        <p15:guide id="27" pos="639">
          <p15:clr>
            <a:srgbClr val="F26B43"/>
          </p15:clr>
        </p15:guide>
        <p15:guide id="28" orient="horz" pos="292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pring.io/spring-boot/installing.html#getting-started.installing.cli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7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zipkin.io/pages/quickstart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2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650CF02-3B46-4AC8-A1D7-3EE3D59D7E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Unveiling Spring Boot &amp; Building Your First Application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6AE81D8-1F01-456C-B7E9-0E09995C35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8 May 2024, Speaker name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49BCC54-58D2-1039-62CB-BE5C4450FB58}"/>
              </a:ext>
            </a:extLst>
          </p:cNvPr>
          <p:cNvSpPr txBox="1"/>
          <p:nvPr/>
        </p:nvSpPr>
        <p:spPr>
          <a:xfrm>
            <a:off x="7531101" y="3201535"/>
            <a:ext cx="1612899" cy="461665"/>
          </a:xfrm>
          <a:prstGeom prst="rect">
            <a:avLst/>
          </a:prstGeom>
          <a:solidFill>
            <a:srgbClr val="FF0027"/>
          </a:solidFill>
          <a:ln>
            <a:solidFill>
              <a:srgbClr val="FF0027"/>
            </a:solidFill>
          </a:ln>
        </p:spPr>
        <p:txBody>
          <a:bodyPr wrap="square">
            <a:spAutoFit/>
          </a:bodyPr>
          <a:lstStyle/>
          <a:p>
            <a:r>
              <a:rPr lang="en-GB" sz="600" dirty="0">
                <a:solidFill>
                  <a:schemeClr val="bg1"/>
                </a:solidFill>
              </a:rPr>
              <a:t>PPT-Master </a:t>
            </a:r>
            <a:r>
              <a:rPr lang="en-GB" sz="600">
                <a:solidFill>
                  <a:schemeClr val="bg1"/>
                </a:solidFill>
              </a:rPr>
              <a:t>Version 01</a:t>
            </a:r>
            <a:r>
              <a:rPr lang="en-GB" sz="600" dirty="0">
                <a:solidFill>
                  <a:schemeClr val="bg1"/>
                </a:solidFill>
              </a:rPr>
              <a:t>. There will be an extensive update with the new Deutsche Bank font and sample charts at the end of August 2024.</a:t>
            </a:r>
          </a:p>
        </p:txBody>
      </p:sp>
    </p:spTree>
    <p:extLst>
      <p:ext uri="{BB962C8B-B14F-4D97-AF65-F5344CB8AC3E}">
        <p14:creationId xmlns:p14="http://schemas.microsoft.com/office/powerpoint/2010/main" val="4039500496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Introduction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dirty="0"/>
              <a:t>Open Source Java Framework for WebApps &amp; microservices</a:t>
            </a: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a. Autoconfiguration </a:t>
            </a: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b. Pre-configuried dependency bundle  </a:t>
            </a: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c. Spring + Web Server = Spring Boot</a:t>
            </a: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d. Streamlines Spring application setup </a:t>
            </a:r>
          </a:p>
        </p:txBody>
      </p:sp>
      <p:pic>
        <p:nvPicPr>
          <p:cNvPr id="2" name="Google Shape;118;p2">
            <a:extLst>
              <a:ext uri="{FF2B5EF4-FFF2-40B4-BE49-F238E27FC236}">
                <a16:creationId xmlns:a16="http://schemas.microsoft.com/office/drawing/2014/main" id="{A80AB965-A701-3E6A-B707-02EC5F3CA3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5249" y="1437811"/>
            <a:ext cx="1935480" cy="609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4502737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2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Why not Spring?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1. Simplifies significantly, need one dependency: </a:t>
            </a: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2. It automatically add necessary dependencies during the build. </a:t>
            </a: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3. Convention over Configuration. </a:t>
            </a: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4. Features include embedded servers, metrics, health checks. </a:t>
            </a:r>
          </a:p>
        </p:txBody>
      </p:sp>
      <p:sp>
        <p:nvSpPr>
          <p:cNvPr id="3" name="Google Shape;125;p3">
            <a:extLst>
              <a:ext uri="{FF2B5EF4-FFF2-40B4-BE49-F238E27FC236}">
                <a16:creationId xmlns:a16="http://schemas.microsoft.com/office/drawing/2014/main" id="{86ACC2AA-5332-162E-D743-89086599D8C6}"/>
              </a:ext>
            </a:extLst>
          </p:cNvPr>
          <p:cNvSpPr/>
          <p:nvPr/>
        </p:nvSpPr>
        <p:spPr>
          <a:xfrm>
            <a:off x="4281135" y="942414"/>
            <a:ext cx="2039346" cy="398294"/>
          </a:xfrm>
          <a:prstGeom prst="roundRect">
            <a:avLst>
              <a:gd name="adj" fmla="val 16667"/>
            </a:avLst>
          </a:prstGeom>
          <a:solidFill>
            <a:srgbClr val="1E2A78"/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100900" tIns="50450" rIns="100900" bIns="504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 b="0" i="0" u="none" strike="noStrike" cap="none" dirty="0">
                <a:solidFill>
                  <a:srgbClr val="00A3E0"/>
                </a:solidFill>
                <a:ea typeface="Arial"/>
                <a:cs typeface="Arial"/>
                <a:sym typeface="Arial"/>
              </a:rPr>
              <a:t>spring-boot-starter-web</a:t>
            </a:r>
            <a:endParaRPr sz="1100" b="0" i="0" u="none" strike="noStrike" cap="none" dirty="0">
              <a:solidFill>
                <a:srgbClr val="00A3E0"/>
              </a:solidFill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0804120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3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Setting up Java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1. Download Java JDK 17 from official Java website (Link below). </a:t>
            </a: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https://www.oracle.com/java/technologies/downloads/#java17</a:t>
            </a: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2. Double click downloaded file and follow the onscreen instructions for installation. </a:t>
            </a:r>
          </a:p>
        </p:txBody>
      </p:sp>
      <p:pic>
        <p:nvPicPr>
          <p:cNvPr id="2" name="Google Shape;131;p4">
            <a:extLst>
              <a:ext uri="{FF2B5EF4-FFF2-40B4-BE49-F238E27FC236}">
                <a16:creationId xmlns:a16="http://schemas.microsoft.com/office/drawing/2014/main" id="{49654272-071D-928C-AF3A-477C137C00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62827" y="2048201"/>
            <a:ext cx="4519295" cy="1349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8935670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4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Setting up Apache Maven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Download the binary file from : https://maven.apache.org/download.cgi</a:t>
            </a:r>
            <a:endParaRPr lang="de-DE" sz="1200" dirty="0"/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Step 1: Extract the downloaded ZIP file</a:t>
            </a: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Step 2: Move the extracted folder to the desired location </a:t>
            </a: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			(e.g., C:\apache-maven-3.9.8)</a:t>
            </a: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Step 3: Add apache-maven-3.9.8 to System PATH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5B25D8-8429-CE9F-A9B1-963DE9B48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923" y="1517491"/>
            <a:ext cx="4008331" cy="881833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AE9E395-4705-8BF8-10D7-8E3F3848BFB0}"/>
              </a:ext>
            </a:extLst>
          </p:cNvPr>
          <p:cNvCxnSpPr>
            <a:cxnSpLocks/>
          </p:cNvCxnSpPr>
          <p:nvPr/>
        </p:nvCxnSpPr>
        <p:spPr>
          <a:xfrm>
            <a:off x="981213" y="1291343"/>
            <a:ext cx="3742875" cy="94523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534905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5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Getting SpringBoot CLI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dirty="0"/>
              <a:t>Prerequisites:- </a:t>
            </a:r>
          </a:p>
          <a:p>
            <a:pPr lvl="2">
              <a:lnSpc>
                <a:spcPct val="150000"/>
              </a:lnSpc>
            </a:pPr>
            <a:r>
              <a:rPr lang="de-DE" sz="1400" dirty="0"/>
              <a:t>Java Development Kit (JDK): Ensure JDK 17 </a:t>
            </a:r>
          </a:p>
          <a:p>
            <a:pPr lvl="2">
              <a:lnSpc>
                <a:spcPct val="150000"/>
              </a:lnSpc>
            </a:pPr>
            <a:r>
              <a:rPr lang="de-DE" sz="1400" dirty="0"/>
              <a:t>Apache Maven 3.9.8</a:t>
            </a:r>
          </a:p>
          <a:p>
            <a:pPr lvl="2">
              <a:lnSpc>
                <a:spcPct val="150000"/>
              </a:lnSpc>
            </a:pPr>
            <a:r>
              <a:rPr lang="de-DE" sz="1400" dirty="0"/>
              <a:t>Homebrew (for Mac): Optional but recommended for easy installation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14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dirty="0"/>
              <a:t>Installation:-</a:t>
            </a:r>
          </a:p>
          <a:p>
            <a:pPr lvl="2">
              <a:lnSpc>
                <a:spcPct val="150000"/>
              </a:lnSpc>
            </a:pPr>
            <a:r>
              <a:rPr lang="de-DE" sz="1400" dirty="0"/>
              <a:t>Navigate to the Spring Boot CLI section on the Spring website</a:t>
            </a:r>
          </a:p>
          <a:p>
            <a:pPr lvl="2">
              <a:lnSpc>
                <a:spcPct val="150000"/>
              </a:lnSpc>
            </a:pPr>
            <a:r>
              <a:rPr lang="de-DE" sz="1400" dirty="0"/>
              <a:t>Download Link: </a:t>
            </a:r>
          </a:p>
          <a:p>
            <a:pPr marL="0" lvl="2" indent="0">
              <a:lnSpc>
                <a:spcPct val="150000"/>
              </a:lnSpc>
              <a:buNone/>
            </a:pPr>
            <a:r>
              <a:rPr lang="de-DE" sz="1400" dirty="0">
                <a:hlinkClick r:id="rId3"/>
              </a:rPr>
              <a:t>https://docs.spring.io/spring-boot/installing.html#getting-started.installing.cli</a:t>
            </a:r>
            <a:endParaRPr lang="de-DE" sz="1400" dirty="0"/>
          </a:p>
          <a:p>
            <a:pPr marL="0" lvl="2" indent="0">
              <a:lnSpc>
                <a:spcPct val="150000"/>
              </a:lnSpc>
              <a:buNone/>
            </a:pP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2413592506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6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Installation on Windows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9725" y="2852429"/>
            <a:ext cx="8467725" cy="1472819"/>
          </a:xfrm>
        </p:spPr>
        <p:txBody>
          <a:bodyPr/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Step 1: Extract the downloaded ZIP file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Step 2: Move the extracted folder to the desired location (e.g., C:\SpringBootCLI)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Step 3: Add Spring Boot CLI to System PATH</a:t>
            </a:r>
          </a:p>
        </p:txBody>
      </p:sp>
      <p:pic>
        <p:nvPicPr>
          <p:cNvPr id="2" name="Google Shape;145;p6">
            <a:extLst>
              <a:ext uri="{FF2B5EF4-FFF2-40B4-BE49-F238E27FC236}">
                <a16:creationId xmlns:a16="http://schemas.microsoft.com/office/drawing/2014/main" id="{0BD4AA23-E22E-1D5B-5143-EB368F4E57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8567" y="818252"/>
            <a:ext cx="4762500" cy="1828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8919887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7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Add Spring Boot CLI to System PATH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pic>
        <p:nvPicPr>
          <p:cNvPr id="6" name="Google Shape;150;p7">
            <a:extLst>
              <a:ext uri="{FF2B5EF4-FFF2-40B4-BE49-F238E27FC236}">
                <a16:creationId xmlns:a16="http://schemas.microsoft.com/office/drawing/2014/main" id="{CE21F4FE-26FD-FDDE-3530-865EC262D9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1839" y="2122205"/>
            <a:ext cx="4490836" cy="2252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52;p7">
            <a:extLst>
              <a:ext uri="{FF2B5EF4-FFF2-40B4-BE49-F238E27FC236}">
                <a16:creationId xmlns:a16="http://schemas.microsoft.com/office/drawing/2014/main" id="{B2D3E5CA-5E6E-538C-90F3-F9EC23A2224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47689" y="1015999"/>
            <a:ext cx="2842883" cy="107744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3;p7">
            <a:extLst>
              <a:ext uri="{FF2B5EF4-FFF2-40B4-BE49-F238E27FC236}">
                <a16:creationId xmlns:a16="http://schemas.microsoft.com/office/drawing/2014/main" id="{C9110BE4-5F23-E124-5E78-F8D8511A4E48}"/>
              </a:ext>
            </a:extLst>
          </p:cNvPr>
          <p:cNvSpPr/>
          <p:nvPr/>
        </p:nvSpPr>
        <p:spPr>
          <a:xfrm>
            <a:off x="1015950" y="1265590"/>
            <a:ext cx="2741664" cy="104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54;p7">
            <a:extLst>
              <a:ext uri="{FF2B5EF4-FFF2-40B4-BE49-F238E27FC236}">
                <a16:creationId xmlns:a16="http://schemas.microsoft.com/office/drawing/2014/main" id="{B8A10D58-4FBA-D541-327E-4E936CFCF7F5}"/>
              </a:ext>
            </a:extLst>
          </p:cNvPr>
          <p:cNvSpPr/>
          <p:nvPr/>
        </p:nvSpPr>
        <p:spPr>
          <a:xfrm>
            <a:off x="1151839" y="1025543"/>
            <a:ext cx="3637010" cy="37112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i="0" u="none" strike="noStrike" cap="none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Type </a:t>
            </a:r>
            <a:r>
              <a:rPr lang="de-DE" sz="1200" dirty="0">
                <a:solidFill>
                  <a:schemeClr val="lt1"/>
                </a:solidFill>
              </a:rPr>
              <a:t>environment</a:t>
            </a:r>
            <a:r>
              <a:rPr lang="de-DE" sz="1200" b="0" i="0" u="none" strike="noStrike" cap="none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 variables on search bar</a:t>
            </a:r>
            <a:endParaRPr sz="1200" b="0" i="0" u="none" strike="noStrike" cap="none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3" name="Google Shape;155;p7">
            <a:extLst>
              <a:ext uri="{FF2B5EF4-FFF2-40B4-BE49-F238E27FC236}">
                <a16:creationId xmlns:a16="http://schemas.microsoft.com/office/drawing/2014/main" id="{9145AF44-2275-0732-806A-56A0E1BCF3D7}"/>
              </a:ext>
            </a:extLst>
          </p:cNvPr>
          <p:cNvSpPr/>
          <p:nvPr/>
        </p:nvSpPr>
        <p:spPr>
          <a:xfrm>
            <a:off x="253428" y="1745405"/>
            <a:ext cx="3493966" cy="37112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rPr>
              <a:t>Path to your spring boot cli installation</a:t>
            </a:r>
            <a:endParaRPr sz="1200" b="0" i="0" u="none" strike="noStrike" cap="none">
              <a:solidFill>
                <a:schemeClr val="lt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cxnSp>
        <p:nvCxnSpPr>
          <p:cNvPr id="14" name="Google Shape;156;p7">
            <a:extLst>
              <a:ext uri="{FF2B5EF4-FFF2-40B4-BE49-F238E27FC236}">
                <a16:creationId xmlns:a16="http://schemas.microsoft.com/office/drawing/2014/main" id="{2F3E92B8-3F25-8B3E-93CF-08C3224C026D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2000411" y="2116525"/>
            <a:ext cx="646536" cy="1520449"/>
          </a:xfrm>
          <a:prstGeom prst="straightConnector1">
            <a:avLst/>
          </a:prstGeom>
          <a:ln>
            <a:headEnd type="none" w="sm" len="sm"/>
            <a:tailEnd type="stealth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Google Shape;157;p7">
            <a:extLst>
              <a:ext uri="{FF2B5EF4-FFF2-40B4-BE49-F238E27FC236}">
                <a16:creationId xmlns:a16="http://schemas.microsoft.com/office/drawing/2014/main" id="{351471B3-A34B-1066-4DA4-B23AD716D334}"/>
              </a:ext>
            </a:extLst>
          </p:cNvPr>
          <p:cNvSpPr/>
          <p:nvPr/>
        </p:nvSpPr>
        <p:spPr>
          <a:xfrm>
            <a:off x="6047690" y="2529648"/>
            <a:ext cx="1914952" cy="37112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rPr>
              <a:t>Click on New to add</a:t>
            </a:r>
            <a:endParaRPr sz="1200" b="0" i="0" u="none" strike="noStrike" cap="none">
              <a:solidFill>
                <a:schemeClr val="lt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cxnSp>
        <p:nvCxnSpPr>
          <p:cNvPr id="16" name="Google Shape;158;p7">
            <a:extLst>
              <a:ext uri="{FF2B5EF4-FFF2-40B4-BE49-F238E27FC236}">
                <a16:creationId xmlns:a16="http://schemas.microsoft.com/office/drawing/2014/main" id="{CEDE4EBC-7DA7-DBE3-A997-3D89911D1987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4840132" y="2678025"/>
            <a:ext cx="1207558" cy="37183"/>
          </a:xfrm>
          <a:prstGeom prst="straightConnector1">
            <a:avLst/>
          </a:prstGeom>
          <a:ln>
            <a:headEnd type="none" w="sm" len="sm"/>
            <a:tailEnd type="stealth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Google Shape;158;p7">
            <a:extLst>
              <a:ext uri="{FF2B5EF4-FFF2-40B4-BE49-F238E27FC236}">
                <a16:creationId xmlns:a16="http://schemas.microsoft.com/office/drawing/2014/main" id="{DA135E13-1D53-B154-FF08-71FDEB88061A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4788849" y="1211103"/>
            <a:ext cx="1343819" cy="0"/>
          </a:xfrm>
          <a:prstGeom prst="straightConnector1">
            <a:avLst/>
          </a:prstGeom>
          <a:ln>
            <a:headEnd type="none" w="sm" len="sm"/>
            <a:tailEnd type="stealth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58310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8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Post-Installation Steps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9725" y="2852429"/>
            <a:ext cx="8467725" cy="1472819"/>
          </a:xfrm>
        </p:spPr>
        <p:txBody>
          <a:bodyPr/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Testing: Run a simple Spring Boot command to ensure the CLI is working correctly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Example Command: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		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spring --version</a:t>
            </a:r>
          </a:p>
        </p:txBody>
      </p:sp>
      <p:pic>
        <p:nvPicPr>
          <p:cNvPr id="3" name="Google Shape;165;p8">
            <a:extLst>
              <a:ext uri="{FF2B5EF4-FFF2-40B4-BE49-F238E27FC236}">
                <a16:creationId xmlns:a16="http://schemas.microsoft.com/office/drawing/2014/main" id="{B73A157D-4A86-D1ED-53F8-D782D3C4BF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7985" y="1031392"/>
            <a:ext cx="5334000" cy="1104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4606118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9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On Your First “Hello World” :)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9725" y="1284772"/>
            <a:ext cx="8467725" cy="1472819"/>
          </a:xfrm>
        </p:spPr>
        <p:txBody>
          <a:bodyPr/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What is Spring </a:t>
            </a:r>
            <a:r>
              <a:rPr lang="en-US" sz="1400" dirty="0" err="1"/>
              <a:t>Initializr</a:t>
            </a:r>
            <a:r>
              <a:rPr lang="en-US" sz="1400" dirty="0"/>
              <a:t>?</a:t>
            </a:r>
          </a:p>
          <a:p>
            <a:pPr lvl="2">
              <a:lnSpc>
                <a:spcPct val="150000"/>
              </a:lnSpc>
            </a:pPr>
            <a:r>
              <a:rPr lang="en-US" sz="1400" dirty="0"/>
              <a:t>An online tool to generate Spring Boot project structures</a:t>
            </a:r>
          </a:p>
          <a:p>
            <a:pPr lvl="2">
              <a:lnSpc>
                <a:spcPct val="150000"/>
              </a:lnSpc>
            </a:pPr>
            <a:r>
              <a:rPr lang="en-US" sz="1400" dirty="0"/>
              <a:t>Key features : dependency management and project configuration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Accessing Spring </a:t>
            </a:r>
            <a:r>
              <a:rPr lang="en-US" sz="1400" dirty="0" err="1"/>
              <a:t>Initializr</a:t>
            </a:r>
            <a:endParaRPr lang="en-US" sz="1400" dirty="0"/>
          </a:p>
          <a:p>
            <a:pPr lvl="2">
              <a:lnSpc>
                <a:spcPct val="150000"/>
              </a:lnSpc>
            </a:pPr>
            <a:r>
              <a:rPr lang="en-US" sz="1400" dirty="0"/>
              <a:t>Navigate to the Spring </a:t>
            </a:r>
            <a:r>
              <a:rPr lang="en-US" sz="1400" dirty="0" err="1"/>
              <a:t>Initializr</a:t>
            </a:r>
            <a:r>
              <a:rPr lang="en-US" sz="1400" dirty="0"/>
              <a:t> website (https://start.spring.io)</a:t>
            </a:r>
          </a:p>
          <a:p>
            <a:pPr lvl="2">
              <a:lnSpc>
                <a:spcPct val="150000"/>
              </a:lnSpc>
            </a:pPr>
            <a:r>
              <a:rPr lang="en-US" sz="1400" dirty="0"/>
              <a:t>Note : Spring </a:t>
            </a:r>
            <a:r>
              <a:rPr lang="en-US" sz="1400" dirty="0" err="1"/>
              <a:t>Initializr</a:t>
            </a:r>
            <a:r>
              <a:rPr lang="en-US" sz="1400" dirty="0"/>
              <a:t> is also integrated into IDEs such as IntelliJ IDEA or </a:t>
            </a:r>
            <a:r>
              <a:rPr lang="en-US" sz="1400" dirty="0" err="1"/>
              <a:t>VScode</a:t>
            </a:r>
            <a:endParaRPr lang="en-US" sz="14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174B6A-BF40-A408-1955-320572AC2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2050" y="497945"/>
            <a:ext cx="2627076" cy="59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922990"/>
      </p:ext>
    </p:extLst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10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Start New Project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7852" y="2021181"/>
            <a:ext cx="2561604" cy="1472819"/>
          </a:xfrm>
        </p:spPr>
        <p:txBody>
          <a:bodyPr/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Project Type: Choose Maven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Language: Select Java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Spring Boot Version: Select the appropriate version of Spring Boot </a:t>
            </a:r>
            <a:r>
              <a:rPr lang="en-US" sz="1400" dirty="0" err="1"/>
              <a:t>eg.</a:t>
            </a:r>
            <a:r>
              <a:rPr lang="en-US" sz="1400" dirty="0"/>
              <a:t> 3.3.1</a:t>
            </a:r>
          </a:p>
        </p:txBody>
      </p:sp>
      <p:pic>
        <p:nvPicPr>
          <p:cNvPr id="3" name="Google Shape;178;p10">
            <a:extLst>
              <a:ext uri="{FF2B5EF4-FFF2-40B4-BE49-F238E27FC236}">
                <a16:creationId xmlns:a16="http://schemas.microsoft.com/office/drawing/2014/main" id="{040B84AE-73B1-AEFE-5D5E-523D9A05CD7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584" y="431019"/>
            <a:ext cx="3723235" cy="41293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Google Shape;180;p10">
            <a:extLst>
              <a:ext uri="{FF2B5EF4-FFF2-40B4-BE49-F238E27FC236}">
                <a16:creationId xmlns:a16="http://schemas.microsoft.com/office/drawing/2014/main" id="{2AAE68CA-60BB-567C-DBCF-E560A9AC1557}"/>
              </a:ext>
            </a:extLst>
          </p:cNvPr>
          <p:cNvCxnSpPr>
            <a:cxnSpLocks/>
          </p:cNvCxnSpPr>
          <p:nvPr/>
        </p:nvCxnSpPr>
        <p:spPr>
          <a:xfrm flipV="1">
            <a:off x="2755153" y="1742983"/>
            <a:ext cx="1816847" cy="459164"/>
          </a:xfrm>
          <a:prstGeom prst="straightConnector1">
            <a:avLst/>
          </a:prstGeom>
          <a:ln>
            <a:solidFill>
              <a:schemeClr val="accent1"/>
            </a:solidFill>
            <a:headEnd type="none" w="sm" len="sm"/>
            <a:tailEnd type="stealth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Google Shape;181;p10">
            <a:extLst>
              <a:ext uri="{FF2B5EF4-FFF2-40B4-BE49-F238E27FC236}">
                <a16:creationId xmlns:a16="http://schemas.microsoft.com/office/drawing/2014/main" id="{C0359252-3B8E-B458-E6EE-5452E7F490A3}"/>
              </a:ext>
            </a:extLst>
          </p:cNvPr>
          <p:cNvCxnSpPr>
            <a:cxnSpLocks/>
          </p:cNvCxnSpPr>
          <p:nvPr/>
        </p:nvCxnSpPr>
        <p:spPr>
          <a:xfrm flipV="1">
            <a:off x="2301825" y="1531646"/>
            <a:ext cx="4098975" cy="984444"/>
          </a:xfrm>
          <a:prstGeom prst="straightConnector1">
            <a:avLst/>
          </a:prstGeom>
          <a:ln>
            <a:solidFill>
              <a:schemeClr val="accent1"/>
            </a:solidFill>
            <a:headEnd type="none" w="sm" len="sm"/>
            <a:tailEnd type="stealth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Google Shape;182;p10">
            <a:extLst>
              <a:ext uri="{FF2B5EF4-FFF2-40B4-BE49-F238E27FC236}">
                <a16:creationId xmlns:a16="http://schemas.microsoft.com/office/drawing/2014/main" id="{92BF22CA-1C36-8CEA-7693-4D2028490C37}"/>
              </a:ext>
            </a:extLst>
          </p:cNvPr>
          <p:cNvCxnSpPr>
            <a:cxnSpLocks/>
          </p:cNvCxnSpPr>
          <p:nvPr/>
        </p:nvCxnSpPr>
        <p:spPr>
          <a:xfrm flipV="1">
            <a:off x="1554871" y="2124239"/>
            <a:ext cx="3959030" cy="1339973"/>
          </a:xfrm>
          <a:prstGeom prst="straightConnector1">
            <a:avLst/>
          </a:prstGeom>
          <a:ln>
            <a:solidFill>
              <a:schemeClr val="accent1"/>
            </a:solidFill>
            <a:headEnd type="none" w="sm" len="sm"/>
            <a:tailEnd type="stealth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623776"/>
      </p:ext>
    </p:extLst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11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Metadata Fields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1945" y="748506"/>
            <a:ext cx="5813568" cy="1472819"/>
          </a:xfrm>
        </p:spPr>
        <p:txBody>
          <a:bodyPr/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Group: 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Typically the domain of your organization (e.g., </a:t>
            </a:r>
            <a:r>
              <a:rPr 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com.banking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Artifact: 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name of your project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Name: 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display name for your project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Description: 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 brief description of your project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Package Name: 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base package for your application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Packaging: 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Choose War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Java Version: 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Select the version of Java you will be using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(e.g., Java JDK 17)</a:t>
            </a:r>
          </a:p>
        </p:txBody>
      </p:sp>
      <p:pic>
        <p:nvPicPr>
          <p:cNvPr id="2" name="Google Shape;189;p11">
            <a:extLst>
              <a:ext uri="{FF2B5EF4-FFF2-40B4-BE49-F238E27FC236}">
                <a16:creationId xmlns:a16="http://schemas.microsoft.com/office/drawing/2014/main" id="{CB1963B0-B828-538E-A27F-54D24F0BE2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425" t="44372" r="46677" b="3721"/>
          <a:stretch/>
        </p:blipFill>
        <p:spPr>
          <a:xfrm>
            <a:off x="5227222" y="1407663"/>
            <a:ext cx="2741121" cy="30290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3532862"/>
      </p:ext>
    </p:extLst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12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Generating the Project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1945" y="748506"/>
            <a:ext cx="5813568" cy="1472819"/>
          </a:xfrm>
        </p:spPr>
        <p:txBody>
          <a:bodyPr/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1. Generate Button: Click on the "Generate" button to download the project zip file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2. Download and Extract: Download &amp; extract the generated zip file</a:t>
            </a:r>
          </a:p>
        </p:txBody>
      </p:sp>
      <p:pic>
        <p:nvPicPr>
          <p:cNvPr id="3" name="Google Shape;196;p12">
            <a:extLst>
              <a:ext uri="{FF2B5EF4-FFF2-40B4-BE49-F238E27FC236}">
                <a16:creationId xmlns:a16="http://schemas.microsoft.com/office/drawing/2014/main" id="{7374402A-12F4-B29D-3D75-F901FDDE08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649" b="-19207"/>
          <a:stretch/>
        </p:blipFill>
        <p:spPr>
          <a:xfrm>
            <a:off x="635062" y="1484915"/>
            <a:ext cx="1919605" cy="744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97;p12">
            <a:extLst>
              <a:ext uri="{FF2B5EF4-FFF2-40B4-BE49-F238E27FC236}">
                <a16:creationId xmlns:a16="http://schemas.microsoft.com/office/drawing/2014/main" id="{0051159D-5CDC-93F3-5774-710694A9F4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62" y="2787269"/>
            <a:ext cx="2590800" cy="18364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7529500"/>
      </p:ext>
    </p:extLst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13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The Project Structure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1945" y="748506"/>
            <a:ext cx="5813568" cy="1472819"/>
          </a:xfrm>
        </p:spPr>
        <p:txBody>
          <a:bodyPr/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Overview of the key files and folders in the generated project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src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/main/java: </a:t>
            </a:r>
          </a:p>
          <a:p>
            <a:pPr lvl="2">
              <a:lnSpc>
                <a:spcPct val="150000"/>
              </a:lnSpc>
            </a:pPr>
            <a:r>
              <a:rPr lang="en-US" sz="1400" dirty="0"/>
              <a:t>Contains application code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src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/main/resources: </a:t>
            </a:r>
          </a:p>
          <a:p>
            <a:pPr lvl="2">
              <a:lnSpc>
                <a:spcPct val="150000"/>
              </a:lnSpc>
            </a:pPr>
            <a:r>
              <a:rPr lang="en-US" sz="1400" dirty="0"/>
              <a:t>Contains configuration files and static resources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pom.xml: </a:t>
            </a:r>
          </a:p>
          <a:p>
            <a:pPr lvl="2">
              <a:lnSpc>
                <a:spcPct val="150000"/>
              </a:lnSpc>
            </a:pPr>
            <a:r>
              <a:rPr lang="en-US" sz="1400" dirty="0"/>
              <a:t>Dependency management files</a:t>
            </a:r>
          </a:p>
        </p:txBody>
      </p:sp>
      <p:pic>
        <p:nvPicPr>
          <p:cNvPr id="2" name="Google Shape;204;p13">
            <a:extLst>
              <a:ext uri="{FF2B5EF4-FFF2-40B4-BE49-F238E27FC236}">
                <a16:creationId xmlns:a16="http://schemas.microsoft.com/office/drawing/2014/main" id="{E7224D92-35D1-6122-C69B-8486E10243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62004" y="1017205"/>
            <a:ext cx="2764408" cy="33281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Google Shape;205;p13">
            <a:extLst>
              <a:ext uri="{FF2B5EF4-FFF2-40B4-BE49-F238E27FC236}">
                <a16:creationId xmlns:a16="http://schemas.microsoft.com/office/drawing/2014/main" id="{28A62053-4263-716B-3C60-53B8EA2DBCD6}"/>
              </a:ext>
            </a:extLst>
          </p:cNvPr>
          <p:cNvCxnSpPr>
            <a:cxnSpLocks/>
          </p:cNvCxnSpPr>
          <p:nvPr/>
        </p:nvCxnSpPr>
        <p:spPr>
          <a:xfrm>
            <a:off x="1478165" y="1265035"/>
            <a:ext cx="4070112" cy="727301"/>
          </a:xfrm>
          <a:prstGeom prst="straightConnector1">
            <a:avLst/>
          </a:prstGeom>
          <a:ln>
            <a:solidFill>
              <a:schemeClr val="accent1"/>
            </a:solidFill>
            <a:headEnd type="none" w="sm" len="sm"/>
            <a:tailEnd type="stealth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Google Shape;206;p13">
            <a:extLst>
              <a:ext uri="{FF2B5EF4-FFF2-40B4-BE49-F238E27FC236}">
                <a16:creationId xmlns:a16="http://schemas.microsoft.com/office/drawing/2014/main" id="{95505708-6476-77C8-5E8D-F99A9E0A7222}"/>
              </a:ext>
            </a:extLst>
          </p:cNvPr>
          <p:cNvCxnSpPr>
            <a:cxnSpLocks/>
          </p:cNvCxnSpPr>
          <p:nvPr/>
        </p:nvCxnSpPr>
        <p:spPr>
          <a:xfrm>
            <a:off x="1980828" y="1917588"/>
            <a:ext cx="3924958" cy="1194050"/>
          </a:xfrm>
          <a:prstGeom prst="straightConnector1">
            <a:avLst/>
          </a:prstGeom>
          <a:ln>
            <a:solidFill>
              <a:schemeClr val="accent1"/>
            </a:solidFill>
            <a:headEnd type="none" w="sm" len="sm"/>
            <a:tailEnd type="stealth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Google Shape;207;p13">
            <a:extLst>
              <a:ext uri="{FF2B5EF4-FFF2-40B4-BE49-F238E27FC236}">
                <a16:creationId xmlns:a16="http://schemas.microsoft.com/office/drawing/2014/main" id="{7EB01EB8-3E59-F14C-3DDE-68EBF0E0D215}"/>
              </a:ext>
            </a:extLst>
          </p:cNvPr>
          <p:cNvCxnSpPr>
            <a:cxnSpLocks/>
          </p:cNvCxnSpPr>
          <p:nvPr/>
        </p:nvCxnSpPr>
        <p:spPr>
          <a:xfrm>
            <a:off x="3141378" y="2873878"/>
            <a:ext cx="2551278" cy="1374988"/>
          </a:xfrm>
          <a:prstGeom prst="straightConnector1">
            <a:avLst/>
          </a:prstGeom>
          <a:ln>
            <a:solidFill>
              <a:schemeClr val="accent1"/>
            </a:solidFill>
            <a:headEnd type="none" w="sm" len="sm"/>
            <a:tailEnd type="stealth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607358"/>
      </p:ext>
    </p:extLst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14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Importing the Project into an IDE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1944" y="748506"/>
            <a:ext cx="8615799" cy="1472819"/>
          </a:xfrm>
        </p:spPr>
        <p:txBody>
          <a:bodyPr/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Step-by-Step Guide: Instructions for importing the project into popular IDEs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IntelliJ IDEA: File -&gt; New -&gt; Project from Existing Sources -&gt; Select the project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Eclipse: File -&gt; Import -&gt; Existing Maven/Gradle Project -&gt; Select the project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VS Code: Open Folder -&gt; Select the project folder</a:t>
            </a:r>
          </a:p>
        </p:txBody>
      </p:sp>
    </p:spTree>
    <p:extLst>
      <p:ext uri="{BB962C8B-B14F-4D97-AF65-F5344CB8AC3E}">
        <p14:creationId xmlns:p14="http://schemas.microsoft.com/office/powerpoint/2010/main" val="3752230773"/>
      </p:ext>
    </p:extLst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15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IntelliJ IDEA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17588" y="4019555"/>
            <a:ext cx="8615799" cy="1472819"/>
          </a:xfrm>
        </p:spPr>
        <p:txBody>
          <a:bodyPr/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 Open -&gt; Select the folder of project -&gt; Ok</a:t>
            </a:r>
          </a:p>
        </p:txBody>
      </p:sp>
      <p:pic>
        <p:nvPicPr>
          <p:cNvPr id="2" name="Google Shape;219;p15">
            <a:extLst>
              <a:ext uri="{FF2B5EF4-FFF2-40B4-BE49-F238E27FC236}">
                <a16:creationId xmlns:a16="http://schemas.microsoft.com/office/drawing/2014/main" id="{B4C8F353-34A9-4A28-9E0F-B1C22E0CEC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7637" y="1412015"/>
            <a:ext cx="2724952" cy="1954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21;p15">
            <a:extLst>
              <a:ext uri="{FF2B5EF4-FFF2-40B4-BE49-F238E27FC236}">
                <a16:creationId xmlns:a16="http://schemas.microsoft.com/office/drawing/2014/main" id="{B6034646-1E3F-5BE5-642C-596C2FFCF86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62716" y="387535"/>
            <a:ext cx="3063696" cy="35878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Google Shape;222;p15">
            <a:extLst>
              <a:ext uri="{FF2B5EF4-FFF2-40B4-BE49-F238E27FC236}">
                <a16:creationId xmlns:a16="http://schemas.microsoft.com/office/drawing/2014/main" id="{A9C0B417-C988-66E3-451F-82BAD28B7ADE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3179297" y="2137754"/>
            <a:ext cx="1883419" cy="43691"/>
          </a:xfrm>
          <a:prstGeom prst="straightConnector1">
            <a:avLst/>
          </a:prstGeom>
          <a:ln>
            <a:solidFill>
              <a:schemeClr val="accent1"/>
            </a:solidFill>
            <a:headEnd type="none" w="sm" len="sm"/>
            <a:tailEnd type="stealth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Google Shape;223;p15">
            <a:extLst>
              <a:ext uri="{FF2B5EF4-FFF2-40B4-BE49-F238E27FC236}">
                <a16:creationId xmlns:a16="http://schemas.microsoft.com/office/drawing/2014/main" id="{E4EEF854-6BA9-AF3B-50C6-F3E110CF5F0F}"/>
              </a:ext>
            </a:extLst>
          </p:cNvPr>
          <p:cNvCxnSpPr>
            <a:cxnSpLocks/>
          </p:cNvCxnSpPr>
          <p:nvPr/>
        </p:nvCxnSpPr>
        <p:spPr>
          <a:xfrm flipV="1">
            <a:off x="1313161" y="3245089"/>
            <a:ext cx="596952" cy="856325"/>
          </a:xfrm>
          <a:prstGeom prst="straightConnector1">
            <a:avLst/>
          </a:prstGeom>
          <a:ln>
            <a:solidFill>
              <a:schemeClr val="accent1"/>
            </a:solidFill>
            <a:headEnd type="none" w="sm" len="sm"/>
            <a:tailEnd type="stealth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Google Shape;224;p15">
            <a:extLst>
              <a:ext uri="{FF2B5EF4-FFF2-40B4-BE49-F238E27FC236}">
                <a16:creationId xmlns:a16="http://schemas.microsoft.com/office/drawing/2014/main" id="{2766DAC4-FB12-CE73-5E0E-AD564CB6211E}"/>
              </a:ext>
            </a:extLst>
          </p:cNvPr>
          <p:cNvCxnSpPr>
            <a:cxnSpLocks/>
          </p:cNvCxnSpPr>
          <p:nvPr/>
        </p:nvCxnSpPr>
        <p:spPr>
          <a:xfrm flipV="1">
            <a:off x="2937070" y="2894454"/>
            <a:ext cx="2288429" cy="1216355"/>
          </a:xfrm>
          <a:prstGeom prst="straightConnector1">
            <a:avLst/>
          </a:prstGeom>
          <a:ln>
            <a:solidFill>
              <a:schemeClr val="accent1"/>
            </a:solidFill>
            <a:headEnd type="none" w="sm" len="sm"/>
            <a:tailEnd type="stealth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Google Shape;225;p15">
            <a:extLst>
              <a:ext uri="{FF2B5EF4-FFF2-40B4-BE49-F238E27FC236}">
                <a16:creationId xmlns:a16="http://schemas.microsoft.com/office/drawing/2014/main" id="{9236CF8E-4CE1-BD99-E4A7-C206A38F50E4}"/>
              </a:ext>
            </a:extLst>
          </p:cNvPr>
          <p:cNvCxnSpPr>
            <a:cxnSpLocks/>
          </p:cNvCxnSpPr>
          <p:nvPr/>
        </p:nvCxnSpPr>
        <p:spPr>
          <a:xfrm flipV="1">
            <a:off x="4432548" y="3788229"/>
            <a:ext cx="2483891" cy="408877"/>
          </a:xfrm>
          <a:prstGeom prst="straightConnector1">
            <a:avLst/>
          </a:prstGeom>
          <a:ln>
            <a:solidFill>
              <a:schemeClr val="accent1"/>
            </a:solidFill>
            <a:headEnd type="none" w="sm" len="sm"/>
            <a:tailEnd type="stealth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0359431"/>
      </p:ext>
    </p:extLst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16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Get into first code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pic>
        <p:nvPicPr>
          <p:cNvPr id="12" name="Google Shape;230;p16">
            <a:extLst>
              <a:ext uri="{FF2B5EF4-FFF2-40B4-BE49-F238E27FC236}">
                <a16:creationId xmlns:a16="http://schemas.microsoft.com/office/drawing/2014/main" id="{4C85BFF2-97E2-1601-7F35-BEAF52EB6F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5087" y="2891433"/>
            <a:ext cx="2712720" cy="1363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231;p16">
            <a:extLst>
              <a:ext uri="{FF2B5EF4-FFF2-40B4-BE49-F238E27FC236}">
                <a16:creationId xmlns:a16="http://schemas.microsoft.com/office/drawing/2014/main" id="{82D32EAA-5EE2-26BF-323B-C337D722FBF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3632" t="11407" r="18153" b="40012"/>
          <a:stretch/>
        </p:blipFill>
        <p:spPr>
          <a:xfrm>
            <a:off x="3932128" y="1257082"/>
            <a:ext cx="4822925" cy="89916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34;p16">
            <a:extLst>
              <a:ext uri="{FF2B5EF4-FFF2-40B4-BE49-F238E27FC236}">
                <a16:creationId xmlns:a16="http://schemas.microsoft.com/office/drawing/2014/main" id="{B8E6ACCD-10A1-FDEC-CF78-545EDE2604A6}"/>
              </a:ext>
            </a:extLst>
          </p:cNvPr>
          <p:cNvSpPr/>
          <p:nvPr/>
        </p:nvSpPr>
        <p:spPr>
          <a:xfrm>
            <a:off x="4224178" y="3163111"/>
            <a:ext cx="2623509" cy="54261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00900" tIns="50450" rIns="100900" bIns="504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b="0" i="0" u="none" strike="noStrike" cap="none">
                <a:solidFill>
                  <a:srgbClr val="FFFFFF"/>
                </a:solidFill>
                <a:latin typeface="+mn-lt"/>
                <a:ea typeface="Arial"/>
                <a:cs typeface="Arial"/>
                <a:sym typeface="Arial"/>
              </a:rPr>
              <a:t>Give a meaningful name </a:t>
            </a:r>
            <a:endParaRPr sz="1400" b="0" i="0" u="none" strike="noStrike" cap="none">
              <a:solidFill>
                <a:srgbClr val="FFFFFF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5" name="Google Shape;235;p16">
            <a:extLst>
              <a:ext uri="{FF2B5EF4-FFF2-40B4-BE49-F238E27FC236}">
                <a16:creationId xmlns:a16="http://schemas.microsoft.com/office/drawing/2014/main" id="{F33FDFF1-C7BD-B9AE-E213-0074C9562A7D}"/>
              </a:ext>
            </a:extLst>
          </p:cNvPr>
          <p:cNvSpPr/>
          <p:nvPr/>
        </p:nvSpPr>
        <p:spPr>
          <a:xfrm>
            <a:off x="677287" y="1924597"/>
            <a:ext cx="2774057" cy="450631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00900" tIns="50450" rIns="100900" bIns="504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b="0" i="0" u="none" strike="noStrike" cap="none">
                <a:solidFill>
                  <a:srgbClr val="FFFFFF"/>
                </a:solidFill>
                <a:latin typeface="+mn-lt"/>
                <a:ea typeface="Arial"/>
                <a:cs typeface="Arial"/>
                <a:sym typeface="Arial"/>
              </a:rPr>
              <a:t>Create a new Java Class file</a:t>
            </a:r>
            <a:endParaRPr sz="1400" b="0" i="0" u="none" strike="noStrike" cap="none">
              <a:solidFill>
                <a:srgbClr val="FFFFFF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cxnSp>
        <p:nvCxnSpPr>
          <p:cNvPr id="16" name="Google Shape;236;p16">
            <a:extLst>
              <a:ext uri="{FF2B5EF4-FFF2-40B4-BE49-F238E27FC236}">
                <a16:creationId xmlns:a16="http://schemas.microsoft.com/office/drawing/2014/main" id="{EF3960E7-A373-89BB-2D1F-ED1D6E90D3DC}"/>
              </a:ext>
            </a:extLst>
          </p:cNvPr>
          <p:cNvCxnSpPr>
            <a:cxnSpLocks/>
          </p:cNvCxnSpPr>
          <p:nvPr/>
        </p:nvCxnSpPr>
        <p:spPr>
          <a:xfrm flipV="1">
            <a:off x="3266549" y="1408392"/>
            <a:ext cx="906690" cy="724858"/>
          </a:xfrm>
          <a:prstGeom prst="straightConnector1">
            <a:avLst/>
          </a:prstGeom>
          <a:ln>
            <a:solidFill>
              <a:schemeClr val="accent1"/>
            </a:solidFill>
            <a:headEnd type="none" w="sm" len="sm"/>
            <a:tailEnd type="stealth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Google Shape;237;p16">
            <a:extLst>
              <a:ext uri="{FF2B5EF4-FFF2-40B4-BE49-F238E27FC236}">
                <a16:creationId xmlns:a16="http://schemas.microsoft.com/office/drawing/2014/main" id="{564A8247-6C98-5C82-866E-5C7253EA8A0D}"/>
              </a:ext>
            </a:extLst>
          </p:cNvPr>
          <p:cNvCxnSpPr/>
          <p:nvPr/>
        </p:nvCxnSpPr>
        <p:spPr>
          <a:xfrm rot="10800000">
            <a:off x="3194843" y="3436838"/>
            <a:ext cx="1029335" cy="0"/>
          </a:xfrm>
          <a:prstGeom prst="straightConnector1">
            <a:avLst/>
          </a:prstGeom>
          <a:ln>
            <a:solidFill>
              <a:schemeClr val="accent1"/>
            </a:solidFill>
            <a:headEnd type="none" w="sm" len="sm"/>
            <a:tailEnd type="stealth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60FB3FC-5FCA-D101-FF41-5B4A44EE3C17}"/>
              </a:ext>
            </a:extLst>
          </p:cNvPr>
          <p:cNvSpPr/>
          <p:nvPr/>
        </p:nvSpPr>
        <p:spPr>
          <a:xfrm>
            <a:off x="7510632" y="1227582"/>
            <a:ext cx="1125368" cy="2628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2743661244"/>
      </p:ext>
    </p:extLst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17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First Code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pic>
        <p:nvPicPr>
          <p:cNvPr id="2" name="Google Shape;243;p17">
            <a:extLst>
              <a:ext uri="{FF2B5EF4-FFF2-40B4-BE49-F238E27FC236}">
                <a16:creationId xmlns:a16="http://schemas.microsoft.com/office/drawing/2014/main" id="{42A2B56F-5566-C169-54D7-0B5A84F631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7473" y="825635"/>
            <a:ext cx="4569944" cy="192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4FAFDD-1EE7-E100-4F8E-9016597B4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817" y="2895115"/>
            <a:ext cx="2514600" cy="476250"/>
          </a:xfrm>
          <a:prstGeom prst="rect">
            <a:avLst/>
          </a:prstGeom>
        </p:spPr>
      </p:pic>
      <p:sp>
        <p:nvSpPr>
          <p:cNvPr id="4" name="Google Shape;235;p16">
            <a:extLst>
              <a:ext uri="{FF2B5EF4-FFF2-40B4-BE49-F238E27FC236}">
                <a16:creationId xmlns:a16="http://schemas.microsoft.com/office/drawing/2014/main" id="{325FDE7B-8775-3E52-B440-D179F2B233AD}"/>
              </a:ext>
            </a:extLst>
          </p:cNvPr>
          <p:cNvSpPr/>
          <p:nvPr/>
        </p:nvSpPr>
        <p:spPr>
          <a:xfrm>
            <a:off x="1310446" y="3544770"/>
            <a:ext cx="3568700" cy="64960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00900" tIns="50450" rIns="100900" bIns="504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dirty="0">
                <a:solidFill>
                  <a:srgbClr val="FFFFFF"/>
                </a:solidFill>
                <a:latin typeface="+mn-lt"/>
              </a:rPr>
              <a:t>Click on run buttion to run your first application</a:t>
            </a:r>
            <a:endParaRPr sz="1600" b="0" i="0" u="none" strike="noStrike" cap="none" dirty="0">
              <a:solidFill>
                <a:srgbClr val="FFFFFF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B0716DB-E6AD-46DE-0F35-5899CF11B006}"/>
              </a:ext>
            </a:extLst>
          </p:cNvPr>
          <p:cNvCxnSpPr/>
          <p:nvPr/>
        </p:nvCxnSpPr>
        <p:spPr>
          <a:xfrm flipV="1">
            <a:off x="4779069" y="3275928"/>
            <a:ext cx="1688724" cy="5485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5980871"/>
      </p:ext>
    </p:extLst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5FB976-4EE4-822B-7BE1-D0EDA8DFD4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18</a:t>
            </a:fld>
            <a:endParaRPr lang="en-GB" noProof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D90817-B987-AD36-93B6-34C6D46EAD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4" name="Google Shape;249;p18">
            <a:extLst>
              <a:ext uri="{FF2B5EF4-FFF2-40B4-BE49-F238E27FC236}">
                <a16:creationId xmlns:a16="http://schemas.microsoft.com/office/drawing/2014/main" id="{FA0587B8-2AB2-3040-297E-5CCDC9A27752}"/>
              </a:ext>
            </a:extLst>
          </p:cNvPr>
          <p:cNvSpPr txBox="1">
            <a:spLocks/>
          </p:cNvSpPr>
          <p:nvPr/>
        </p:nvSpPr>
        <p:spPr>
          <a:xfrm>
            <a:off x="2035360" y="3796779"/>
            <a:ext cx="1859257" cy="59542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0" tIns="0" rIns="0" bIns="0" anchor="ctr" anchorCtr="0">
            <a:noAutofit/>
          </a:bodyPr>
          <a:lstStyle>
            <a:lvl1pPr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252000" indent="-2520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12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468000" indent="-2160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10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717550" indent="-22701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10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882969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225221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567475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909729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90000"/>
              </a:lnSpc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Output on web browser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FC172B-4B22-567E-919D-C42A28C45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737" y="3585900"/>
            <a:ext cx="3562350" cy="1219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682CF3-3707-E700-9B52-9676B2753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29" y="1254242"/>
            <a:ext cx="8004142" cy="2143827"/>
          </a:xfrm>
          <a:prstGeom prst="rect">
            <a:avLst/>
          </a:prstGeom>
        </p:spPr>
      </p:pic>
      <p:sp>
        <p:nvSpPr>
          <p:cNvPr id="7" name="Google Shape;249;p18">
            <a:extLst>
              <a:ext uri="{FF2B5EF4-FFF2-40B4-BE49-F238E27FC236}">
                <a16:creationId xmlns:a16="http://schemas.microsoft.com/office/drawing/2014/main" id="{EA97CE5B-2FFD-1A93-5028-4186DBAB3C83}"/>
              </a:ext>
            </a:extLst>
          </p:cNvPr>
          <p:cNvSpPr txBox="1">
            <a:spLocks/>
          </p:cNvSpPr>
          <p:nvPr/>
        </p:nvSpPr>
        <p:spPr>
          <a:xfrm>
            <a:off x="3894617" y="468800"/>
            <a:ext cx="3562351" cy="265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—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—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—"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  <a:defRPr sz="14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  <a:defRPr sz="14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  <a:defRPr sz="14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180"/>
              </a:spcBef>
              <a:spcAft>
                <a:spcPts val="180"/>
              </a:spcAft>
              <a:buClr>
                <a:schemeClr val="dk2"/>
              </a:buClr>
              <a:buSzPts val="1800"/>
              <a:buFont typeface="Arial"/>
              <a:buChar char="-"/>
              <a:defRPr sz="14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Default run on localhost:8080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69DFD4-E1A2-6306-F951-5D34CD5E22C8}"/>
              </a:ext>
            </a:extLst>
          </p:cNvPr>
          <p:cNvCxnSpPr/>
          <p:nvPr/>
        </p:nvCxnSpPr>
        <p:spPr>
          <a:xfrm>
            <a:off x="5039325" y="753250"/>
            <a:ext cx="786810" cy="90771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AC1E39F-0230-6D32-2E0F-0DA319BB4437}"/>
              </a:ext>
            </a:extLst>
          </p:cNvPr>
          <p:cNvSpPr/>
          <p:nvPr/>
        </p:nvSpPr>
        <p:spPr>
          <a:xfrm>
            <a:off x="4950935" y="1649386"/>
            <a:ext cx="2929971" cy="27643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648122"/>
      </p:ext>
    </p:extLst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B9CC74-EA97-7818-B145-F947A4CF7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19</a:t>
            </a:fld>
            <a:endParaRPr lang="en-GB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B6C6DC-B829-E2FF-B7D2-6C52009D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Inversion of Control (IoC)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0C561A-6881-D95C-D550-CF7E47506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0F8D9E-8BFF-301E-4530-296DA0A54C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400" dirty="0"/>
              <a:t>Definition: </a:t>
            </a:r>
          </a:p>
          <a:p>
            <a:pPr lvl="2">
              <a:lnSpc>
                <a:spcPct val="150000"/>
              </a:lnSpc>
            </a:pPr>
            <a:r>
              <a:rPr lang="en-US" sz="1400" dirty="0"/>
              <a:t>IoC transfers control of objects or program portions to a container or framework.</a:t>
            </a:r>
          </a:p>
          <a:p>
            <a:pPr>
              <a:lnSpc>
                <a:spcPct val="150000"/>
              </a:lnSpc>
            </a:pP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Traditional vs. IoC:</a:t>
            </a:r>
          </a:p>
          <a:p>
            <a:pPr lvl="2">
              <a:lnSpc>
                <a:spcPct val="150000"/>
              </a:lnSpc>
            </a:pPr>
            <a:r>
              <a:rPr lang="en-US" sz="1400" dirty="0"/>
              <a:t>In traditional programming, custom code controls program flow.</a:t>
            </a:r>
          </a:p>
          <a:p>
            <a:pPr lvl="2">
              <a:lnSpc>
                <a:spcPct val="150000"/>
              </a:lnSpc>
            </a:pPr>
            <a:r>
              <a:rPr lang="en-US" sz="1400" dirty="0"/>
              <a:t>In IoC, an external entity (the IoC container) manages flow and object creation.</a:t>
            </a:r>
          </a:p>
          <a:p>
            <a:pPr>
              <a:lnSpc>
                <a:spcPct val="15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21610699"/>
      </p:ext>
    </p:extLst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B9CC74-EA97-7818-B145-F947A4CF7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20</a:t>
            </a:fld>
            <a:endParaRPr lang="en-GB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B6C6DC-B829-E2FF-B7D2-6C52009D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IoC 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0C561A-6881-D95C-D550-CF7E47506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0F8D9E-8BFF-301E-4530-296DA0A54C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3765" y="2055346"/>
            <a:ext cx="2343185" cy="1032807"/>
          </a:xfrm>
        </p:spPr>
        <p:txBody>
          <a:bodyPr/>
          <a:lstStyle/>
          <a:p>
            <a:r>
              <a:rPr lang="en-US" sz="1400" dirty="0"/>
              <a:t>Automatically injects the dependencies using annotations like @Autowired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2B0DC2-EC83-BE71-4064-B2391CDFF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15" y="2923859"/>
            <a:ext cx="4478360" cy="17980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CE5EC0-D4AE-F1FD-E72A-AA4B8521D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652" y="499054"/>
            <a:ext cx="3535446" cy="3264436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4636677-11F3-B47F-F9E7-A810CAF9653E}"/>
              </a:ext>
            </a:extLst>
          </p:cNvPr>
          <p:cNvSpPr txBox="1">
            <a:spLocks/>
          </p:cNvSpPr>
          <p:nvPr/>
        </p:nvSpPr>
        <p:spPr>
          <a:xfrm>
            <a:off x="2477467" y="588282"/>
            <a:ext cx="2343185" cy="103280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kern="1200" baseline="0">
                <a:solidFill>
                  <a:srgbClr val="00A3E0"/>
                </a:solidFill>
                <a:latin typeface="+mn-lt"/>
                <a:ea typeface="ＭＳ Ｐゴシック" pitchFamily="-109" charset="-128"/>
                <a:cs typeface="ＭＳ Ｐゴシック" pitchFamily="-109" charset="-128"/>
              </a:defRPr>
            </a:lvl1pPr>
            <a:lvl2pPr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kern="1200" baseline="0">
                <a:solidFill>
                  <a:schemeClr val="bg1"/>
                </a:solidFill>
                <a:latin typeface="+mn-lt"/>
                <a:ea typeface="ＭＳ Ｐゴシック" pitchFamily="-109" charset="-128"/>
              </a:defRPr>
            </a:lvl2pPr>
            <a:lvl3pPr marL="252000" indent="-2520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1200" kern="1200" baseline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3pPr>
            <a:lvl4pPr marL="468000" indent="-2160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1000" kern="1200" baseline="0">
                <a:solidFill>
                  <a:schemeClr val="bg1"/>
                </a:solidFill>
                <a:latin typeface="+mn-lt"/>
                <a:ea typeface="ＭＳ Ｐゴシック" pitchFamily="-109" charset="-128"/>
              </a:defRPr>
            </a:lvl4pPr>
            <a:lvl5pPr marL="717550" indent="-22701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800" kern="1200" baseline="0">
                <a:solidFill>
                  <a:schemeClr val="bg1"/>
                </a:solidFill>
                <a:latin typeface="+mn-lt"/>
                <a:ea typeface="ＭＳ Ｐゴシック" pitchFamily="-109" charset="-128"/>
              </a:defRPr>
            </a:lvl5pPr>
            <a:lvl6pPr marL="882969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6pPr>
            <a:lvl7pPr marL="1225221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7pPr>
            <a:lvl8pPr marL="1567475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8pPr>
            <a:lvl9pPr marL="1909729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IN" sz="1400" dirty="0"/>
              <a:t>manually instantiate the Service and Controller classes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05A0B16-E71E-242C-6CE7-F1C129015540}"/>
              </a:ext>
            </a:extLst>
          </p:cNvPr>
          <p:cNvSpPr txBox="1">
            <a:spLocks/>
          </p:cNvSpPr>
          <p:nvPr/>
        </p:nvSpPr>
        <p:spPr>
          <a:xfrm>
            <a:off x="5608592" y="3943455"/>
            <a:ext cx="2343185" cy="103280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kern="1200" baseline="0">
                <a:solidFill>
                  <a:srgbClr val="00A3E0"/>
                </a:solidFill>
                <a:latin typeface="+mn-lt"/>
                <a:ea typeface="ＭＳ Ｐゴシック" pitchFamily="-109" charset="-128"/>
                <a:cs typeface="ＭＳ Ｐゴシック" pitchFamily="-109" charset="-128"/>
              </a:defRPr>
            </a:lvl1pPr>
            <a:lvl2pPr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kern="1200" baseline="0">
                <a:solidFill>
                  <a:schemeClr val="bg1"/>
                </a:solidFill>
                <a:latin typeface="+mn-lt"/>
                <a:ea typeface="ＭＳ Ｐゴシック" pitchFamily="-109" charset="-128"/>
              </a:defRPr>
            </a:lvl2pPr>
            <a:lvl3pPr marL="252000" indent="-2520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1200" kern="1200" baseline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3pPr>
            <a:lvl4pPr marL="468000" indent="-2160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1000" kern="1200" baseline="0">
                <a:solidFill>
                  <a:schemeClr val="bg1"/>
                </a:solidFill>
                <a:latin typeface="+mn-lt"/>
                <a:ea typeface="ＭＳ Ｐゴシック" pitchFamily="-109" charset="-128"/>
              </a:defRPr>
            </a:lvl4pPr>
            <a:lvl5pPr marL="717550" indent="-22701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800" kern="1200" baseline="0">
                <a:solidFill>
                  <a:schemeClr val="bg1"/>
                </a:solidFill>
                <a:latin typeface="+mn-lt"/>
                <a:ea typeface="ＭＳ Ｐゴシック" pitchFamily="-109" charset="-128"/>
              </a:defRPr>
            </a:lvl5pPr>
            <a:lvl6pPr marL="882969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6pPr>
            <a:lvl7pPr marL="1225221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7pPr>
            <a:lvl8pPr marL="1567475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8pPr>
            <a:lvl9pPr marL="1909729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sz="1400" dirty="0">
                <a:solidFill>
                  <a:schemeClr val="bg1"/>
                </a:solidFill>
              </a:rPr>
              <a:t>- Decoupling the Class from the creation process</a:t>
            </a:r>
            <a:endParaRPr lang="en-IN" sz="1400" dirty="0">
              <a:solidFill>
                <a:schemeClr val="bg1"/>
              </a:solidFill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717B0FD0-5DAE-100D-3774-A8D6C62CFC9D}"/>
              </a:ext>
            </a:extLst>
          </p:cNvPr>
          <p:cNvCxnSpPr>
            <a:stCxn id="8" idx="0"/>
            <a:endCxn id="7" idx="0"/>
          </p:cNvCxnSpPr>
          <p:nvPr/>
        </p:nvCxnSpPr>
        <p:spPr bwMode="auto">
          <a:xfrm rot="5400000" flipH="1" flipV="1">
            <a:off x="5074103" y="-925989"/>
            <a:ext cx="89228" cy="2939315"/>
          </a:xfrm>
          <a:prstGeom prst="bentConnector3">
            <a:avLst>
              <a:gd name="adj1" fmla="val 356198"/>
            </a:avLst>
          </a:prstGeom>
          <a:noFill/>
          <a:ln w="12700">
            <a:solidFill>
              <a:schemeClr val="bg1"/>
            </a:solidFill>
            <a:round/>
            <a:headEnd/>
            <a:tailEnd type="triangle"/>
          </a:ln>
        </p:spPr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F0A918F-9CC7-9B54-FF84-42BFE0E24776}"/>
              </a:ext>
            </a:extLst>
          </p:cNvPr>
          <p:cNvCxnSpPr>
            <a:stCxn id="5" idx="1"/>
          </p:cNvCxnSpPr>
          <p:nvPr/>
        </p:nvCxnSpPr>
        <p:spPr bwMode="auto">
          <a:xfrm rot="10800000" flipV="1">
            <a:off x="321945" y="2571749"/>
            <a:ext cx="91820" cy="352109"/>
          </a:xfrm>
          <a:prstGeom prst="bentConnector2">
            <a:avLst/>
          </a:prstGeom>
          <a:noFill/>
          <a:ln w="12700">
            <a:solidFill>
              <a:schemeClr val="bg1"/>
            </a:solidFill>
            <a:round/>
            <a:headEnd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3973989686"/>
      </p:ext>
    </p:extLst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B9CC74-EA97-7818-B145-F947A4CF7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21</a:t>
            </a:fld>
            <a:endParaRPr lang="en-GB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B6C6DC-B829-E2FF-B7D2-6C52009D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/>
              <a:t>Dependency Injection (DI)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0C561A-6881-D95C-D550-CF7E47506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0F8D9E-8BFF-301E-4530-296DA0A54C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8139" y="1015999"/>
            <a:ext cx="7313946" cy="36226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 dirty="0"/>
              <a:t>Definition: </a:t>
            </a:r>
          </a:p>
          <a:p>
            <a:pPr lvl="2">
              <a:lnSpc>
                <a:spcPct val="150000"/>
              </a:lnSpc>
            </a:pPr>
            <a:r>
              <a:rPr lang="en-US" sz="1400" dirty="0"/>
              <a:t>Dependency Injection (DI) is a design pattern that implements IoC.</a:t>
            </a:r>
          </a:p>
          <a:p>
            <a:pPr>
              <a:lnSpc>
                <a:spcPct val="150000"/>
              </a:lnSpc>
            </a:pP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 err="1"/>
              <a:t>Benifits</a:t>
            </a:r>
            <a:r>
              <a:rPr lang="en-US" sz="1400" dirty="0"/>
              <a:t>:</a:t>
            </a:r>
          </a:p>
          <a:p>
            <a:pPr lvl="2">
              <a:lnSpc>
                <a:spcPct val="150000"/>
              </a:lnSpc>
            </a:pPr>
            <a:r>
              <a:rPr lang="en-US" sz="1400" dirty="0"/>
              <a:t>DI makes the code more modular and easier to test by allowing dependencies to be swapped out.</a:t>
            </a:r>
          </a:p>
          <a:p>
            <a:pPr lvl="2">
              <a:lnSpc>
                <a:spcPct val="150000"/>
              </a:lnSpc>
            </a:pPr>
            <a:r>
              <a:rPr lang="en-US" sz="1400" dirty="0"/>
              <a:t>It also promotes loose coupling</a:t>
            </a:r>
          </a:p>
        </p:txBody>
      </p:sp>
    </p:spTree>
    <p:extLst>
      <p:ext uri="{BB962C8B-B14F-4D97-AF65-F5344CB8AC3E}">
        <p14:creationId xmlns:p14="http://schemas.microsoft.com/office/powerpoint/2010/main" val="332321340"/>
      </p:ext>
    </p:extLst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B9CC74-EA97-7818-B145-F947A4CF7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22</a:t>
            </a:fld>
            <a:endParaRPr lang="en-GB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B6C6DC-B829-E2FF-B7D2-6C52009D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Injection Example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0C561A-6881-D95C-D550-CF7E47506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0F8D9E-8BFF-301E-4530-296DA0A54C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8139" y="1015999"/>
            <a:ext cx="7313946" cy="36226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 dirty="0"/>
              <a:t>A Spring Boot example where a service class is injected into a controller class using the </a:t>
            </a:r>
            <a:r>
              <a:rPr lang="en-US" sz="1400" dirty="0">
                <a:solidFill>
                  <a:schemeClr val="bg1"/>
                </a:solidFill>
              </a:rPr>
              <a:t>@Autowired annotation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FB28B6-F70B-B387-50A1-87B7CACC9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61" y="2010769"/>
            <a:ext cx="5781675" cy="256222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9B57484-9F0D-3388-5382-4804A323BBDA}"/>
              </a:ext>
            </a:extLst>
          </p:cNvPr>
          <p:cNvCxnSpPr>
            <a:cxnSpLocks/>
          </p:cNvCxnSpPr>
          <p:nvPr/>
        </p:nvCxnSpPr>
        <p:spPr>
          <a:xfrm>
            <a:off x="873149" y="1616569"/>
            <a:ext cx="1079405" cy="1222883"/>
          </a:xfrm>
          <a:prstGeom prst="straightConnector1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038782"/>
      </p:ext>
    </p:extLst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B9CC74-EA97-7818-B145-F947A4CF7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23</a:t>
            </a:fld>
            <a:endParaRPr lang="en-GB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B6C6DC-B829-E2FF-B7D2-6C52009D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Loose Coupling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0C561A-6881-D95C-D550-CF7E47506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0F8D9E-8BFF-301E-4530-296DA0A54C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8139" y="1015999"/>
            <a:ext cx="7313946" cy="36226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 dirty="0"/>
              <a:t>Loose coupling refers to a design principle where components or classes are minimally dependent on each other.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1. Easier Maintenance: Components can be updated or replaced with minimal impact on others.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2. Better Scalability: Systems can be scaled more easily because components are independent.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3. Flexibility: New features or changes can be integrated without significant refactoring.</a:t>
            </a:r>
          </a:p>
          <a:p>
            <a:pPr>
              <a:lnSpc>
                <a:spcPct val="15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62242819"/>
      </p:ext>
    </p:extLst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B9CC74-EA97-7818-B145-F947A4CF7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24</a:t>
            </a:fld>
            <a:endParaRPr lang="en-GB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B6C6DC-B829-E2FF-B7D2-6C52009D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Loose Coupling 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0C561A-6881-D95C-D550-CF7E47506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0F8D9E-8BFF-301E-4530-296DA0A54C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2532" y="2234101"/>
            <a:ext cx="2817573" cy="675297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 err="1">
                <a:solidFill>
                  <a:schemeClr val="bg1"/>
                </a:solidFill>
              </a:rPr>
              <a:t>MyController</a:t>
            </a:r>
            <a:r>
              <a:rPr lang="en-US" dirty="0">
                <a:solidFill>
                  <a:schemeClr val="bg1"/>
                </a:solidFill>
              </a:rPr>
              <a:t> class depends on the </a:t>
            </a:r>
            <a:r>
              <a:rPr lang="en-US" dirty="0" err="1">
                <a:solidFill>
                  <a:schemeClr val="bg1"/>
                </a:solidFill>
              </a:rPr>
              <a:t>MyService</a:t>
            </a:r>
            <a:r>
              <a:rPr lang="en-US" dirty="0">
                <a:solidFill>
                  <a:schemeClr val="bg1"/>
                </a:solidFill>
              </a:rPr>
              <a:t> interface rather than a concrete implementation, promoting loose coupling.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CD928F-3813-5516-87C8-3DDED61C9FCC}"/>
              </a:ext>
            </a:extLst>
          </p:cNvPr>
          <p:cNvSpPr txBox="1">
            <a:spLocks/>
          </p:cNvSpPr>
          <p:nvPr/>
        </p:nvSpPr>
        <p:spPr>
          <a:xfrm>
            <a:off x="1254878" y="872587"/>
            <a:ext cx="7209672" cy="6752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kern="1200" baseline="0">
                <a:solidFill>
                  <a:srgbClr val="00A3E0"/>
                </a:solidFill>
                <a:latin typeface="+mn-lt"/>
                <a:ea typeface="ＭＳ Ｐゴシック" pitchFamily="-109" charset="-128"/>
                <a:cs typeface="ＭＳ Ｐゴシック" pitchFamily="-109" charset="-128"/>
              </a:defRPr>
            </a:lvl1pPr>
            <a:lvl2pPr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kern="1200" baseline="0">
                <a:solidFill>
                  <a:schemeClr val="bg1"/>
                </a:solidFill>
                <a:latin typeface="+mn-lt"/>
                <a:ea typeface="ＭＳ Ｐゴシック" pitchFamily="-109" charset="-128"/>
              </a:defRPr>
            </a:lvl2pPr>
            <a:lvl3pPr marL="252000" indent="-2520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1200" kern="1200" baseline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3pPr>
            <a:lvl4pPr marL="468000" indent="-2160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1000" kern="1200" baseline="0">
                <a:solidFill>
                  <a:schemeClr val="bg1"/>
                </a:solidFill>
                <a:latin typeface="+mn-lt"/>
                <a:ea typeface="ＭＳ Ｐゴシック" pitchFamily="-109" charset="-128"/>
              </a:defRPr>
            </a:lvl4pPr>
            <a:lvl5pPr marL="717550" indent="-22701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800" kern="1200" baseline="0">
                <a:solidFill>
                  <a:schemeClr val="bg1"/>
                </a:solidFill>
                <a:latin typeface="+mn-lt"/>
                <a:ea typeface="ＭＳ Ｐゴシック" pitchFamily="-109" charset="-128"/>
              </a:defRPr>
            </a:lvl5pPr>
            <a:lvl6pPr marL="882969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6pPr>
            <a:lvl7pPr marL="1225221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7pPr>
            <a:lvl8pPr marL="1567475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8pPr>
            <a:lvl9pPr marL="1909729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400" dirty="0" err="1"/>
              <a:t>MyService</a:t>
            </a:r>
            <a:r>
              <a:rPr lang="en-US" sz="1400" dirty="0"/>
              <a:t> is an interface, and </a:t>
            </a:r>
            <a:r>
              <a:rPr lang="en-US" sz="1400" dirty="0" err="1"/>
              <a:t>MyServiceImplementation</a:t>
            </a:r>
            <a:r>
              <a:rPr lang="en-US" sz="1400" dirty="0"/>
              <a:t> is its implementation. </a:t>
            </a:r>
            <a:endParaRPr lang="en-IN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11471D-E59B-22F6-DF12-60A6B0EE4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515" y="1396753"/>
            <a:ext cx="4175966" cy="25900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566418-2B16-A838-4872-9FD4A9B98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878" y="1396753"/>
            <a:ext cx="2020038" cy="5849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BDCD55-FBA6-4AFF-4D6F-277EBA826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945" y="3246000"/>
            <a:ext cx="3664475" cy="148166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C603E9-F711-04D6-E74E-B012FDDED527}"/>
              </a:ext>
            </a:extLst>
          </p:cNvPr>
          <p:cNvCxnSpPr>
            <a:stCxn id="5" idx="0"/>
          </p:cNvCxnSpPr>
          <p:nvPr/>
        </p:nvCxnSpPr>
        <p:spPr bwMode="auto">
          <a:xfrm flipH="1" flipV="1">
            <a:off x="2441318" y="1773337"/>
            <a:ext cx="1" cy="460764"/>
          </a:xfrm>
          <a:prstGeom prst="straightConnector1">
            <a:avLst/>
          </a:prstGeom>
          <a:noFill/>
          <a:ln w="12700">
            <a:solidFill>
              <a:schemeClr val="bg1"/>
            </a:solidFill>
            <a:round/>
            <a:headEnd/>
            <a:tailEnd type="triangle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2F860B-51AC-B320-FA3B-62FEFF564773}"/>
              </a:ext>
            </a:extLst>
          </p:cNvPr>
          <p:cNvCxnSpPr/>
          <p:nvPr/>
        </p:nvCxnSpPr>
        <p:spPr bwMode="auto">
          <a:xfrm>
            <a:off x="1430039" y="3161821"/>
            <a:ext cx="0" cy="289523"/>
          </a:xfrm>
          <a:prstGeom prst="straightConnector1">
            <a:avLst/>
          </a:prstGeom>
          <a:noFill/>
          <a:ln w="12700">
            <a:solidFill>
              <a:schemeClr val="bg1"/>
            </a:solidFill>
            <a:round/>
            <a:headEnd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3024167518"/>
      </p:ext>
    </p:extLst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B9CC74-EA97-7818-B145-F947A4CF7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25</a:t>
            </a:fld>
            <a:endParaRPr lang="en-GB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B6C6DC-B829-E2FF-B7D2-6C52009D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/>
              <a:t>Tight Coupling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0C561A-6881-D95C-D550-CF7E47506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0F8D9E-8BFF-301E-4530-296DA0A54C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8139" y="1015999"/>
            <a:ext cx="7313946" cy="36226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 dirty="0"/>
              <a:t>Tight coupling refers to a design where components or classes are highly dependent on each other.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1. Reduced Flexibility: Difficult to modify or replace components without affecting others.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2. Harder Maintenance: More effort is required to update and maintain the system.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3. Increased Risk of Changes Propagating: Changes in one part of the system can cause issues in other parts, making debugging and testing more complex.</a:t>
            </a:r>
          </a:p>
          <a:p>
            <a:pPr>
              <a:lnSpc>
                <a:spcPct val="15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8734121"/>
      </p:ext>
    </p:extLst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B9CC74-EA97-7818-B145-F947A4CF7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26</a:t>
            </a:fld>
            <a:endParaRPr lang="en-GB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B6C6DC-B829-E2FF-B7D2-6C52009D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Tight Coupling 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0C561A-6881-D95C-D550-CF7E47506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0F8D9E-8BFF-301E-4530-296DA0A54C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2526" y="1211428"/>
            <a:ext cx="2817573" cy="675297"/>
          </a:xfrm>
        </p:spPr>
        <p:txBody>
          <a:bodyPr/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 err="1">
                <a:solidFill>
                  <a:schemeClr val="bg1"/>
                </a:solidFill>
              </a:rPr>
              <a:t>MyController</a:t>
            </a:r>
            <a:r>
              <a:rPr lang="en-US" dirty="0">
                <a:solidFill>
                  <a:schemeClr val="bg1"/>
                </a:solidFill>
              </a:rPr>
              <a:t> class directly creates an instance of </a:t>
            </a:r>
            <a:r>
              <a:rPr lang="en-US" dirty="0" err="1">
                <a:solidFill>
                  <a:schemeClr val="bg1"/>
                </a:solidFill>
              </a:rPr>
              <a:t>MyService</a:t>
            </a:r>
            <a:r>
              <a:rPr lang="en-US" dirty="0">
                <a:solidFill>
                  <a:schemeClr val="bg1"/>
                </a:solidFill>
              </a:rPr>
              <a:t>, leading to tight coupling.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CD928F-3813-5516-87C8-3DDED61C9FCC}"/>
              </a:ext>
            </a:extLst>
          </p:cNvPr>
          <p:cNvSpPr txBox="1">
            <a:spLocks/>
          </p:cNvSpPr>
          <p:nvPr/>
        </p:nvSpPr>
        <p:spPr>
          <a:xfrm>
            <a:off x="1204411" y="2777981"/>
            <a:ext cx="2425688" cy="6752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kern="1200" baseline="0">
                <a:solidFill>
                  <a:srgbClr val="00A3E0"/>
                </a:solidFill>
                <a:latin typeface="+mn-lt"/>
                <a:ea typeface="ＭＳ Ｐゴシック" pitchFamily="-109" charset="-128"/>
                <a:cs typeface="ＭＳ Ｐゴシック" pitchFamily="-109" charset="-128"/>
              </a:defRPr>
            </a:lvl1pPr>
            <a:lvl2pPr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kern="1200" baseline="0">
                <a:solidFill>
                  <a:schemeClr val="bg1"/>
                </a:solidFill>
                <a:latin typeface="+mn-lt"/>
                <a:ea typeface="ＭＳ Ｐゴシック" pitchFamily="-109" charset="-128"/>
              </a:defRPr>
            </a:lvl2pPr>
            <a:lvl3pPr marL="252000" indent="-2520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1200" kern="1200" baseline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3pPr>
            <a:lvl4pPr marL="468000" indent="-2160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1000" kern="1200" baseline="0">
                <a:solidFill>
                  <a:schemeClr val="bg1"/>
                </a:solidFill>
                <a:latin typeface="+mn-lt"/>
                <a:ea typeface="ＭＳ Ｐゴシック" pitchFamily="-109" charset="-128"/>
              </a:defRPr>
            </a:lvl4pPr>
            <a:lvl5pPr marL="717550" indent="-22701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800" kern="1200" baseline="0">
                <a:solidFill>
                  <a:schemeClr val="bg1"/>
                </a:solidFill>
                <a:latin typeface="+mn-lt"/>
                <a:ea typeface="ＭＳ Ｐゴシック" pitchFamily="-109" charset="-128"/>
              </a:defRPr>
            </a:lvl5pPr>
            <a:lvl6pPr marL="882969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6pPr>
            <a:lvl7pPr marL="1225221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7pPr>
            <a:lvl8pPr marL="1567475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8pPr>
            <a:lvl9pPr marL="1909729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en-US" sz="1400" dirty="0"/>
              <a:t>If the implementation of </a:t>
            </a:r>
            <a:r>
              <a:rPr lang="en-US" sz="1400" dirty="0" err="1"/>
              <a:t>MyService</a:t>
            </a:r>
            <a:r>
              <a:rPr lang="en-US" sz="1400" dirty="0"/>
              <a:t> changes or if you want to swap it out for another implementation, you would need to modify the </a:t>
            </a:r>
            <a:r>
              <a:rPr lang="en-US" sz="1400" dirty="0" err="1"/>
              <a:t>MyController</a:t>
            </a:r>
            <a:r>
              <a:rPr lang="en-US" sz="1400" dirty="0"/>
              <a:t> class.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D30E67-4D96-32F9-47DE-A8DC37550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173" y="1088106"/>
            <a:ext cx="4531575" cy="318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920344"/>
      </p:ext>
    </p:extLst>
  </p:cSld>
  <p:clrMapOvr>
    <a:masterClrMapping/>
  </p:clrMapOvr>
  <p:transition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650CF02-3B46-4AC8-A1D7-3EE3D59D7E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4687" y="2054461"/>
            <a:ext cx="7342187" cy="1062354"/>
          </a:xfrm>
        </p:spPr>
        <p:txBody>
          <a:bodyPr/>
          <a:lstStyle/>
          <a:p>
            <a:r>
              <a:rPr lang="en-US" sz="3200" dirty="0"/>
              <a:t>Unveiling </a:t>
            </a:r>
          </a:p>
          <a:p>
            <a:r>
              <a:rPr lang="en-US" sz="3200" dirty="0"/>
              <a:t>Spring Boot &amp; </a:t>
            </a:r>
          </a:p>
          <a:p>
            <a:r>
              <a:rPr lang="en-US" sz="3200" dirty="0"/>
              <a:t>Building Your First Application</a:t>
            </a:r>
            <a:endParaRPr lang="en-GB" sz="320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6AE81D8-1F01-456C-B7E9-0E09995C35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8 May 2024, Speaker name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4D4890-D5F9-46D6-8590-FEE139B996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4688" y="3227118"/>
            <a:ext cx="7342187" cy="872164"/>
          </a:xfrm>
        </p:spPr>
        <p:txBody>
          <a:bodyPr/>
          <a:lstStyle/>
          <a:p>
            <a:r>
              <a:rPr lang="en-GB" dirty="0"/>
              <a:t>Module 2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49BCC54-58D2-1039-62CB-BE5C4450FB58}"/>
              </a:ext>
            </a:extLst>
          </p:cNvPr>
          <p:cNvSpPr txBox="1"/>
          <p:nvPr/>
        </p:nvSpPr>
        <p:spPr>
          <a:xfrm>
            <a:off x="7531101" y="3201535"/>
            <a:ext cx="1612899" cy="461665"/>
          </a:xfrm>
          <a:prstGeom prst="rect">
            <a:avLst/>
          </a:prstGeom>
          <a:solidFill>
            <a:srgbClr val="FF0027"/>
          </a:solidFill>
          <a:ln>
            <a:solidFill>
              <a:srgbClr val="FF0027"/>
            </a:solidFill>
          </a:ln>
        </p:spPr>
        <p:txBody>
          <a:bodyPr wrap="square">
            <a:spAutoFit/>
          </a:bodyPr>
          <a:lstStyle/>
          <a:p>
            <a:r>
              <a:rPr lang="en-GB" sz="600" dirty="0">
                <a:solidFill>
                  <a:schemeClr val="bg1"/>
                </a:solidFill>
              </a:rPr>
              <a:t>PPT-Master </a:t>
            </a:r>
            <a:r>
              <a:rPr lang="en-GB" sz="600">
                <a:solidFill>
                  <a:schemeClr val="bg1"/>
                </a:solidFill>
              </a:rPr>
              <a:t>Version 01</a:t>
            </a:r>
            <a:r>
              <a:rPr lang="en-GB" sz="600" dirty="0">
                <a:solidFill>
                  <a:schemeClr val="bg1"/>
                </a:solidFill>
              </a:rPr>
              <a:t>. There will be an extensive update with the new Deutsche Bank font and sample charts at the end of August 2024.</a:t>
            </a:r>
          </a:p>
        </p:txBody>
      </p:sp>
    </p:spTree>
    <p:extLst>
      <p:ext uri="{BB962C8B-B14F-4D97-AF65-F5344CB8AC3E}">
        <p14:creationId xmlns:p14="http://schemas.microsoft.com/office/powerpoint/2010/main" val="2539771594"/>
      </p:ext>
    </p:extLst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4DF890-4368-34E1-FA8B-F6EDF9A7E4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4688" y="131385"/>
            <a:ext cx="7342187" cy="1317673"/>
          </a:xfrm>
        </p:spPr>
        <p:txBody>
          <a:bodyPr/>
          <a:lstStyle/>
          <a:p>
            <a:r>
              <a:rPr lang="en-US" sz="1600" dirty="0"/>
              <a:t>Spring Boot Autoconfiguration: Unveiling the Magic</a:t>
            </a:r>
            <a:endParaRPr lang="en-IN" sz="1600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A1AE6D5-D3E9-E6BE-EC45-23A066930EFD}"/>
              </a:ext>
            </a:extLst>
          </p:cNvPr>
          <p:cNvSpPr txBox="1">
            <a:spLocks/>
          </p:cNvSpPr>
          <p:nvPr/>
        </p:nvSpPr>
        <p:spPr>
          <a:xfrm>
            <a:off x="565943" y="1629227"/>
            <a:ext cx="7559675" cy="2212019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kern="1200" baseline="0">
                <a:solidFill>
                  <a:srgbClr val="00A3E0"/>
                </a:solidFill>
                <a:latin typeface="+mn-lt"/>
                <a:ea typeface="ＭＳ Ｐゴシック" pitchFamily="-109" charset="-128"/>
                <a:cs typeface="ＭＳ Ｐゴシック" pitchFamily="-109" charset="-128"/>
              </a:defRPr>
            </a:lvl1pPr>
            <a:lvl2pPr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kern="1200" baseline="0">
                <a:solidFill>
                  <a:schemeClr val="bg1"/>
                </a:solidFill>
                <a:latin typeface="+mn-lt"/>
                <a:ea typeface="ＭＳ Ｐゴシック" pitchFamily="-109" charset="-128"/>
              </a:defRPr>
            </a:lvl2pPr>
            <a:lvl3pPr marL="252000" indent="-2520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1200" kern="1200" baseline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3pPr>
            <a:lvl4pPr marL="468000" indent="-2160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1000" kern="1200" baseline="0">
                <a:solidFill>
                  <a:schemeClr val="bg1"/>
                </a:solidFill>
                <a:latin typeface="+mn-lt"/>
                <a:ea typeface="ＭＳ Ｐゴシック" pitchFamily="-109" charset="-128"/>
              </a:defRPr>
            </a:lvl4pPr>
            <a:lvl5pPr marL="717550" indent="-22701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1000" kern="1200" baseline="0">
                <a:solidFill>
                  <a:schemeClr val="bg1"/>
                </a:solidFill>
                <a:latin typeface="+mn-lt"/>
                <a:ea typeface="ＭＳ Ｐゴシック" pitchFamily="-109" charset="-128"/>
              </a:defRPr>
            </a:lvl5pPr>
            <a:lvl6pPr marL="882969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6pPr>
            <a:lvl7pPr marL="1225221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7pPr>
            <a:lvl8pPr marL="1567475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8pPr>
            <a:lvl9pPr marL="1909729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sz="1400">
                <a:solidFill>
                  <a:schemeClr val="bg1"/>
                </a:solidFill>
              </a:rPr>
              <a:t>How Spring Boot Automatically Configures Beans Based on Project Dependencies</a:t>
            </a:r>
            <a:endParaRPr lang="en-IN" sz="1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C8F865-4F51-A291-476B-EED7511E64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42" t="8203"/>
          <a:stretch/>
        </p:blipFill>
        <p:spPr>
          <a:xfrm>
            <a:off x="3079070" y="2254337"/>
            <a:ext cx="2985859" cy="96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025755"/>
      </p:ext>
    </p:extLst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29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What is Spring Boot Autoconfiguration?</a:t>
            </a:r>
            <a:endParaRPr lang="en-IN" sz="1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1. Autoconfiguration simplifies Spring application setup.</a:t>
            </a:r>
          </a:p>
          <a:p>
            <a:pPr>
              <a:lnSpc>
                <a:spcPct val="150000"/>
              </a:lnSpc>
            </a:pPr>
            <a:r>
              <a:rPr lang="en-US" dirty="0"/>
              <a:t>2. Automatically configures Spring beans based on </a:t>
            </a:r>
            <a:r>
              <a:rPr lang="en-US" dirty="0" err="1"/>
              <a:t>classpath</a:t>
            </a:r>
            <a:r>
              <a:rPr lang="en-US" dirty="0"/>
              <a:t> settings, other beans, and property settings.</a:t>
            </a:r>
          </a:p>
          <a:p>
            <a:pPr>
              <a:lnSpc>
                <a:spcPct val="150000"/>
              </a:lnSpc>
            </a:pPr>
            <a:r>
              <a:rPr lang="en-US" dirty="0"/>
              <a:t>3. Reduces boilerplate configuration.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52E518-89CD-BCED-C080-F1B1D2EC04B6}"/>
              </a:ext>
            </a:extLst>
          </p:cNvPr>
          <p:cNvSpPr/>
          <p:nvPr/>
        </p:nvSpPr>
        <p:spPr bwMode="auto">
          <a:xfrm>
            <a:off x="5155062" y="1883239"/>
            <a:ext cx="3382534" cy="1596854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lnSpc>
                <a:spcPct val="150000"/>
              </a:lnSpc>
              <a:tabLst>
                <a:tab pos="1257300" algn="l"/>
              </a:tabLst>
            </a:pPr>
            <a:r>
              <a:rPr lang="en-US" sz="1200" dirty="0">
                <a:solidFill>
                  <a:schemeClr val="bg1"/>
                </a:solidFill>
                <a:latin typeface="+mn-lt"/>
              </a:rPr>
              <a:t>(For instance, if H2 is present in your </a:t>
            </a:r>
            <a:r>
              <a:rPr lang="en-US" sz="1200" dirty="0" err="1">
                <a:solidFill>
                  <a:schemeClr val="bg1"/>
                </a:solidFill>
                <a:latin typeface="+mn-lt"/>
              </a:rPr>
              <a:t>classpath</a:t>
            </a:r>
            <a:r>
              <a:rPr lang="en-US" sz="1200" dirty="0">
                <a:solidFill>
                  <a:schemeClr val="bg1"/>
                </a:solidFill>
                <a:latin typeface="+mn-lt"/>
              </a:rPr>
              <a:t> and you haven't manually set up any database connection beans, Spring Boot will automatically configure an in-memory database.)</a:t>
            </a:r>
            <a:endParaRPr lang="en-IN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1EE7DF-A978-AEDA-AA24-0BDEC021557C}"/>
              </a:ext>
            </a:extLst>
          </p:cNvPr>
          <p:cNvSpPr/>
          <p:nvPr/>
        </p:nvSpPr>
        <p:spPr bwMode="auto">
          <a:xfrm>
            <a:off x="1119252" y="3433574"/>
            <a:ext cx="1556657" cy="391886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rgbClr val="FFFFFF"/>
                </a:solidFill>
                <a:latin typeface="+mn-lt"/>
              </a:rPr>
              <a:t>Dependencies</a:t>
            </a:r>
            <a:endParaRPr lang="en-IN" sz="1200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E61D4F-D867-BD48-3103-FDDC150DB8DC}"/>
              </a:ext>
            </a:extLst>
          </p:cNvPr>
          <p:cNvSpPr/>
          <p:nvPr/>
        </p:nvSpPr>
        <p:spPr bwMode="auto">
          <a:xfrm>
            <a:off x="267613" y="2563870"/>
            <a:ext cx="1480865" cy="440759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rgbClr val="FFFFFF"/>
                </a:solidFill>
                <a:latin typeface="+mn-lt"/>
              </a:rPr>
              <a:t>Spring Application</a:t>
            </a:r>
            <a:endParaRPr lang="en-IN" sz="1200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0046E7-160D-5C00-4C5F-CDB6D63DD898}"/>
              </a:ext>
            </a:extLst>
          </p:cNvPr>
          <p:cNvSpPr/>
          <p:nvPr/>
        </p:nvSpPr>
        <p:spPr bwMode="auto">
          <a:xfrm>
            <a:off x="2545738" y="2492071"/>
            <a:ext cx="1480866" cy="544287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rgbClr val="FFFFFF"/>
                </a:solidFill>
                <a:latin typeface="+mn-lt"/>
              </a:rPr>
              <a:t>Auto configuration</a:t>
            </a:r>
            <a:endParaRPr lang="en-IN" sz="1200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8" name="Arrow: Left-Up 17">
            <a:extLst>
              <a:ext uri="{FF2B5EF4-FFF2-40B4-BE49-F238E27FC236}">
                <a16:creationId xmlns:a16="http://schemas.microsoft.com/office/drawing/2014/main" id="{D19724E4-FADA-9EEC-BD74-1F336E8AE9A0}"/>
              </a:ext>
            </a:extLst>
          </p:cNvPr>
          <p:cNvSpPr/>
          <p:nvPr/>
        </p:nvSpPr>
        <p:spPr bwMode="auto">
          <a:xfrm>
            <a:off x="2746894" y="3036358"/>
            <a:ext cx="881743" cy="816429"/>
          </a:xfrm>
          <a:prstGeom prst="leftUpArrow">
            <a:avLst/>
          </a:prstGeom>
          <a:solidFill>
            <a:schemeClr val="accent1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IN" sz="1200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A1466FDA-73D3-A054-74E6-C60AC08EFF7A}"/>
              </a:ext>
            </a:extLst>
          </p:cNvPr>
          <p:cNvSpPr/>
          <p:nvPr/>
        </p:nvSpPr>
        <p:spPr bwMode="auto">
          <a:xfrm>
            <a:off x="1819003" y="2628033"/>
            <a:ext cx="669470" cy="304797"/>
          </a:xfrm>
          <a:prstGeom prst="leftRightArrow">
            <a:avLst/>
          </a:prstGeom>
          <a:solidFill>
            <a:schemeClr val="accent1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IN" sz="1200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AF5A63-890F-B5A0-55FE-E3DFA753C80F}"/>
              </a:ext>
            </a:extLst>
          </p:cNvPr>
          <p:cNvSpPr/>
          <p:nvPr/>
        </p:nvSpPr>
        <p:spPr bwMode="auto">
          <a:xfrm>
            <a:off x="4422838" y="3594139"/>
            <a:ext cx="2504171" cy="391886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rgbClr val="FFFFFF"/>
                </a:solidFill>
                <a:latin typeface="+mn-lt"/>
              </a:rPr>
              <a:t>Spring Boot Application</a:t>
            </a:r>
            <a:endParaRPr lang="en-IN" sz="1200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1" name="Arrow: Left-Up 20">
            <a:extLst>
              <a:ext uri="{FF2B5EF4-FFF2-40B4-BE49-F238E27FC236}">
                <a16:creationId xmlns:a16="http://schemas.microsoft.com/office/drawing/2014/main" id="{34DA75C6-9192-614E-93FB-5802ECC9A11A}"/>
              </a:ext>
            </a:extLst>
          </p:cNvPr>
          <p:cNvSpPr/>
          <p:nvPr/>
        </p:nvSpPr>
        <p:spPr bwMode="auto">
          <a:xfrm rot="16200000">
            <a:off x="4172920" y="2682916"/>
            <a:ext cx="881743" cy="816429"/>
          </a:xfrm>
          <a:prstGeom prst="leftUpArrow">
            <a:avLst/>
          </a:prstGeom>
          <a:solidFill>
            <a:schemeClr val="accent1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IN" sz="1200" dirty="0" err="1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46270724"/>
      </p:ext>
    </p:extLst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30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IN" dirty="0"/>
              <a:t>How Does It Work?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1. Spring Boot scans the </a:t>
            </a:r>
            <a:r>
              <a:rPr lang="en-US" dirty="0" err="1"/>
              <a:t>classpath</a:t>
            </a:r>
            <a:r>
              <a:rPr lang="en-US" dirty="0"/>
              <a:t> for dependencies.</a:t>
            </a:r>
          </a:p>
          <a:p>
            <a:pPr>
              <a:lnSpc>
                <a:spcPct val="150000"/>
              </a:lnSpc>
            </a:pPr>
            <a:r>
              <a:rPr lang="en-US" dirty="0"/>
              <a:t>2. Conditional configuration based on available libraries and classes.</a:t>
            </a:r>
          </a:p>
          <a:p>
            <a:pPr>
              <a:lnSpc>
                <a:spcPct val="150000"/>
              </a:lnSpc>
            </a:pPr>
            <a:r>
              <a:rPr lang="en-US" dirty="0"/>
              <a:t>3. Utilizes @Conditional annotations for decision-making.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5A6A73-E390-3E03-6DCB-8DBE4CD44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852" y="1951810"/>
            <a:ext cx="5191125" cy="23431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2ACD56E-F767-DFB3-15CE-5A70B53CD8D7}"/>
              </a:ext>
            </a:extLst>
          </p:cNvPr>
          <p:cNvSpPr/>
          <p:nvPr/>
        </p:nvSpPr>
        <p:spPr bwMode="auto">
          <a:xfrm>
            <a:off x="915295" y="2553700"/>
            <a:ext cx="2462211" cy="113937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r" defTabSz="963613" eaLnBrk="0" hangingPunct="0">
              <a:tabLst>
                <a:tab pos="1257300" algn="l"/>
              </a:tabLst>
            </a:pPr>
            <a:r>
              <a:rPr lang="en-IN" sz="1400" dirty="0"/>
              <a:t>Conditionally configure beans based on certain conditions</a:t>
            </a:r>
            <a:endParaRPr lang="en-IN" sz="1400" dirty="0">
              <a:solidFill>
                <a:srgbClr val="FFFFFF"/>
              </a:solidFill>
              <a:latin typeface="+mn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D8B46B-A74D-1468-4B48-EB97DBBC69E5}"/>
              </a:ext>
            </a:extLst>
          </p:cNvPr>
          <p:cNvCxnSpPr/>
          <p:nvPr/>
        </p:nvCxnSpPr>
        <p:spPr bwMode="auto">
          <a:xfrm>
            <a:off x="1521562" y="1828800"/>
            <a:ext cx="2005290" cy="48280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686542033"/>
      </p:ext>
    </p:extLst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31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IN" sz="1400" dirty="0"/>
              <a:t>Example: </a:t>
            </a:r>
            <a:r>
              <a:rPr lang="en-IN" sz="1400" dirty="0" err="1"/>
              <a:t>DataSource</a:t>
            </a:r>
            <a:r>
              <a:rPr lang="en-IN" sz="1400" dirty="0"/>
              <a:t> Autoconfiguration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1200" dirty="0"/>
              <a:t>1. Detects </a:t>
            </a:r>
            <a:r>
              <a:rPr lang="en-US" sz="1200" dirty="0" err="1"/>
              <a:t>DataSource</a:t>
            </a:r>
            <a:r>
              <a:rPr lang="en-US" sz="1200" dirty="0"/>
              <a:t> class in the </a:t>
            </a:r>
            <a:r>
              <a:rPr lang="en-US" sz="1200" dirty="0" err="1"/>
              <a:t>classpath</a:t>
            </a:r>
            <a:r>
              <a:rPr lang="en-US" sz="12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200" dirty="0"/>
              <a:t>2. Configures </a:t>
            </a:r>
            <a:r>
              <a:rPr lang="en-US" sz="1200" dirty="0" err="1"/>
              <a:t>DataSource</a:t>
            </a:r>
            <a:r>
              <a:rPr lang="en-US" sz="1200" dirty="0"/>
              <a:t> bean if not already defined..</a:t>
            </a:r>
          </a:p>
          <a:p>
            <a:pPr algn="just">
              <a:lnSpc>
                <a:spcPct val="150000"/>
              </a:lnSpc>
            </a:pPr>
            <a:r>
              <a:rPr lang="en-US" sz="1200" dirty="0"/>
              <a:t>3. Annotated with @SpringBootApplication to enable auto-configuration.</a:t>
            </a: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1BFD4A-6BBA-686C-AB86-28A06C735DEB}"/>
              </a:ext>
            </a:extLst>
          </p:cNvPr>
          <p:cNvSpPr txBox="1"/>
          <p:nvPr/>
        </p:nvSpPr>
        <p:spPr bwMode="ltGray">
          <a:xfrm>
            <a:off x="354787" y="2451896"/>
            <a:ext cx="5058180" cy="1754326"/>
          </a:xfrm>
          <a:prstGeom prst="rect">
            <a:avLst/>
          </a:prstGeom>
          <a:solidFill>
            <a:srgbClr val="16184E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&lt;dependency&gt;</a:t>
            </a:r>
          </a:p>
          <a:p>
            <a:pPr lvl="1"/>
            <a:r>
              <a:rPr lang="en-IN" sz="1200" dirty="0">
                <a:solidFill>
                  <a:schemeClr val="bg1"/>
                </a:solidFill>
              </a:rPr>
              <a:t>&lt;</a:t>
            </a:r>
            <a:r>
              <a:rPr lang="en-IN" sz="1200" dirty="0" err="1">
                <a:solidFill>
                  <a:schemeClr val="bg1"/>
                </a:solidFill>
              </a:rPr>
              <a:t>groupId</a:t>
            </a:r>
            <a:r>
              <a:rPr lang="en-IN" sz="1200" dirty="0">
                <a:solidFill>
                  <a:schemeClr val="bg1"/>
                </a:solidFill>
              </a:rPr>
              <a:t>&gt;</a:t>
            </a:r>
            <a:r>
              <a:rPr lang="en-IN" sz="1200" dirty="0" err="1">
                <a:solidFill>
                  <a:schemeClr val="bg1"/>
                </a:solidFill>
              </a:rPr>
              <a:t>org.springframework.boot</a:t>
            </a:r>
            <a:r>
              <a:rPr lang="en-IN" sz="1200" dirty="0">
                <a:solidFill>
                  <a:schemeClr val="bg1"/>
                </a:solidFill>
              </a:rPr>
              <a:t>&lt;/</a:t>
            </a:r>
            <a:r>
              <a:rPr lang="en-IN" sz="1200" dirty="0" err="1">
                <a:solidFill>
                  <a:schemeClr val="bg1"/>
                </a:solidFill>
              </a:rPr>
              <a:t>groupId</a:t>
            </a:r>
            <a:r>
              <a:rPr lang="en-IN" sz="1200" dirty="0">
                <a:solidFill>
                  <a:schemeClr val="bg1"/>
                </a:solidFill>
              </a:rPr>
              <a:t>&gt;</a:t>
            </a:r>
          </a:p>
          <a:p>
            <a:pPr lvl="1"/>
            <a:r>
              <a:rPr lang="en-IN" sz="1200" dirty="0">
                <a:solidFill>
                  <a:schemeClr val="bg1"/>
                </a:solidFill>
              </a:rPr>
              <a:t>&lt;</a:t>
            </a:r>
            <a:r>
              <a:rPr lang="en-IN" sz="1200" dirty="0" err="1">
                <a:solidFill>
                  <a:schemeClr val="bg1"/>
                </a:solidFill>
              </a:rPr>
              <a:t>artifactId</a:t>
            </a:r>
            <a:r>
              <a:rPr lang="en-IN" sz="1200" dirty="0">
                <a:solidFill>
                  <a:schemeClr val="bg1"/>
                </a:solidFill>
              </a:rPr>
              <a:t>&gt;spring-boot-starter-data-</a:t>
            </a:r>
            <a:r>
              <a:rPr lang="en-IN" sz="1200" dirty="0" err="1">
                <a:solidFill>
                  <a:schemeClr val="bg1"/>
                </a:solidFill>
              </a:rPr>
              <a:t>jpa</a:t>
            </a:r>
            <a:r>
              <a:rPr lang="en-IN" sz="1200" dirty="0">
                <a:solidFill>
                  <a:schemeClr val="bg1"/>
                </a:solidFill>
              </a:rPr>
              <a:t>&lt;/</a:t>
            </a:r>
            <a:r>
              <a:rPr lang="en-IN" sz="1200" dirty="0" err="1">
                <a:solidFill>
                  <a:schemeClr val="bg1"/>
                </a:solidFill>
              </a:rPr>
              <a:t>artifactId</a:t>
            </a:r>
            <a:r>
              <a:rPr lang="en-IN" sz="1200" dirty="0">
                <a:solidFill>
                  <a:schemeClr val="bg1"/>
                </a:solidFill>
              </a:rPr>
              <a:t>&gt; </a:t>
            </a:r>
          </a:p>
          <a:p>
            <a:r>
              <a:rPr lang="en-IN" sz="1200" dirty="0">
                <a:solidFill>
                  <a:schemeClr val="bg1"/>
                </a:solidFill>
              </a:rPr>
              <a:t>&lt;/dependency&gt; </a:t>
            </a:r>
          </a:p>
          <a:p>
            <a:r>
              <a:rPr lang="en-IN" sz="1200" dirty="0">
                <a:solidFill>
                  <a:schemeClr val="bg1"/>
                </a:solidFill>
              </a:rPr>
              <a:t>&lt;dependency&gt;</a:t>
            </a:r>
          </a:p>
          <a:p>
            <a:pPr lvl="1"/>
            <a:r>
              <a:rPr lang="en-IN" sz="1200" dirty="0">
                <a:solidFill>
                  <a:schemeClr val="bg1"/>
                </a:solidFill>
              </a:rPr>
              <a:t>&lt;</a:t>
            </a:r>
            <a:r>
              <a:rPr lang="en-IN" sz="1200" dirty="0" err="1">
                <a:solidFill>
                  <a:schemeClr val="bg1"/>
                </a:solidFill>
              </a:rPr>
              <a:t>groupId</a:t>
            </a:r>
            <a:r>
              <a:rPr lang="en-IN" sz="1200" dirty="0">
                <a:solidFill>
                  <a:schemeClr val="bg1"/>
                </a:solidFill>
              </a:rPr>
              <a:t>&gt;com.h2database&lt;/</a:t>
            </a:r>
            <a:r>
              <a:rPr lang="en-IN" sz="1200" dirty="0" err="1">
                <a:solidFill>
                  <a:schemeClr val="bg1"/>
                </a:solidFill>
              </a:rPr>
              <a:t>groupId</a:t>
            </a:r>
            <a:r>
              <a:rPr lang="en-IN" sz="1200" dirty="0">
                <a:solidFill>
                  <a:schemeClr val="bg1"/>
                </a:solidFill>
              </a:rPr>
              <a:t>&gt; </a:t>
            </a:r>
          </a:p>
          <a:p>
            <a:pPr lvl="1"/>
            <a:r>
              <a:rPr lang="en-IN" sz="1200" dirty="0">
                <a:solidFill>
                  <a:schemeClr val="bg1"/>
                </a:solidFill>
              </a:rPr>
              <a:t>&lt;</a:t>
            </a:r>
            <a:r>
              <a:rPr lang="en-IN" sz="1200" dirty="0" err="1">
                <a:solidFill>
                  <a:schemeClr val="bg1"/>
                </a:solidFill>
              </a:rPr>
              <a:t>artifactId</a:t>
            </a:r>
            <a:r>
              <a:rPr lang="en-IN" sz="1200" dirty="0">
                <a:solidFill>
                  <a:schemeClr val="bg1"/>
                </a:solidFill>
              </a:rPr>
              <a:t>&gt;h2&lt;/</a:t>
            </a:r>
            <a:r>
              <a:rPr lang="en-IN" sz="1200" dirty="0" err="1">
                <a:solidFill>
                  <a:schemeClr val="bg1"/>
                </a:solidFill>
              </a:rPr>
              <a:t>artifactId</a:t>
            </a:r>
            <a:r>
              <a:rPr lang="en-IN" sz="1200" dirty="0">
                <a:solidFill>
                  <a:schemeClr val="bg1"/>
                </a:solidFill>
              </a:rPr>
              <a:t>&gt;</a:t>
            </a:r>
          </a:p>
          <a:p>
            <a:pPr lvl="1"/>
            <a:r>
              <a:rPr lang="en-IN" sz="1200" dirty="0">
                <a:solidFill>
                  <a:schemeClr val="bg1"/>
                </a:solidFill>
              </a:rPr>
              <a:t> &lt;scope&gt;runtime&lt;/scope&gt; </a:t>
            </a:r>
          </a:p>
          <a:p>
            <a:r>
              <a:rPr lang="en-IN" sz="1200" dirty="0">
                <a:solidFill>
                  <a:schemeClr val="bg1"/>
                </a:solidFill>
              </a:rPr>
              <a:t>&lt;/dependency&gt;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5BE654-9C50-7865-3590-AC8BFE7D51CB}"/>
              </a:ext>
            </a:extLst>
          </p:cNvPr>
          <p:cNvSpPr/>
          <p:nvPr/>
        </p:nvSpPr>
        <p:spPr bwMode="auto">
          <a:xfrm>
            <a:off x="4402082" y="3289437"/>
            <a:ext cx="4233144" cy="1323758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defTabSz="963613" eaLnBrk="0" hangingPunct="0">
              <a:tabLst>
                <a:tab pos="1257300" algn="l"/>
              </a:tabLst>
            </a:pPr>
            <a:r>
              <a:rPr lang="en-IN" sz="1200" dirty="0">
                <a:solidFill>
                  <a:schemeClr val="bg1"/>
                </a:solidFill>
              </a:rPr>
              <a:t>spring.datasource.url=jdbc:h2:mem:testdb </a:t>
            </a:r>
            <a:r>
              <a:rPr lang="en-IN" sz="1200" dirty="0" err="1">
                <a:solidFill>
                  <a:schemeClr val="bg1"/>
                </a:solidFill>
              </a:rPr>
              <a:t>spring.datasource.driver</a:t>
            </a:r>
            <a:r>
              <a:rPr lang="en-IN" sz="1200" dirty="0">
                <a:solidFill>
                  <a:schemeClr val="bg1"/>
                </a:solidFill>
              </a:rPr>
              <a:t>-class-name=org.h2.Driver </a:t>
            </a:r>
            <a:r>
              <a:rPr lang="en-IN" sz="1200" dirty="0" err="1">
                <a:solidFill>
                  <a:schemeClr val="bg1"/>
                </a:solidFill>
              </a:rPr>
              <a:t>spring.datasource.username</a:t>
            </a:r>
            <a:r>
              <a:rPr lang="en-IN" sz="1200" dirty="0">
                <a:solidFill>
                  <a:schemeClr val="bg1"/>
                </a:solidFill>
              </a:rPr>
              <a:t>=</a:t>
            </a:r>
            <a:r>
              <a:rPr lang="en-IN" sz="1200" dirty="0" err="1">
                <a:solidFill>
                  <a:schemeClr val="bg1"/>
                </a:solidFill>
              </a:rPr>
              <a:t>sa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dirty="0" err="1">
                <a:solidFill>
                  <a:schemeClr val="bg1"/>
                </a:solidFill>
              </a:rPr>
              <a:t>spring.datasource.password</a:t>
            </a:r>
            <a:r>
              <a:rPr lang="en-IN" sz="1200" dirty="0">
                <a:solidFill>
                  <a:schemeClr val="bg1"/>
                </a:solidFill>
              </a:rPr>
              <a:t>=password spring.h2.console.enabled=true</a:t>
            </a:r>
            <a:endParaRPr lang="en-IN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B99EB4-D690-8E0C-6872-AF67CAE046B0}"/>
              </a:ext>
            </a:extLst>
          </p:cNvPr>
          <p:cNvSpPr txBox="1"/>
          <p:nvPr/>
        </p:nvSpPr>
        <p:spPr bwMode="ltGray">
          <a:xfrm>
            <a:off x="6640391" y="2925404"/>
            <a:ext cx="2112666" cy="30777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application.properties</a:t>
            </a:r>
            <a:endParaRPr lang="en-IN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984720F0-891D-F336-268F-DA6B05ED6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8777" y="2088581"/>
            <a:ext cx="272863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</a:rPr>
              <a:t>Maven Dependency (pom.xml)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29BA431-282E-F918-B0FD-EB2C0FA2E4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454"/>
          <a:stretch/>
        </p:blipFill>
        <p:spPr>
          <a:xfrm>
            <a:off x="5657405" y="1585972"/>
            <a:ext cx="2977820" cy="117782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3232A47-1F80-BE2E-8EF3-1462E64580D3}"/>
              </a:ext>
            </a:extLst>
          </p:cNvPr>
          <p:cNvCxnSpPr>
            <a:cxnSpLocks/>
          </p:cNvCxnSpPr>
          <p:nvPr/>
        </p:nvCxnSpPr>
        <p:spPr bwMode="auto">
          <a:xfrm>
            <a:off x="3130906" y="1792224"/>
            <a:ext cx="2526499" cy="61839"/>
          </a:xfrm>
          <a:prstGeom prst="straightConnector1">
            <a:avLst/>
          </a:prstGeom>
          <a:ln>
            <a:solidFill>
              <a:schemeClr val="accent1"/>
            </a:solidFill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9064322"/>
      </p:ext>
    </p:extLst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32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Utilizing Powerful Annotations in Spring Boot</a:t>
            </a:r>
            <a:endParaRPr lang="en-GB" sz="1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1200" dirty="0"/>
              <a:t>Introduction to Annotations in Spring Boot</a:t>
            </a:r>
          </a:p>
          <a:p>
            <a:pPr algn="just">
              <a:lnSpc>
                <a:spcPct val="150000"/>
              </a:lnSpc>
            </a:pPr>
            <a:endParaRPr lang="en-US" sz="1200" dirty="0"/>
          </a:p>
          <a:p>
            <a:pPr lvl="1" algn="just">
              <a:lnSpc>
                <a:spcPct val="150000"/>
              </a:lnSpc>
            </a:pPr>
            <a:r>
              <a:rPr lang="en-US" dirty="0"/>
              <a:t>1. Annotations simplify configuration and setup.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2. Central to Spring Boot's philosophy of convention over  configuration. 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3. Focus on three powerful annotations: </a:t>
            </a:r>
          </a:p>
          <a:p>
            <a:pPr lvl="2" algn="just">
              <a:lnSpc>
                <a:spcPct val="150000"/>
              </a:lnSpc>
            </a:pPr>
            <a:r>
              <a:rPr lang="en-US" dirty="0"/>
              <a:t>@SpringBootApplication, @Configuration, @Bean.</a:t>
            </a:r>
          </a:p>
          <a:p>
            <a:pPr algn="just">
              <a:lnSpc>
                <a:spcPct val="150000"/>
              </a:lnSpc>
            </a:pPr>
            <a:endParaRPr lang="en-US" sz="1200" dirty="0"/>
          </a:p>
        </p:txBody>
      </p:sp>
      <p:pic>
        <p:nvPicPr>
          <p:cNvPr id="2" name="Picture 5" descr="icon representing annotation in spring boot">
            <a:extLst>
              <a:ext uri="{FF2B5EF4-FFF2-40B4-BE49-F238E27FC236}">
                <a16:creationId xmlns:a16="http://schemas.microsoft.com/office/drawing/2014/main" id="{D9834AD5-800A-A6B4-9F24-0948EC1A6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753" y="843227"/>
            <a:ext cx="1610864" cy="1610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3801683"/>
      </p:ext>
    </p:extLst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33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Understanding @SpringBootApplication</a:t>
            </a:r>
            <a:endParaRPr lang="en-GB" sz="1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endParaRPr lang="en-US" sz="1200" dirty="0"/>
          </a:p>
          <a:p>
            <a:pPr lvl="2" algn="just">
              <a:lnSpc>
                <a:spcPct val="150000"/>
              </a:lnSpc>
            </a:pPr>
            <a:r>
              <a:rPr lang="en-US" dirty="0"/>
              <a:t>Combines @Configuration, @EnableAutoConfiguration, and @ComponentScan.</a:t>
            </a:r>
          </a:p>
          <a:p>
            <a:pPr lvl="2" algn="just">
              <a:lnSpc>
                <a:spcPct val="150000"/>
              </a:lnSpc>
            </a:pPr>
            <a:r>
              <a:rPr lang="en-US" dirty="0"/>
              <a:t>Marks the main class of a Spring Boot application.</a:t>
            </a:r>
          </a:p>
          <a:p>
            <a:pPr lvl="2" algn="just">
              <a:lnSpc>
                <a:spcPct val="150000"/>
              </a:lnSpc>
            </a:pPr>
            <a:r>
              <a:rPr lang="en-US" dirty="0"/>
              <a:t>Simplifies application setup.</a:t>
            </a:r>
          </a:p>
          <a:p>
            <a:pPr algn="just">
              <a:lnSpc>
                <a:spcPct val="150000"/>
              </a:lnSpc>
            </a:pP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A1DF15-DB64-BAF7-7AFA-2A5874229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12" y="2379168"/>
            <a:ext cx="7496175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712182"/>
      </p:ext>
    </p:extLst>
  </p:cSld>
  <p:clrMapOvr>
    <a:masterClrMapping/>
  </p:clrMapOvr>
  <p:transition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34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Breaking Down </a:t>
            </a:r>
            <a:r>
              <a:rPr lang="en-US" sz="1400" u="sng" dirty="0"/>
              <a:t>@SpringBootApplication</a:t>
            </a:r>
            <a:endParaRPr lang="en-GB" sz="1400" u="sng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 algn="just">
              <a:lnSpc>
                <a:spcPct val="150000"/>
              </a:lnSpc>
            </a:pPr>
            <a:r>
              <a:rPr lang="en-US" dirty="0"/>
              <a:t>@Configuration: Marks a class as a source of bean definitions. </a:t>
            </a:r>
          </a:p>
          <a:p>
            <a:pPr lvl="2" algn="just">
              <a:lnSpc>
                <a:spcPct val="150000"/>
              </a:lnSpc>
            </a:pPr>
            <a:r>
              <a:rPr lang="en-US" dirty="0"/>
              <a:t>@EnableAutoConfiguration: Enables Spring Boot’s autoconfiguration mechanism.</a:t>
            </a:r>
          </a:p>
          <a:p>
            <a:pPr lvl="2" algn="just">
              <a:lnSpc>
                <a:spcPct val="150000"/>
              </a:lnSpc>
            </a:pPr>
            <a:r>
              <a:rPr lang="en-US" dirty="0"/>
              <a:t>@ComponentScan: Scans for Spring components in the package.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7E2F788-6FB5-6D09-D734-771B30D80CF5}"/>
              </a:ext>
            </a:extLst>
          </p:cNvPr>
          <p:cNvSpPr/>
          <p:nvPr/>
        </p:nvSpPr>
        <p:spPr bwMode="auto">
          <a:xfrm>
            <a:off x="569036" y="2681287"/>
            <a:ext cx="1757362" cy="546101"/>
          </a:xfrm>
          <a:prstGeom prst="roundRect">
            <a:avLst/>
          </a:prstGeom>
          <a:solidFill>
            <a:srgbClr val="00A3E0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latin typeface="+mn-lt"/>
              </a:rPr>
              <a:t>@Configuration</a:t>
            </a:r>
            <a:endParaRPr lang="en-IN" sz="1200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AEB634-09A4-1E6E-1268-14B1AF356802}"/>
              </a:ext>
            </a:extLst>
          </p:cNvPr>
          <p:cNvSpPr/>
          <p:nvPr/>
        </p:nvSpPr>
        <p:spPr bwMode="auto">
          <a:xfrm>
            <a:off x="2529598" y="2571750"/>
            <a:ext cx="2760662" cy="546101"/>
          </a:xfrm>
          <a:prstGeom prst="roundRect">
            <a:avLst/>
          </a:prstGeom>
          <a:solidFill>
            <a:srgbClr val="00A3E0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latin typeface="+mn-lt"/>
              </a:rPr>
              <a:t>@EnableAutoConfiguration</a:t>
            </a:r>
            <a:endParaRPr lang="en-IN" sz="1200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AA5E957-0A56-5520-B821-A3D51138F571}"/>
              </a:ext>
            </a:extLst>
          </p:cNvPr>
          <p:cNvSpPr/>
          <p:nvPr/>
        </p:nvSpPr>
        <p:spPr bwMode="auto">
          <a:xfrm>
            <a:off x="2173998" y="3336926"/>
            <a:ext cx="1981200" cy="546101"/>
          </a:xfrm>
          <a:prstGeom prst="roundRect">
            <a:avLst/>
          </a:prstGeom>
          <a:solidFill>
            <a:srgbClr val="00A3E0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latin typeface="+mn-lt"/>
              </a:rPr>
              <a:t>@ComponentScan</a:t>
            </a:r>
            <a:endParaRPr lang="en-IN" sz="1200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8" name="Double Bracket 7">
            <a:extLst>
              <a:ext uri="{FF2B5EF4-FFF2-40B4-BE49-F238E27FC236}">
                <a16:creationId xmlns:a16="http://schemas.microsoft.com/office/drawing/2014/main" id="{7A9B3214-71BE-EA28-8146-3D72B329F2AD}"/>
              </a:ext>
            </a:extLst>
          </p:cNvPr>
          <p:cNvSpPr/>
          <p:nvPr/>
        </p:nvSpPr>
        <p:spPr bwMode="auto">
          <a:xfrm>
            <a:off x="365836" y="2289176"/>
            <a:ext cx="5232400" cy="1625601"/>
          </a:xfrm>
          <a:prstGeom prst="bracketPair">
            <a:avLst/>
          </a:prstGeom>
          <a:ln>
            <a:solidFill>
              <a:schemeClr val="accent1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163D351-43C0-DB11-D2DD-74E41912BA90}"/>
              </a:ext>
            </a:extLst>
          </p:cNvPr>
          <p:cNvSpPr/>
          <p:nvPr/>
        </p:nvSpPr>
        <p:spPr bwMode="auto">
          <a:xfrm>
            <a:off x="6652336" y="2765425"/>
            <a:ext cx="2257578" cy="461963"/>
          </a:xfrm>
          <a:prstGeom prst="roundRect">
            <a:avLst/>
          </a:prstGeom>
          <a:solidFill>
            <a:srgbClr val="00A3E0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latin typeface="+mn-lt"/>
              </a:rPr>
              <a:t>@SpringBootApplication</a:t>
            </a:r>
          </a:p>
        </p:txBody>
      </p:sp>
      <p:sp>
        <p:nvSpPr>
          <p:cNvPr id="12" name="Equals 11">
            <a:extLst>
              <a:ext uri="{FF2B5EF4-FFF2-40B4-BE49-F238E27FC236}">
                <a16:creationId xmlns:a16="http://schemas.microsoft.com/office/drawing/2014/main" id="{038778A7-FF4C-27FD-6830-7D20F42A2088}"/>
              </a:ext>
            </a:extLst>
          </p:cNvPr>
          <p:cNvSpPr/>
          <p:nvPr/>
        </p:nvSpPr>
        <p:spPr bwMode="auto">
          <a:xfrm>
            <a:off x="5649036" y="2790826"/>
            <a:ext cx="952500" cy="520700"/>
          </a:xfrm>
          <a:prstGeom prst="mathEqual">
            <a:avLst/>
          </a:prstGeom>
          <a:solidFill>
            <a:srgbClr val="00A3E0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IN" sz="1200" dirty="0" err="1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45263261"/>
      </p:ext>
    </p:extLst>
  </p:cSld>
  <p:clrMapOvr>
    <a:masterClrMapping/>
  </p:clrMapOvr>
  <p:transition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35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IN" sz="1400" dirty="0"/>
              <a:t>The @Configuration Annotation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 algn="just">
              <a:lnSpc>
                <a:spcPct val="150000"/>
              </a:lnSpc>
            </a:pPr>
            <a:r>
              <a:rPr lang="en-US" dirty="0"/>
              <a:t>Indicates that a class declares one or more @Bean methods. </a:t>
            </a:r>
          </a:p>
          <a:p>
            <a:pPr lvl="2" algn="just">
              <a:lnSpc>
                <a:spcPct val="150000"/>
              </a:lnSpc>
            </a:pPr>
            <a:r>
              <a:rPr lang="en-US" dirty="0"/>
              <a:t>Used for defining beans and configuration settings.</a:t>
            </a:r>
          </a:p>
          <a:p>
            <a:pPr lvl="2" algn="just">
              <a:lnSpc>
                <a:spcPct val="150000"/>
              </a:lnSpc>
            </a:pPr>
            <a:r>
              <a:rPr lang="en-US" dirty="0"/>
              <a:t>Essential for Java-based configuration.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5A8E9F-C12E-D01D-8E8E-7CA250B2E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257" y="1359426"/>
            <a:ext cx="4000500" cy="3524250"/>
          </a:xfrm>
          <a:prstGeom prst="rect">
            <a:avLst/>
          </a:prstGeom>
        </p:spPr>
      </p:pic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9FB0AED6-3621-7640-2C13-9DDD9457E32D}"/>
              </a:ext>
            </a:extLst>
          </p:cNvPr>
          <p:cNvSpPr/>
          <p:nvPr/>
        </p:nvSpPr>
        <p:spPr bwMode="auto">
          <a:xfrm>
            <a:off x="244425" y="2241813"/>
            <a:ext cx="4114800" cy="736600"/>
          </a:xfrm>
          <a:prstGeom prst="round2Diag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r" defTabSz="963613" eaLnBrk="0" hangingPunct="0">
              <a:tabLst>
                <a:tab pos="1257300" algn="l"/>
              </a:tabLst>
            </a:pPr>
            <a:r>
              <a:rPr lang="en-US" sz="1200" b="1" dirty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rPr>
              <a:t>@Configuration</a:t>
            </a:r>
            <a:r>
              <a:rPr lang="en-US" sz="1200" dirty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rPr>
              <a:t>: Indicates that the class contains one or more bean definitions</a:t>
            </a:r>
            <a:endParaRPr lang="en-IN" sz="1200" dirty="0" err="1">
              <a:solidFill>
                <a:schemeClr val="tx2">
                  <a:lumMod val="10000"/>
                  <a:lumOff val="90000"/>
                </a:schemeClr>
              </a:solidFill>
              <a:latin typeface="+mn-l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BEF177A-5125-F574-C8F3-15ED9699DB93}"/>
              </a:ext>
            </a:extLst>
          </p:cNvPr>
          <p:cNvCxnSpPr>
            <a:cxnSpLocks/>
          </p:cNvCxnSpPr>
          <p:nvPr/>
        </p:nvCxnSpPr>
        <p:spPr bwMode="auto">
          <a:xfrm flipV="1">
            <a:off x="3608832" y="1616601"/>
            <a:ext cx="1114425" cy="625212"/>
          </a:xfrm>
          <a:prstGeom prst="straightConnector1">
            <a:avLst/>
          </a:prstGeom>
          <a:ln>
            <a:solidFill>
              <a:schemeClr val="accent1"/>
            </a:solidFill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3B49FB13-F0BA-1DA9-091B-C4DD958C32B8}"/>
              </a:ext>
            </a:extLst>
          </p:cNvPr>
          <p:cNvSpPr/>
          <p:nvPr/>
        </p:nvSpPr>
        <p:spPr bwMode="auto">
          <a:xfrm>
            <a:off x="305944" y="3337451"/>
            <a:ext cx="4114800" cy="990600"/>
          </a:xfrm>
          <a:prstGeom prst="round2Diag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r" defTabSz="963613" eaLnBrk="0" hangingPunct="0">
              <a:tabLst>
                <a:tab pos="1257300" algn="l"/>
              </a:tabLst>
            </a:pPr>
            <a:r>
              <a:rPr lang="en-US" sz="1200" b="1" dirty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rPr>
              <a:t>@Bean</a:t>
            </a:r>
            <a:r>
              <a:rPr lang="en-US" sz="1200" dirty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rPr>
              <a:t>: Marks a method as a bean producer, and the method's return value will be managed by the Spring container.</a:t>
            </a:r>
            <a:endParaRPr lang="en-IN" sz="1200" dirty="0" err="1">
              <a:solidFill>
                <a:schemeClr val="tx2">
                  <a:lumMod val="10000"/>
                  <a:lumOff val="90000"/>
                </a:schemeClr>
              </a:solidFill>
              <a:latin typeface="+mn-lt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0EBFB59-CA21-9197-AE42-52BBB624E191}"/>
              </a:ext>
            </a:extLst>
          </p:cNvPr>
          <p:cNvCxnSpPr>
            <a:cxnSpLocks/>
          </p:cNvCxnSpPr>
          <p:nvPr/>
        </p:nvCxnSpPr>
        <p:spPr bwMode="auto">
          <a:xfrm flipV="1">
            <a:off x="4022948" y="2340501"/>
            <a:ext cx="954309" cy="977110"/>
          </a:xfrm>
          <a:prstGeom prst="straightConnector1">
            <a:avLst/>
          </a:prstGeom>
          <a:ln>
            <a:solidFill>
              <a:schemeClr val="accent1"/>
            </a:solidFill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023911"/>
      </p:ext>
    </p:extLst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36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IN" sz="1400" dirty="0"/>
              <a:t>The @Bean Annotation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 algn="just">
              <a:lnSpc>
                <a:spcPct val="150000"/>
              </a:lnSpc>
            </a:pPr>
            <a:r>
              <a:rPr lang="en-US" dirty="0"/>
              <a:t>Marks a method as a bean definition.. </a:t>
            </a:r>
          </a:p>
          <a:p>
            <a:pPr lvl="2" algn="just">
              <a:lnSpc>
                <a:spcPct val="150000"/>
              </a:lnSpc>
            </a:pPr>
            <a:r>
              <a:rPr lang="en-US" dirty="0"/>
              <a:t>Beans are managed by the Spring container.</a:t>
            </a:r>
          </a:p>
          <a:p>
            <a:pPr lvl="2" algn="just">
              <a:lnSpc>
                <a:spcPct val="150000"/>
              </a:lnSpc>
            </a:pPr>
            <a:r>
              <a:rPr lang="en-US" dirty="0"/>
              <a:t>Allows custom bean creation and configuration.</a:t>
            </a:r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7BC3A5F1-B0DC-D44B-450C-7C7EF624CC6D}"/>
              </a:ext>
            </a:extLst>
          </p:cNvPr>
          <p:cNvSpPr/>
          <p:nvPr/>
        </p:nvSpPr>
        <p:spPr bwMode="auto">
          <a:xfrm>
            <a:off x="863193" y="1982428"/>
            <a:ext cx="3625037" cy="945448"/>
          </a:xfrm>
          <a:prstGeom prst="round2Diag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rPr>
              <a:t>@Bean: Marks the </a:t>
            </a:r>
            <a:r>
              <a:rPr lang="en-US" sz="1200" dirty="0" err="1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rPr>
              <a:t>myService</a:t>
            </a:r>
            <a:r>
              <a:rPr lang="en-US" sz="1200" dirty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rPr>
              <a:t> method as a bean producer, meaning that Spring will manage the instance returned by this method.</a:t>
            </a:r>
            <a:endParaRPr lang="en-IN" sz="1200" dirty="0" err="1">
              <a:solidFill>
                <a:schemeClr val="tx2">
                  <a:lumMod val="10000"/>
                  <a:lumOff val="90000"/>
                </a:schemeClr>
              </a:solidFill>
              <a:latin typeface="+mn-lt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4A11579-4F5C-DB49-D677-AF6A42A562FD}"/>
              </a:ext>
            </a:extLst>
          </p:cNvPr>
          <p:cNvCxnSpPr>
            <a:cxnSpLocks/>
            <a:stCxn id="2" idx="0"/>
          </p:cNvCxnSpPr>
          <p:nvPr/>
        </p:nvCxnSpPr>
        <p:spPr bwMode="auto">
          <a:xfrm flipV="1">
            <a:off x="4488230" y="2093125"/>
            <a:ext cx="1001715" cy="362027"/>
          </a:xfrm>
          <a:prstGeom prst="straightConnector1">
            <a:avLst/>
          </a:prstGeom>
          <a:ln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CEFA961-413F-7E07-2C0D-E70E9A9EE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945" y="1785938"/>
            <a:ext cx="3181350" cy="1219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A9284B-8A99-A6E4-46F2-B30FF72931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231" y="3267074"/>
            <a:ext cx="4591050" cy="1371600"/>
          </a:xfrm>
          <a:prstGeom prst="rect">
            <a:avLst/>
          </a:prstGeom>
        </p:spPr>
      </p:pic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446E4976-3771-5E11-7B37-ABED7A275A34}"/>
              </a:ext>
            </a:extLst>
          </p:cNvPr>
          <p:cNvSpPr/>
          <p:nvPr/>
        </p:nvSpPr>
        <p:spPr bwMode="auto">
          <a:xfrm>
            <a:off x="402336" y="3370612"/>
            <a:ext cx="3849358" cy="1087090"/>
          </a:xfrm>
          <a:prstGeom prst="round2Diag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rPr>
              <a:t>This snippet defines a single bean, </a:t>
            </a:r>
            <a:r>
              <a:rPr lang="en-US" sz="1200" dirty="0" err="1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rPr>
              <a:t>MyService</a:t>
            </a:r>
            <a:r>
              <a:rPr lang="en-US" sz="1200" dirty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rPr>
              <a:t>, which will be instantiated and managed by Spring. The </a:t>
            </a:r>
            <a:r>
              <a:rPr lang="en-US" sz="1200" dirty="0" err="1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rPr>
              <a:t>MyService</a:t>
            </a:r>
            <a:r>
              <a:rPr lang="en-US" sz="1200" dirty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rPr>
              <a:t> class includes a simple method </a:t>
            </a:r>
            <a:r>
              <a:rPr lang="en-US" sz="1200" dirty="0" err="1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rPr>
              <a:t>performService</a:t>
            </a:r>
            <a:r>
              <a:rPr lang="en-US" sz="1200" dirty="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</a:rPr>
              <a:t>.</a:t>
            </a:r>
            <a:endParaRPr lang="en-IN" sz="1200" dirty="0" err="1">
              <a:solidFill>
                <a:schemeClr val="tx2">
                  <a:lumMod val="10000"/>
                  <a:lumOff val="90000"/>
                </a:schemeClr>
              </a:solidFill>
              <a:latin typeface="+mn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B5FB93-E561-D1D1-26EA-4E37786A5C6F}"/>
              </a:ext>
            </a:extLst>
          </p:cNvPr>
          <p:cNvCxnSpPr>
            <a:cxnSpLocks/>
          </p:cNvCxnSpPr>
          <p:nvPr/>
        </p:nvCxnSpPr>
        <p:spPr bwMode="auto">
          <a:xfrm flipV="1">
            <a:off x="4064177" y="3884887"/>
            <a:ext cx="585979" cy="29270"/>
          </a:xfrm>
          <a:prstGeom prst="straightConnector1">
            <a:avLst/>
          </a:prstGeom>
          <a:ln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326468"/>
      </p:ext>
    </p:extLst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98A0183-E99A-6EDA-E0ED-B818A71AFD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sz="3200" dirty="0"/>
              <a:t>Understanding </a:t>
            </a:r>
          </a:p>
          <a:p>
            <a:r>
              <a:rPr lang="en-IN" sz="3200" dirty="0"/>
              <a:t>Maven in Spring Boot</a:t>
            </a:r>
            <a:endParaRPr lang="en-IN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491D0B5-3B8C-74E3-6F69-0BA924855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8 May 2024, Speaker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FD0AB8-612D-3902-20D3-7FE5995B4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688" y="2843441"/>
            <a:ext cx="3343104" cy="88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21505"/>
      </p:ext>
    </p:extLst>
  </p:cSld>
  <p:clrMapOvr>
    <a:masterClrMapping/>
  </p:clrMapOvr>
  <p:transition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38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IN" dirty="0"/>
              <a:t>What is Maven?</a:t>
            </a:r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endParaRPr lang="en-US" sz="1200" dirty="0"/>
          </a:p>
          <a:p>
            <a:pPr lvl="2" algn="just">
              <a:lnSpc>
                <a:spcPct val="150000"/>
              </a:lnSpc>
            </a:pPr>
            <a:r>
              <a:rPr lang="en-US" dirty="0"/>
              <a:t>Maven is a powerful project management tool.</a:t>
            </a:r>
          </a:p>
          <a:p>
            <a:pPr lvl="2" algn="just">
              <a:lnSpc>
                <a:spcPct val="150000"/>
              </a:lnSpc>
            </a:pPr>
            <a:r>
              <a:rPr lang="en-US" dirty="0"/>
              <a:t>Manages project dependencies and builds lifecycle.</a:t>
            </a:r>
          </a:p>
          <a:p>
            <a:pPr lvl="2" algn="just">
              <a:lnSpc>
                <a:spcPct val="150000"/>
              </a:lnSpc>
            </a:pPr>
            <a:r>
              <a:rPr lang="en-US" dirty="0"/>
              <a:t>Ensures consistency and reproducibility in builds.</a:t>
            </a:r>
          </a:p>
          <a:p>
            <a:pPr algn="just">
              <a:lnSpc>
                <a:spcPct val="150000"/>
              </a:lnSpc>
            </a:pP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110B6D-E692-D4CD-FC80-D3709316D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600" y="1296340"/>
            <a:ext cx="2817812" cy="74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968781"/>
      </p:ext>
    </p:extLst>
  </p:cSld>
  <p:clrMapOvr>
    <a:masterClrMapping/>
  </p:clrMapOvr>
  <p:transition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39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IN" dirty="0"/>
              <a:t>Maven in Spring Boot</a:t>
            </a:r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 algn="just">
              <a:lnSpc>
                <a:spcPct val="150000"/>
              </a:lnSpc>
            </a:pPr>
            <a:r>
              <a:rPr lang="en-US" dirty="0"/>
              <a:t>Default dependency management tool in Spring Boot.</a:t>
            </a:r>
          </a:p>
          <a:p>
            <a:pPr lvl="2" algn="just">
              <a:lnSpc>
                <a:spcPct val="150000"/>
              </a:lnSpc>
            </a:pPr>
            <a:r>
              <a:rPr lang="en-US" dirty="0"/>
              <a:t>Simplifies configuration and dependency management.</a:t>
            </a:r>
          </a:p>
          <a:p>
            <a:pPr lvl="2" algn="just">
              <a:lnSpc>
                <a:spcPct val="150000"/>
              </a:lnSpc>
            </a:pPr>
            <a:r>
              <a:rPr lang="en-US" dirty="0"/>
              <a:t>Uses pom.xml to manage project dependencies.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A5B505-14B5-62C0-0725-F0F1DA048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797" y="2174936"/>
            <a:ext cx="2390775" cy="1714500"/>
          </a:xfrm>
          <a:prstGeom prst="rect">
            <a:avLst/>
          </a:prstGeom>
        </p:spPr>
      </p:pic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57C6D366-9172-0A0C-4456-6519D71ED9C7}"/>
              </a:ext>
            </a:extLst>
          </p:cNvPr>
          <p:cNvSpPr/>
          <p:nvPr/>
        </p:nvSpPr>
        <p:spPr bwMode="auto">
          <a:xfrm>
            <a:off x="1347061" y="2489608"/>
            <a:ext cx="3975100" cy="889000"/>
          </a:xfrm>
          <a:prstGeom prst="round2Diag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chemeClr val="bg1"/>
                </a:solidFill>
                <a:latin typeface="+mn-lt"/>
              </a:rPr>
              <a:t>Spring Boot gives you a bunch of starter pom which make it super easy to add jars to your </a:t>
            </a:r>
            <a:r>
              <a:rPr lang="en-US" sz="1200" dirty="0" err="1">
                <a:solidFill>
                  <a:schemeClr val="bg1"/>
                </a:solidFill>
                <a:latin typeface="+mn-lt"/>
              </a:rPr>
              <a:t>ClassPath</a:t>
            </a:r>
            <a:r>
              <a:rPr lang="en-US" sz="1200" dirty="0">
                <a:solidFill>
                  <a:schemeClr val="bg1"/>
                </a:solidFill>
                <a:latin typeface="+mn-lt"/>
              </a:rPr>
              <a:t>.</a:t>
            </a:r>
            <a:endParaRPr lang="en-IN" sz="1200" dirty="0" err="1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83719952"/>
      </p:ext>
    </p:extLst>
  </p:cSld>
  <p:clrMapOvr>
    <a:masterClrMapping/>
  </p:clrMapOvr>
  <p:transition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40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IN" dirty="0"/>
              <a:t>Understanding pom.xml</a:t>
            </a:r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 algn="just">
              <a:lnSpc>
                <a:spcPct val="150000"/>
              </a:lnSpc>
            </a:pPr>
            <a:r>
              <a:rPr lang="en-US" dirty="0"/>
              <a:t>Project Object Model (POM) file.</a:t>
            </a:r>
          </a:p>
          <a:p>
            <a:pPr lvl="2" algn="just">
              <a:lnSpc>
                <a:spcPct val="150000"/>
              </a:lnSpc>
            </a:pPr>
            <a:r>
              <a:rPr lang="en-US" dirty="0"/>
              <a:t>Central configuration file for Maven projects.</a:t>
            </a:r>
          </a:p>
          <a:p>
            <a:pPr lvl="2" algn="just">
              <a:lnSpc>
                <a:spcPct val="150000"/>
              </a:lnSpc>
            </a:pPr>
            <a:r>
              <a:rPr lang="en-US" dirty="0"/>
              <a:t>Defines project dependencies, plugins, and configurations.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444170-9C87-D62D-CBB5-6B98851B42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158"/>
          <a:stretch/>
        </p:blipFill>
        <p:spPr>
          <a:xfrm>
            <a:off x="660083" y="2338191"/>
            <a:ext cx="7804467" cy="21230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C10DC9-11D5-1839-8A48-59B72D1013EB}"/>
              </a:ext>
            </a:extLst>
          </p:cNvPr>
          <p:cNvSpPr txBox="1"/>
          <p:nvPr/>
        </p:nvSpPr>
        <p:spPr bwMode="ltGray">
          <a:xfrm>
            <a:off x="5974821" y="2127427"/>
            <a:ext cx="2489729" cy="301749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snippet of a pom.xml file</a:t>
            </a:r>
          </a:p>
        </p:txBody>
      </p:sp>
    </p:spTree>
    <p:extLst>
      <p:ext uri="{BB962C8B-B14F-4D97-AF65-F5344CB8AC3E}">
        <p14:creationId xmlns:p14="http://schemas.microsoft.com/office/powerpoint/2010/main" val="3263501291"/>
      </p:ext>
    </p:extLst>
  </p:cSld>
  <p:clrMapOvr>
    <a:masterClrMapping/>
  </p:clrMapOvr>
  <p:transition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87FA4E-9571-9E03-10D5-20323272B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41</a:t>
            </a:fld>
            <a:endParaRPr lang="en-GB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862A51-FA03-CC10-8AD3-1EA01A1AF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Sections in pom.xml</a:t>
            </a:r>
            <a:br>
              <a:rPr lang="en-IN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E34D1-FC1B-02BC-105D-A198CC49EA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9EFF8B-A3DB-C3AE-AF8C-2794C271A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295" y="1977266"/>
            <a:ext cx="3092824" cy="7021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41F046-5FF7-DA05-E1B4-8E8C0E5D7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295" y="820995"/>
            <a:ext cx="4614158" cy="978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2FF6F6-682C-543F-E624-4212653E1C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2295" y="2840739"/>
            <a:ext cx="4614158" cy="1723891"/>
          </a:xfrm>
          <a:prstGeom prst="rect">
            <a:avLst/>
          </a:prstGeom>
        </p:spPr>
      </p:pic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2AEC1F14-D9AA-102F-82C3-93EBBCCC6592}"/>
              </a:ext>
            </a:extLst>
          </p:cNvPr>
          <p:cNvSpPr/>
          <p:nvPr/>
        </p:nvSpPr>
        <p:spPr bwMode="auto">
          <a:xfrm>
            <a:off x="517917" y="779289"/>
            <a:ext cx="2940969" cy="907812"/>
          </a:xfrm>
          <a:prstGeom prst="round2Diag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&lt;dependencies&gt;: Lists all project dependencies.</a:t>
            </a: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2FCB86AD-D90C-C04C-62C3-B70069DD5F34}"/>
              </a:ext>
            </a:extLst>
          </p:cNvPr>
          <p:cNvSpPr/>
          <p:nvPr/>
        </p:nvSpPr>
        <p:spPr bwMode="auto">
          <a:xfrm>
            <a:off x="436042" y="2025308"/>
            <a:ext cx="2940969" cy="907812"/>
          </a:xfrm>
          <a:prstGeom prst="round2Diag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&lt;properties&gt;: Defines project properties</a:t>
            </a:r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1B54D79E-98B1-8040-81E8-B6AB62B5D8A7}"/>
              </a:ext>
            </a:extLst>
          </p:cNvPr>
          <p:cNvSpPr/>
          <p:nvPr/>
        </p:nvSpPr>
        <p:spPr bwMode="auto">
          <a:xfrm>
            <a:off x="517547" y="3271327"/>
            <a:ext cx="2940969" cy="1015717"/>
          </a:xfrm>
          <a:prstGeom prst="round2Diag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&lt;build&gt;: Configures build process and plugins.</a:t>
            </a:r>
            <a:endParaRPr lang="en-GB" dirty="0">
              <a:solidFill>
                <a:schemeClr val="bg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D9F5EBB-7A77-ABF7-1E63-84235F55E738}"/>
              </a:ext>
            </a:extLst>
          </p:cNvPr>
          <p:cNvCxnSpPr>
            <a:cxnSpLocks/>
          </p:cNvCxnSpPr>
          <p:nvPr/>
        </p:nvCxnSpPr>
        <p:spPr bwMode="auto">
          <a:xfrm>
            <a:off x="3458886" y="1272678"/>
            <a:ext cx="635284" cy="0"/>
          </a:xfrm>
          <a:prstGeom prst="straightConnector1">
            <a:avLst/>
          </a:prstGeom>
          <a:ln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B2B32B-37C8-0520-A679-731275711AC6}"/>
              </a:ext>
            </a:extLst>
          </p:cNvPr>
          <p:cNvCxnSpPr>
            <a:cxnSpLocks/>
          </p:cNvCxnSpPr>
          <p:nvPr/>
        </p:nvCxnSpPr>
        <p:spPr bwMode="auto">
          <a:xfrm>
            <a:off x="3377011" y="2339376"/>
            <a:ext cx="635284" cy="0"/>
          </a:xfrm>
          <a:prstGeom prst="straightConnector1">
            <a:avLst/>
          </a:prstGeom>
          <a:ln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5E3930-0B7C-B953-7CB9-24E2BEABCC33}"/>
              </a:ext>
            </a:extLst>
          </p:cNvPr>
          <p:cNvCxnSpPr>
            <a:cxnSpLocks/>
          </p:cNvCxnSpPr>
          <p:nvPr/>
        </p:nvCxnSpPr>
        <p:spPr bwMode="auto">
          <a:xfrm>
            <a:off x="3458886" y="3671740"/>
            <a:ext cx="635284" cy="0"/>
          </a:xfrm>
          <a:prstGeom prst="straightConnector1">
            <a:avLst/>
          </a:prstGeom>
          <a:ln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517811"/>
      </p:ext>
    </p:extLst>
  </p:cSld>
  <p:clrMapOvr>
    <a:masterClrMapping/>
  </p:clrMapOvr>
  <p:transition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87FA4E-9571-9E03-10D5-20323272B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42</a:t>
            </a:fld>
            <a:endParaRPr lang="en-GB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862A51-FA03-CC10-8AD3-1EA01A1AF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Managing Dependencies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E34D1-FC1B-02BC-105D-A198CC49EA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D39A2AC-1856-6BFE-437B-342EC0629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407" y="731720"/>
            <a:ext cx="5181639" cy="23611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0C008C4-DAC9-D7DA-7FA4-A432B6CEF42B}"/>
              </a:ext>
            </a:extLst>
          </p:cNvPr>
          <p:cNvSpPr txBox="1"/>
          <p:nvPr/>
        </p:nvSpPr>
        <p:spPr bwMode="ltGray">
          <a:xfrm>
            <a:off x="273148" y="1530723"/>
            <a:ext cx="1939925" cy="461665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IN" sz="1200" dirty="0">
                <a:solidFill>
                  <a:schemeClr val="bg1"/>
                </a:solidFill>
                <a:latin typeface="+mn-lt"/>
              </a:rPr>
              <a:t>Adding dependency in pom.xml file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3D80C52-A7E5-FDF6-D4B5-16EBE88F5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831" y="3458346"/>
            <a:ext cx="2777416" cy="667441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1CA23A5-D74C-6559-93EB-08CB165A689B}"/>
              </a:ext>
            </a:extLst>
          </p:cNvPr>
          <p:cNvCxnSpPr>
            <a:cxnSpLocks/>
          </p:cNvCxnSpPr>
          <p:nvPr/>
        </p:nvCxnSpPr>
        <p:spPr bwMode="auto">
          <a:xfrm>
            <a:off x="2990395" y="3792066"/>
            <a:ext cx="545436" cy="0"/>
          </a:xfrm>
          <a:prstGeom prst="straightConnector1">
            <a:avLst/>
          </a:prstGeom>
          <a:ln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943CA93-C178-8781-CF68-113E93B3B601}"/>
              </a:ext>
            </a:extLst>
          </p:cNvPr>
          <p:cNvSpPr txBox="1"/>
          <p:nvPr/>
        </p:nvSpPr>
        <p:spPr bwMode="ltGray">
          <a:xfrm>
            <a:off x="1009603" y="3588205"/>
            <a:ext cx="1980792" cy="337336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1200" dirty="0">
                <a:solidFill>
                  <a:schemeClr val="bg1"/>
                </a:solidFill>
                <a:latin typeface="+mn-lt"/>
              </a:rPr>
              <a:t>Specifying versions </a:t>
            </a:r>
            <a:endParaRPr lang="en-GB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A04775BD-5F3D-1207-6374-2F8D373F0DC9}"/>
              </a:ext>
            </a:extLst>
          </p:cNvPr>
          <p:cNvSpPr/>
          <p:nvPr/>
        </p:nvSpPr>
        <p:spPr bwMode="auto">
          <a:xfrm>
            <a:off x="2575840" y="2340491"/>
            <a:ext cx="350466" cy="666137"/>
          </a:xfrm>
          <a:prstGeom prst="leftBrace">
            <a:avLst/>
          </a:prstGeom>
          <a:ln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46D7AB1D-2E5C-F0B9-DDD5-16C97DE160F6}"/>
              </a:ext>
            </a:extLst>
          </p:cNvPr>
          <p:cNvSpPr/>
          <p:nvPr/>
        </p:nvSpPr>
        <p:spPr bwMode="auto">
          <a:xfrm>
            <a:off x="2575840" y="1041070"/>
            <a:ext cx="350466" cy="666137"/>
          </a:xfrm>
          <a:prstGeom prst="leftBrace">
            <a:avLst/>
          </a:prstGeom>
          <a:ln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803CDED-409F-8468-FF92-FA7CC0DAA252}"/>
              </a:ext>
            </a:extLst>
          </p:cNvPr>
          <p:cNvCxnSpPr>
            <a:cxnSpLocks/>
            <a:endCxn id="20" idx="1"/>
          </p:cNvCxnSpPr>
          <p:nvPr/>
        </p:nvCxnSpPr>
        <p:spPr bwMode="auto">
          <a:xfrm flipV="1">
            <a:off x="2134678" y="1374139"/>
            <a:ext cx="441162" cy="156584"/>
          </a:xfrm>
          <a:prstGeom prst="straightConnector1">
            <a:avLst/>
          </a:prstGeom>
          <a:ln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DC1D2FF-E339-1166-4ABC-3F88EF4CE82B}"/>
              </a:ext>
            </a:extLst>
          </p:cNvPr>
          <p:cNvCxnSpPr>
            <a:cxnSpLocks/>
            <a:endCxn id="19" idx="1"/>
          </p:cNvCxnSpPr>
          <p:nvPr/>
        </p:nvCxnSpPr>
        <p:spPr bwMode="auto">
          <a:xfrm>
            <a:off x="2134678" y="2016557"/>
            <a:ext cx="441162" cy="657003"/>
          </a:xfrm>
          <a:prstGeom prst="straightConnector1">
            <a:avLst/>
          </a:prstGeom>
          <a:ln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54629"/>
      </p:ext>
    </p:extLst>
  </p:cSld>
  <p:clrMapOvr>
    <a:masterClrMapping/>
  </p:clrMapOvr>
  <p:transition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43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IN" dirty="0"/>
              <a:t>Understanding Dependency Scope</a:t>
            </a:r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 algn="just">
              <a:lnSpc>
                <a:spcPct val="150000"/>
              </a:lnSpc>
            </a:pPr>
            <a:r>
              <a:rPr lang="en-US" dirty="0"/>
              <a:t>compile: Dependency is available in all </a:t>
            </a:r>
            <a:r>
              <a:rPr lang="en-US" dirty="0" err="1"/>
              <a:t>classpaths</a:t>
            </a:r>
            <a:r>
              <a:rPr lang="en-US" dirty="0"/>
              <a:t>.</a:t>
            </a:r>
          </a:p>
          <a:p>
            <a:pPr lvl="2" algn="just">
              <a:lnSpc>
                <a:spcPct val="150000"/>
              </a:lnSpc>
            </a:pPr>
            <a:r>
              <a:rPr lang="en-US" dirty="0"/>
              <a:t>provided: It is available only at compile-time, not runtime.</a:t>
            </a:r>
          </a:p>
          <a:p>
            <a:pPr lvl="2" algn="just">
              <a:lnSpc>
                <a:spcPct val="150000"/>
              </a:lnSpc>
            </a:pPr>
            <a:r>
              <a:rPr lang="en-US" dirty="0"/>
              <a:t>runtime: It is available only at runtime.</a:t>
            </a:r>
          </a:p>
          <a:p>
            <a:pPr lvl="2" algn="just">
              <a:lnSpc>
                <a:spcPct val="150000"/>
              </a:lnSpc>
            </a:pPr>
            <a:r>
              <a:rPr lang="en-US" dirty="0"/>
              <a:t>test: Only available in testing.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AD0838-F3B7-36A8-4B58-7FFCC5541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512" y="2571750"/>
            <a:ext cx="5467350" cy="13239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60ED29-F78B-B22F-3B45-98CF29ACAEF3}"/>
              </a:ext>
            </a:extLst>
          </p:cNvPr>
          <p:cNvSpPr txBox="1"/>
          <p:nvPr/>
        </p:nvSpPr>
        <p:spPr bwMode="ltGray">
          <a:xfrm>
            <a:off x="655638" y="3025731"/>
            <a:ext cx="2628899" cy="335156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1200" dirty="0">
                <a:solidFill>
                  <a:schemeClr val="bg1"/>
                </a:solidFill>
                <a:latin typeface="+mn-lt"/>
              </a:rPr>
              <a:t>Snippet showing scope</a:t>
            </a:r>
            <a:endParaRPr lang="en-GB" sz="12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53330642"/>
      </p:ext>
    </p:extLst>
  </p:cSld>
  <p:clrMapOvr>
    <a:masterClrMapping/>
  </p:clrMapOvr>
  <p:transition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6C094B-BD90-50EF-EACE-47B0806B6A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Introduction to Spring Boot Logging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003CDA-2C22-9BCF-FBDE-2DE788249C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2">
              <a:lnSpc>
                <a:spcPct val="150000"/>
              </a:lnSpc>
            </a:pPr>
            <a:r>
              <a:rPr lang="en-US" dirty="0"/>
              <a:t>Logging is the process of recording information about a program’s execution, which helps in debugging and monitoring.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Configures </a:t>
            </a:r>
            <a:r>
              <a:rPr lang="en-US" dirty="0" err="1"/>
              <a:t>Logback</a:t>
            </a:r>
            <a:r>
              <a:rPr lang="en-US" dirty="0"/>
              <a:t> as the default logging framework.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Includes </a:t>
            </a:r>
            <a:r>
              <a:rPr lang="en-US" dirty="0" err="1"/>
              <a:t>Logback</a:t>
            </a:r>
            <a:r>
              <a:rPr lang="en-US" dirty="0"/>
              <a:t> and SLF4J dependencies by default.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01100" y="4808538"/>
            <a:ext cx="342900" cy="241300"/>
          </a:xfrm>
          <a:prstGeom prst="rect">
            <a:avLst/>
          </a:prstGeo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44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4805363"/>
            <a:ext cx="4478338" cy="241300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28713709"/>
      </p:ext>
    </p:extLst>
  </p:cSld>
  <p:clrMapOvr>
    <a:masterClrMapping/>
  </p:clrMapOvr>
  <p:transition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45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IN" dirty="0"/>
              <a:t>Configuring Logging in Spring Boot</a:t>
            </a:r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7664691" cy="3622675"/>
          </a:xfrm>
        </p:spPr>
        <p:txBody>
          <a:bodyPr/>
          <a:lstStyle/>
          <a:p>
            <a:pPr lvl="2">
              <a:lnSpc>
                <a:spcPct val="150000"/>
              </a:lnSpc>
            </a:pPr>
            <a:r>
              <a:rPr lang="en-US" dirty="0"/>
              <a:t>Logging settings can be configured in </a:t>
            </a:r>
            <a:r>
              <a:rPr lang="en-US" dirty="0" err="1"/>
              <a:t>application.properties</a:t>
            </a:r>
            <a:endParaRPr lang="en-US" dirty="0"/>
          </a:p>
          <a:p>
            <a:pPr lvl="2">
              <a:lnSpc>
                <a:spcPct val="150000"/>
              </a:lnSpc>
            </a:pPr>
            <a:r>
              <a:rPr lang="en-US" dirty="0"/>
              <a:t>Each log level indicates the severity of the messages: ERROR (most severe), WARN, INFO, DEBUG, TRACE (most detailed)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B6EC5A-F937-34F3-B4BA-069F45455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267" y="3802774"/>
            <a:ext cx="4170198" cy="7143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404160-05A8-10E8-A03B-D1C66BEB9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945" y="2166092"/>
            <a:ext cx="5048112" cy="123084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99985F-238C-BA7C-F8E2-7AEED474B019}"/>
              </a:ext>
            </a:extLst>
          </p:cNvPr>
          <p:cNvSpPr/>
          <p:nvPr/>
        </p:nvSpPr>
        <p:spPr bwMode="auto">
          <a:xfrm>
            <a:off x="4313578" y="2085172"/>
            <a:ext cx="2760662" cy="546101"/>
          </a:xfrm>
          <a:prstGeom prst="roundRect">
            <a:avLst/>
          </a:prstGeom>
          <a:solidFill>
            <a:srgbClr val="00A3E0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IN" sz="1200" dirty="0">
                <a:latin typeface="+mn-lt"/>
              </a:rPr>
              <a:t>Adding Spring boot Logging dependency</a:t>
            </a:r>
            <a:endParaRPr lang="en-IN" sz="1400" dirty="0">
              <a:solidFill>
                <a:srgbClr val="FFFFFF"/>
              </a:solidFill>
              <a:latin typeface="+mn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80D38E6-07BB-CC05-BAEF-3052F6112BFC}"/>
              </a:ext>
            </a:extLst>
          </p:cNvPr>
          <p:cNvCxnSpPr>
            <a:cxnSpLocks/>
          </p:cNvCxnSpPr>
          <p:nvPr/>
        </p:nvCxnSpPr>
        <p:spPr bwMode="auto">
          <a:xfrm flipH="1">
            <a:off x="1631290" y="2356477"/>
            <a:ext cx="2682288" cy="138006"/>
          </a:xfrm>
          <a:prstGeom prst="straightConnector1">
            <a:avLst/>
          </a:prstGeom>
          <a:ln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601741D-B1C4-6497-C16C-E323EFC314F8}"/>
              </a:ext>
            </a:extLst>
          </p:cNvPr>
          <p:cNvSpPr/>
          <p:nvPr/>
        </p:nvSpPr>
        <p:spPr bwMode="auto">
          <a:xfrm>
            <a:off x="6336803" y="3099496"/>
            <a:ext cx="2760662" cy="546101"/>
          </a:xfrm>
          <a:prstGeom prst="roundRect">
            <a:avLst/>
          </a:prstGeom>
          <a:solidFill>
            <a:srgbClr val="00A3E0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latin typeface="+mn-lt"/>
              </a:rPr>
              <a:t>Example configuration in the </a:t>
            </a:r>
            <a:r>
              <a:rPr lang="en-US" sz="1200" dirty="0" err="1">
                <a:latin typeface="+mn-lt"/>
              </a:rPr>
              <a:t>application.properties</a:t>
            </a:r>
            <a:r>
              <a:rPr lang="en-US" sz="1200" dirty="0">
                <a:latin typeface="+mn-lt"/>
              </a:rPr>
              <a:t> </a:t>
            </a:r>
            <a:endParaRPr lang="en-IN" sz="1400" dirty="0">
              <a:solidFill>
                <a:srgbClr val="FFFFFF"/>
              </a:solidFill>
              <a:latin typeface="+mn-lt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9823368-C48D-15DA-47D0-2CC686185009}"/>
              </a:ext>
            </a:extLst>
          </p:cNvPr>
          <p:cNvCxnSpPr>
            <a:cxnSpLocks/>
          </p:cNvCxnSpPr>
          <p:nvPr/>
        </p:nvCxnSpPr>
        <p:spPr bwMode="auto">
          <a:xfrm>
            <a:off x="6726857" y="3402691"/>
            <a:ext cx="0" cy="393631"/>
          </a:xfrm>
          <a:prstGeom prst="straightConnector1">
            <a:avLst/>
          </a:prstGeom>
          <a:ln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956758"/>
      </p:ext>
    </p:extLst>
  </p:cSld>
  <p:clrMapOvr>
    <a:masterClrMapping/>
  </p:clrMapOvr>
  <p:transition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46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IN" dirty="0"/>
              <a:t>Example usage of logging </a:t>
            </a:r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2FB884-2013-AA14-CA94-E6CF2B271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317" y="1489729"/>
            <a:ext cx="5143500" cy="2409825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8B4B5B1-4BA7-600C-6F89-31947E94C16F}"/>
              </a:ext>
            </a:extLst>
          </p:cNvPr>
          <p:cNvSpPr/>
          <p:nvPr/>
        </p:nvSpPr>
        <p:spPr bwMode="auto">
          <a:xfrm>
            <a:off x="321945" y="2079118"/>
            <a:ext cx="2760662" cy="1328215"/>
          </a:xfrm>
          <a:prstGeom prst="roundRect">
            <a:avLst/>
          </a:prstGeom>
          <a:solidFill>
            <a:srgbClr val="00A3E0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IN" sz="1200" dirty="0">
                <a:latin typeface="+mn-lt"/>
              </a:rPr>
              <a:t>Depending upon the severity, use the appropriate logging level </a:t>
            </a:r>
            <a:endParaRPr lang="en-IN" sz="12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56084C91-D1ED-C51A-5BEB-5934B64E3B15}"/>
              </a:ext>
            </a:extLst>
          </p:cNvPr>
          <p:cNvSpPr/>
          <p:nvPr/>
        </p:nvSpPr>
        <p:spPr bwMode="auto">
          <a:xfrm>
            <a:off x="3194808" y="1688149"/>
            <a:ext cx="321548" cy="2110154"/>
          </a:xfrm>
          <a:prstGeom prst="leftBrace">
            <a:avLst/>
          </a:prstGeom>
          <a:ln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1204992649"/>
      </p:ext>
    </p:extLst>
  </p:cSld>
  <p:clrMapOvr>
    <a:masterClrMapping/>
  </p:clrMapOvr>
  <p:transition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BAC2EE-74BF-1038-E21A-1DB1904C35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Introduction to Spring Boot Admin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20D2F1-813B-2A44-EE9B-65EDB808E3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51460" lvl="2" indent="-25146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ea typeface="Deutsche Bank Text"/>
                <a:cs typeface="Deutsche Bank Text"/>
              </a:rPr>
              <a:t>An open-source project designed to help manage and monitor Spring Boot applications</a:t>
            </a:r>
          </a:p>
          <a:p>
            <a:pPr marL="251460" lvl="2" indent="-25146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ea typeface="Deutsche Bank Text"/>
                <a:cs typeface="Deutsche Bank Text"/>
              </a:rPr>
              <a:t>Keep track of various aspects of applications in real time.</a:t>
            </a:r>
          </a:p>
          <a:p>
            <a:pPr marL="251460" lvl="2" indent="-25146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ea typeface="Deutsche Bank Text"/>
                <a:cs typeface="Deutsche Bank Text"/>
              </a:rPr>
              <a:t>Managing Application Properties and Environment.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01100" y="4808538"/>
            <a:ext cx="342900" cy="241300"/>
          </a:xfrm>
          <a:prstGeom prst="rect">
            <a:avLst/>
          </a:prstGeo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47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4805363"/>
            <a:ext cx="4478338" cy="241300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674323337"/>
      </p:ext>
    </p:extLst>
  </p:cSld>
  <p:clrMapOvr>
    <a:masterClrMapping/>
  </p:clrMapOvr>
  <p:transition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89439F-D94C-3CF9-4C4A-84400A467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Spring Boot Admin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BED5E9-420F-E600-B793-FB35F995FF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002"/>
          <a:stretch/>
        </p:blipFill>
        <p:spPr>
          <a:xfrm>
            <a:off x="4211350" y="2032001"/>
            <a:ext cx="4434660" cy="2592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EA4300-43D7-2807-67B0-914CC1C87226}"/>
              </a:ext>
            </a:extLst>
          </p:cNvPr>
          <p:cNvSpPr txBox="1"/>
          <p:nvPr/>
        </p:nvSpPr>
        <p:spPr bwMode="ltGray">
          <a:xfrm>
            <a:off x="4834495" y="867181"/>
            <a:ext cx="3467101" cy="646331"/>
          </a:xfrm>
          <a:prstGeom prst="rect">
            <a:avLst/>
          </a:prstGeom>
          <a:solidFill>
            <a:srgbClr val="00A3E0"/>
          </a:solidFill>
          <a:ln>
            <a:solidFill>
              <a:schemeClr val="accent1"/>
            </a:solidFill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u="sng" dirty="0"/>
              <a:t>Add Dependency</a:t>
            </a:r>
            <a:r>
              <a:rPr lang="en-US" sz="1200" dirty="0"/>
              <a:t>: Include the spring-boot-admin-starter-server dependency in your Spring Boot application’s pom.xml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490EA-61BC-428C-F8B3-FD50E78CA694}"/>
              </a:ext>
            </a:extLst>
          </p:cNvPr>
          <p:cNvSpPr txBox="1"/>
          <p:nvPr/>
        </p:nvSpPr>
        <p:spPr bwMode="ltGray">
          <a:xfrm>
            <a:off x="670746" y="1692358"/>
            <a:ext cx="2321851" cy="276999"/>
          </a:xfrm>
          <a:prstGeom prst="rect">
            <a:avLst/>
          </a:prstGeom>
          <a:solidFill>
            <a:srgbClr val="00A3E0"/>
          </a:solidFill>
          <a:ln>
            <a:solidFill>
              <a:schemeClr val="accent1"/>
            </a:solidFill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dirty="0"/>
              <a:t>Add to </a:t>
            </a:r>
            <a:r>
              <a:rPr lang="en-US" sz="1200" dirty="0" err="1"/>
              <a:t>application.properties</a:t>
            </a:r>
            <a:endParaRPr lang="en-IN" sz="12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5FA1687-50E3-FCC4-07A2-3D2BE51D0E72}"/>
              </a:ext>
            </a:extLst>
          </p:cNvPr>
          <p:cNvCxnSpPr>
            <a:cxnSpLocks/>
          </p:cNvCxnSpPr>
          <p:nvPr/>
        </p:nvCxnSpPr>
        <p:spPr bwMode="auto">
          <a:xfrm flipH="1">
            <a:off x="7069082" y="1352207"/>
            <a:ext cx="304991" cy="703370"/>
          </a:xfrm>
          <a:prstGeom prst="straightConnector1">
            <a:avLst/>
          </a:prstGeom>
          <a:ln>
            <a:solidFill>
              <a:schemeClr val="accent1"/>
            </a:solidFill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B4F025-9FFB-B222-A8C4-0B4096E50F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687" b="37195"/>
          <a:stretch/>
        </p:blipFill>
        <p:spPr>
          <a:xfrm>
            <a:off x="321945" y="980826"/>
            <a:ext cx="3842749" cy="245943"/>
          </a:xfrm>
          <a:prstGeom prst="rect">
            <a:avLst/>
          </a:prstGeom>
          <a:solidFill>
            <a:srgbClr val="00A3E0"/>
          </a:solidFill>
          <a:ln>
            <a:solidFill>
              <a:schemeClr val="accent1"/>
            </a:solidFill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FAD8DA-6D27-34EE-1819-53011D7D861D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37278" y="1209456"/>
            <a:ext cx="304643" cy="514362"/>
          </a:xfrm>
          <a:prstGeom prst="straightConnector1">
            <a:avLst/>
          </a:prstGeom>
          <a:ln>
            <a:solidFill>
              <a:schemeClr val="accent1"/>
            </a:solidFill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0D201E6E-F250-EDA2-C0F4-3360F204A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944" y="3094237"/>
            <a:ext cx="3842749" cy="1367526"/>
          </a:xfrm>
          <a:prstGeom prst="rect">
            <a:avLst/>
          </a:prstGeom>
          <a:solidFill>
            <a:srgbClr val="00A3E0"/>
          </a:solidFill>
          <a:ln>
            <a:solidFill>
              <a:schemeClr val="accent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0C3F77-179C-2525-14D5-2598267FE966}"/>
              </a:ext>
            </a:extLst>
          </p:cNvPr>
          <p:cNvSpPr txBox="1"/>
          <p:nvPr/>
        </p:nvSpPr>
        <p:spPr bwMode="ltGray">
          <a:xfrm>
            <a:off x="358521" y="2181056"/>
            <a:ext cx="2982877" cy="646331"/>
          </a:xfrm>
          <a:prstGeom prst="rect">
            <a:avLst/>
          </a:prstGeom>
          <a:solidFill>
            <a:srgbClr val="00A3E0"/>
          </a:solidFill>
          <a:ln>
            <a:solidFill>
              <a:schemeClr val="accent1"/>
            </a:solidFill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/>
              <a:t>Add the @EnableAdminServer annotation to your main application class to enable admin server features.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CD96985-405B-FA67-AE56-774DB7803B6F}"/>
              </a:ext>
            </a:extLst>
          </p:cNvPr>
          <p:cNvCxnSpPr>
            <a:cxnSpLocks/>
          </p:cNvCxnSpPr>
          <p:nvPr/>
        </p:nvCxnSpPr>
        <p:spPr bwMode="auto">
          <a:xfrm flipH="1">
            <a:off x="1681722" y="2800203"/>
            <a:ext cx="100484" cy="321219"/>
          </a:xfrm>
          <a:prstGeom prst="straightConnector1">
            <a:avLst/>
          </a:prstGeom>
          <a:ln>
            <a:solidFill>
              <a:schemeClr val="accent1"/>
            </a:solidFill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507078"/>
      </p:ext>
    </p:extLst>
  </p:cSld>
  <p:clrMapOvr>
    <a:masterClrMapping/>
  </p:clrMapOvr>
  <p:transition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89439F-D94C-3CF9-4C4A-84400A467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/>
              <a:t>Monitoring and Managing</a:t>
            </a:r>
            <a:endParaRPr lang="en-GB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F4C6C9-6A74-394B-A9D2-7ECCB0A90364}"/>
              </a:ext>
            </a:extLst>
          </p:cNvPr>
          <p:cNvSpPr txBox="1"/>
          <p:nvPr/>
        </p:nvSpPr>
        <p:spPr bwMode="ltGray">
          <a:xfrm>
            <a:off x="654995" y="1213625"/>
            <a:ext cx="1534360" cy="461665"/>
          </a:xfrm>
          <a:prstGeom prst="rect">
            <a:avLst/>
          </a:prstGeom>
          <a:solidFill>
            <a:srgbClr val="00A3E0"/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dirty="0"/>
              <a:t>By default runs on localhost:8080</a:t>
            </a: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2F60D1-9046-2C50-98FD-086316EF0C27}"/>
              </a:ext>
            </a:extLst>
          </p:cNvPr>
          <p:cNvSpPr txBox="1"/>
          <p:nvPr/>
        </p:nvSpPr>
        <p:spPr bwMode="ltGray">
          <a:xfrm>
            <a:off x="768096" y="2656576"/>
            <a:ext cx="1534360" cy="646331"/>
          </a:xfrm>
          <a:prstGeom prst="rect">
            <a:avLst/>
          </a:prstGeom>
          <a:solidFill>
            <a:srgbClr val="00A3E0"/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dirty="0"/>
              <a:t>Registered application will be seen</a:t>
            </a:r>
            <a:endParaRPr lang="en-IN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548E1C-A799-344C-C67B-0253A6EA3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928" y="835257"/>
            <a:ext cx="5306976" cy="381171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F181E75-D50D-B260-64E9-184CEB4F431B}"/>
              </a:ext>
            </a:extLst>
          </p:cNvPr>
          <p:cNvSpPr txBox="1"/>
          <p:nvPr/>
        </p:nvSpPr>
        <p:spPr bwMode="ltGray">
          <a:xfrm>
            <a:off x="6592052" y="3332955"/>
            <a:ext cx="1534360" cy="461665"/>
          </a:xfrm>
          <a:prstGeom prst="rect">
            <a:avLst/>
          </a:prstGeom>
          <a:solidFill>
            <a:srgbClr val="00A3E0"/>
          </a:solidFill>
          <a:ln>
            <a:solidFill>
              <a:schemeClr val="accent1"/>
            </a:solidFill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dirty="0"/>
              <a:t>Application is online</a:t>
            </a:r>
            <a:endParaRPr lang="en-IN" sz="12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4F2F51-D081-B134-F7BE-908D3AEDA2B1}"/>
              </a:ext>
            </a:extLst>
          </p:cNvPr>
          <p:cNvCxnSpPr>
            <a:stCxn id="2" idx="3"/>
          </p:cNvCxnSpPr>
          <p:nvPr/>
        </p:nvCxnSpPr>
        <p:spPr bwMode="auto">
          <a:xfrm flipV="1">
            <a:off x="2189355" y="1024128"/>
            <a:ext cx="1607234" cy="420330"/>
          </a:xfrm>
          <a:prstGeom prst="straightConnector1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79CAEE-9280-E3A2-EE37-35F7B4900959}"/>
              </a:ext>
            </a:extLst>
          </p:cNvPr>
          <p:cNvCxnSpPr>
            <a:stCxn id="4" idx="3"/>
          </p:cNvCxnSpPr>
          <p:nvPr/>
        </p:nvCxnSpPr>
        <p:spPr bwMode="auto">
          <a:xfrm>
            <a:off x="2302456" y="2979742"/>
            <a:ext cx="1494133" cy="950133"/>
          </a:xfrm>
          <a:prstGeom prst="straightConnector1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/>
          </a:ln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436C818-12CB-E6BC-BB9F-F714CBE87803}"/>
              </a:ext>
            </a:extLst>
          </p:cNvPr>
          <p:cNvCxnSpPr>
            <a:stCxn id="15" idx="1"/>
          </p:cNvCxnSpPr>
          <p:nvPr/>
        </p:nvCxnSpPr>
        <p:spPr bwMode="auto">
          <a:xfrm flipH="1" flipV="1">
            <a:off x="6130138" y="2570650"/>
            <a:ext cx="461914" cy="993138"/>
          </a:xfrm>
          <a:prstGeom prst="straightConnector1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3165357215"/>
      </p:ext>
    </p:extLst>
  </p:cSld>
  <p:clrMapOvr>
    <a:masterClrMapping/>
  </p:clrMapOvr>
  <p:transition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98A0183-E99A-6EDA-E0ED-B818A71AFD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4688" y="1605246"/>
            <a:ext cx="7342187" cy="1062354"/>
          </a:xfrm>
        </p:spPr>
        <p:txBody>
          <a:bodyPr/>
          <a:lstStyle/>
          <a:p>
            <a:r>
              <a:rPr lang="en-US" sz="2800" dirty="0"/>
              <a:t>Starting with </a:t>
            </a:r>
            <a:r>
              <a:rPr lang="en-US" sz="2800" dirty="0" err="1"/>
              <a:t>Zipkin</a:t>
            </a:r>
            <a:endParaRPr lang="en-GB" sz="280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491D0B5-3B8C-74E3-6F69-0BA924855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8 May 2024, Speaker name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D186113-C121-1E64-7082-36DAC77750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Zipkin</a:t>
            </a:r>
            <a:r>
              <a:rPr lang="en-US" dirty="0"/>
              <a:t> is an open-source distributed tracing system that helps gather timing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Distributed tracing allows tracking the entire journey of a request, identifying bottlenecks</a:t>
            </a:r>
          </a:p>
        </p:txBody>
      </p:sp>
    </p:spTree>
    <p:extLst>
      <p:ext uri="{BB962C8B-B14F-4D97-AF65-F5344CB8AC3E}">
        <p14:creationId xmlns:p14="http://schemas.microsoft.com/office/powerpoint/2010/main" val="786993931"/>
      </p:ext>
    </p:extLst>
  </p:cSld>
  <p:clrMapOvr>
    <a:masterClrMapping/>
  </p:clrMapOvr>
  <p:transition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51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Setting Up </a:t>
            </a:r>
            <a:r>
              <a:rPr lang="en-US" sz="1400" dirty="0" err="1"/>
              <a:t>Zipkin</a:t>
            </a:r>
            <a:r>
              <a:rPr lang="en-US" sz="1400" dirty="0"/>
              <a:t> Server</a:t>
            </a:r>
            <a:endParaRPr lang="en-GB" sz="1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7664691" cy="3622675"/>
          </a:xfrm>
        </p:spPr>
        <p:txBody>
          <a:bodyPr/>
          <a:lstStyle/>
          <a:p>
            <a:pPr lvl="2">
              <a:lnSpc>
                <a:spcPct val="150000"/>
              </a:lnSpc>
            </a:pPr>
            <a:r>
              <a:rPr lang="en-US" dirty="0"/>
              <a:t>Download </a:t>
            </a:r>
            <a:r>
              <a:rPr lang="en-US" dirty="0" err="1"/>
              <a:t>Zipkin</a:t>
            </a:r>
            <a:r>
              <a:rPr lang="en-US" dirty="0"/>
              <a:t> server from </a:t>
            </a:r>
            <a:r>
              <a:rPr lang="en-US" dirty="0">
                <a:hlinkClick r:id="rId3"/>
              </a:rPr>
              <a:t>https://zipkin.io/pages/quickstart</a:t>
            </a:r>
            <a:endParaRPr lang="en-US" dirty="0"/>
          </a:p>
          <a:p>
            <a:pPr lvl="2">
              <a:lnSpc>
                <a:spcPct val="150000"/>
              </a:lnSpc>
            </a:pPr>
            <a:endParaRPr lang="en-US" dirty="0"/>
          </a:p>
          <a:p>
            <a:pPr lvl="2">
              <a:lnSpc>
                <a:spcPct val="150000"/>
              </a:lnSpc>
            </a:pPr>
            <a:endParaRPr lang="en-US" dirty="0"/>
          </a:p>
          <a:p>
            <a:pPr lvl="2">
              <a:lnSpc>
                <a:spcPct val="150000"/>
              </a:lnSpc>
            </a:pPr>
            <a:endParaRPr lang="en-US" dirty="0"/>
          </a:p>
          <a:p>
            <a:pPr lvl="2">
              <a:lnSpc>
                <a:spcPct val="150000"/>
              </a:lnSpc>
            </a:pPr>
            <a:endParaRPr lang="en-US" dirty="0"/>
          </a:p>
          <a:p>
            <a:pPr lvl="2">
              <a:lnSpc>
                <a:spcPct val="150000"/>
              </a:lnSpc>
            </a:pPr>
            <a:endParaRPr lang="en-US" dirty="0"/>
          </a:p>
          <a:p>
            <a:pPr lvl="2">
              <a:lnSpc>
                <a:spcPct val="150000"/>
              </a:lnSpc>
            </a:pPr>
            <a:endParaRPr lang="en-US" dirty="0"/>
          </a:p>
          <a:p>
            <a:pPr lvl="2">
              <a:lnSpc>
                <a:spcPct val="150000"/>
              </a:lnSpc>
            </a:pPr>
            <a:r>
              <a:rPr lang="en-US" dirty="0"/>
              <a:t>Run the </a:t>
            </a:r>
            <a:r>
              <a:rPr lang="en-US" dirty="0" err="1"/>
              <a:t>zipkin</a:t>
            </a:r>
            <a:r>
              <a:rPr lang="en-US" dirty="0"/>
              <a:t> server by running following in power shell. </a:t>
            </a:r>
          </a:p>
          <a:p>
            <a:pPr lvl="2">
              <a:lnSpc>
                <a:spcPct val="150000"/>
              </a:lnSpc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358A8E-B38E-F6FB-E399-F5B19D48A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456" y="3286738"/>
            <a:ext cx="4667250" cy="3143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AAD0FF-6AFF-06A1-998E-8B654F97C5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777" y="1882489"/>
            <a:ext cx="2901846" cy="995288"/>
          </a:xfrm>
          <a:prstGeom prst="rect">
            <a:avLst/>
          </a:prstGeom>
          <a:solidFill>
            <a:srgbClr val="00A3E0"/>
          </a:solidFill>
          <a:ln>
            <a:solidFill>
              <a:srgbClr val="1E2A78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595258F-1A18-CF47-55DC-6DDC30149B69}"/>
              </a:ext>
            </a:extLst>
          </p:cNvPr>
          <p:cNvSpPr txBox="1"/>
          <p:nvPr/>
        </p:nvSpPr>
        <p:spPr bwMode="ltGray">
          <a:xfrm>
            <a:off x="5423658" y="843227"/>
            <a:ext cx="2146806" cy="461665"/>
          </a:xfrm>
          <a:prstGeom prst="rect">
            <a:avLst/>
          </a:prstGeom>
          <a:solidFill>
            <a:srgbClr val="00A3E0"/>
          </a:solidFill>
          <a:ln>
            <a:solidFill>
              <a:srgbClr val="1E2A78"/>
            </a:solidFill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1200" dirty="0"/>
              <a:t>Click on latest release to download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6864D70-7F05-21A8-7FF2-573C5AEBAA24}"/>
              </a:ext>
            </a:extLst>
          </p:cNvPr>
          <p:cNvCxnSpPr>
            <a:cxnSpLocks/>
            <a:stCxn id="14" idx="2"/>
          </p:cNvCxnSpPr>
          <p:nvPr/>
        </p:nvCxnSpPr>
        <p:spPr bwMode="auto">
          <a:xfrm flipH="1">
            <a:off x="5735117" y="1304892"/>
            <a:ext cx="761944" cy="577597"/>
          </a:xfrm>
          <a:prstGeom prst="straightConnector1">
            <a:avLst/>
          </a:prstGeom>
          <a:ln>
            <a:solidFill>
              <a:srgbClr val="1E2A78"/>
            </a:solidFill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246658"/>
      </p:ext>
    </p:extLst>
  </p:cSld>
  <p:clrMapOvr>
    <a:masterClrMapping/>
  </p:clrMapOvr>
  <p:transition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52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Setting Up </a:t>
            </a:r>
            <a:r>
              <a:rPr lang="en-US" sz="1400" dirty="0" err="1"/>
              <a:t>Zipkin</a:t>
            </a:r>
            <a:r>
              <a:rPr lang="en-US" sz="1400" dirty="0"/>
              <a:t> Server</a:t>
            </a:r>
            <a:endParaRPr lang="en-GB" sz="1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59AA89-09CC-4B9D-AFC2-E2E032276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638" y="3325214"/>
            <a:ext cx="3825448" cy="6225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685AED-7A33-DED4-7F36-54E1C4D72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171" y="855956"/>
            <a:ext cx="4689043" cy="15584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3C2765-5491-3E7F-F136-5402A7F1DE2E}"/>
              </a:ext>
            </a:extLst>
          </p:cNvPr>
          <p:cNvSpPr txBox="1"/>
          <p:nvPr/>
        </p:nvSpPr>
        <p:spPr bwMode="ltGray">
          <a:xfrm>
            <a:off x="5468478" y="667776"/>
            <a:ext cx="2552280" cy="461665"/>
          </a:xfrm>
          <a:prstGeom prst="rect">
            <a:avLst/>
          </a:prstGeom>
          <a:solidFill>
            <a:srgbClr val="00A3E0"/>
          </a:solidFill>
          <a:ln>
            <a:noFill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1200" dirty="0"/>
              <a:t>Add the following dependency to pom.xml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533840-892F-93B5-A39C-C6559C26D3F4}"/>
              </a:ext>
            </a:extLst>
          </p:cNvPr>
          <p:cNvSpPr txBox="1"/>
          <p:nvPr/>
        </p:nvSpPr>
        <p:spPr bwMode="ltGray">
          <a:xfrm>
            <a:off x="5157165" y="3017139"/>
            <a:ext cx="2552280" cy="461665"/>
          </a:xfrm>
          <a:prstGeom prst="rect">
            <a:avLst/>
          </a:prstGeom>
          <a:solidFill>
            <a:srgbClr val="00A3E0"/>
          </a:solidFill>
          <a:ln>
            <a:noFill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dirty="0"/>
              <a:t>Add the following to </a:t>
            </a:r>
            <a:r>
              <a:rPr lang="en-US" sz="1200" dirty="0" err="1"/>
              <a:t>application.properties</a:t>
            </a:r>
            <a:endParaRPr lang="en-IN" sz="12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C875F7F-99BA-B7DF-6576-EEEAFCFACB69}"/>
              </a:ext>
            </a:extLst>
          </p:cNvPr>
          <p:cNvCxnSpPr>
            <a:stCxn id="8" idx="1"/>
          </p:cNvCxnSpPr>
          <p:nvPr/>
        </p:nvCxnSpPr>
        <p:spPr bwMode="auto">
          <a:xfrm flipH="1">
            <a:off x="3730752" y="898609"/>
            <a:ext cx="1737726" cy="230832"/>
          </a:xfrm>
          <a:prstGeom prst="straightConnector1">
            <a:avLst/>
          </a:prstGeom>
          <a:noFill/>
          <a:ln w="12700">
            <a:solidFill>
              <a:schemeClr val="bg1"/>
            </a:solidFill>
            <a:round/>
            <a:headEnd/>
            <a:tailEnd type="triangle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98708A7-D117-61C6-51BE-6B7DDCA23D40}"/>
              </a:ext>
            </a:extLst>
          </p:cNvPr>
          <p:cNvCxnSpPr/>
          <p:nvPr/>
        </p:nvCxnSpPr>
        <p:spPr bwMode="auto">
          <a:xfrm flipH="1">
            <a:off x="3755964" y="3377706"/>
            <a:ext cx="1737726" cy="230832"/>
          </a:xfrm>
          <a:prstGeom prst="straightConnector1">
            <a:avLst/>
          </a:prstGeom>
          <a:noFill/>
          <a:ln w="12700">
            <a:solidFill>
              <a:schemeClr val="bg1"/>
            </a:solidFill>
            <a:round/>
            <a:headEnd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2542072121"/>
      </p:ext>
    </p:extLst>
  </p:cSld>
  <p:clrMapOvr>
    <a:masterClrMapping/>
  </p:clrMapOvr>
  <p:transition>
    <p:wipe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C9EA78-A558-CA7E-3F4B-1E18D7096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53</a:t>
            </a:fld>
            <a:endParaRPr lang="en-GB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CAE688-D1A1-EBAF-674B-33BC5FF4C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 err="1"/>
              <a:t>Zipkin</a:t>
            </a:r>
            <a:r>
              <a:rPr lang="en-US" sz="1400" dirty="0"/>
              <a:t> Dashboard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58AE9-EEBB-F71F-7408-2CA7A66AAB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D185C2-DD9E-9EC6-A6C7-B48A19138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2" y="1323233"/>
            <a:ext cx="6867282" cy="2668213"/>
          </a:xfrm>
          <a:prstGeom prst="rect">
            <a:avLst/>
          </a:prstGeom>
          <a:solidFill>
            <a:srgbClr val="00A3E0"/>
          </a:solidFill>
          <a:ln>
            <a:solidFill>
              <a:schemeClr val="bg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A2CC19-2530-2AF3-FB63-45B79DC2923D}"/>
              </a:ext>
            </a:extLst>
          </p:cNvPr>
          <p:cNvSpPr txBox="1"/>
          <p:nvPr/>
        </p:nvSpPr>
        <p:spPr bwMode="ltGray">
          <a:xfrm>
            <a:off x="255434" y="4144312"/>
            <a:ext cx="1165379" cy="276999"/>
          </a:xfrm>
          <a:prstGeom prst="rect">
            <a:avLst/>
          </a:prstGeom>
          <a:solidFill>
            <a:srgbClr val="00A3E0"/>
          </a:solidFill>
          <a:ln>
            <a:solidFill>
              <a:schemeClr val="bg1"/>
            </a:solidFill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dirty="0"/>
              <a:t>A</a:t>
            </a:r>
            <a:r>
              <a:rPr lang="en-IN" sz="1200" dirty="0"/>
              <a:t>pi calls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D9D901-9204-ECA6-39EB-EC23EC5879C3}"/>
              </a:ext>
            </a:extLst>
          </p:cNvPr>
          <p:cNvSpPr txBox="1"/>
          <p:nvPr/>
        </p:nvSpPr>
        <p:spPr bwMode="ltGray">
          <a:xfrm>
            <a:off x="6952510" y="4197986"/>
            <a:ext cx="1559497" cy="276999"/>
          </a:xfrm>
          <a:prstGeom prst="rect">
            <a:avLst/>
          </a:prstGeom>
          <a:solidFill>
            <a:srgbClr val="00A3E0"/>
          </a:solidFill>
          <a:ln>
            <a:solidFill>
              <a:schemeClr val="bg1"/>
            </a:solidFill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dirty="0"/>
              <a:t>Duration of </a:t>
            </a:r>
            <a:r>
              <a:rPr lang="en-US" sz="1200" dirty="0" err="1"/>
              <a:t>api</a:t>
            </a:r>
            <a:r>
              <a:rPr lang="en-US" sz="1200" dirty="0"/>
              <a:t> call</a:t>
            </a:r>
            <a:endParaRPr lang="en-IN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091AF9-52C2-CE68-F422-9E8D1DACE187}"/>
              </a:ext>
            </a:extLst>
          </p:cNvPr>
          <p:cNvSpPr txBox="1"/>
          <p:nvPr/>
        </p:nvSpPr>
        <p:spPr bwMode="ltGray">
          <a:xfrm>
            <a:off x="6081267" y="470362"/>
            <a:ext cx="1559497" cy="646331"/>
          </a:xfrm>
          <a:prstGeom prst="rect">
            <a:avLst/>
          </a:prstGeom>
          <a:solidFill>
            <a:srgbClr val="00A3E0"/>
          </a:solidFill>
          <a:ln>
            <a:solidFill>
              <a:schemeClr val="bg1"/>
            </a:solidFill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dirty="0"/>
              <a:t>After doing API calls click on run query</a:t>
            </a:r>
            <a:endParaRPr lang="en-IN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B6106A-0033-E252-D532-9630E4B2E0DB}"/>
              </a:ext>
            </a:extLst>
          </p:cNvPr>
          <p:cNvSpPr txBox="1"/>
          <p:nvPr/>
        </p:nvSpPr>
        <p:spPr bwMode="ltGray">
          <a:xfrm>
            <a:off x="2552800" y="4107198"/>
            <a:ext cx="3378901" cy="461665"/>
          </a:xfrm>
          <a:prstGeom prst="rect">
            <a:avLst/>
          </a:prstGeom>
          <a:solidFill>
            <a:srgbClr val="00A3E0"/>
          </a:solidFill>
          <a:ln>
            <a:solidFill>
              <a:schemeClr val="bg1"/>
            </a:solidFill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dirty="0"/>
              <a:t>URL for accessing </a:t>
            </a:r>
            <a:r>
              <a:rPr lang="en-US" sz="1200" dirty="0" err="1"/>
              <a:t>Zipkin</a:t>
            </a:r>
            <a:r>
              <a:rPr lang="en-US" sz="1200" dirty="0"/>
              <a:t> server: http://127.0.0.1:9411/zipkin/</a:t>
            </a:r>
            <a:endParaRPr lang="en-IN" sz="12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0C70770-A577-EBF4-8A36-F01BF83AEA51}"/>
              </a:ext>
            </a:extLst>
          </p:cNvPr>
          <p:cNvCxnSpPr>
            <a:stCxn id="10" idx="2"/>
          </p:cNvCxnSpPr>
          <p:nvPr/>
        </p:nvCxnSpPr>
        <p:spPr bwMode="auto">
          <a:xfrm flipH="1">
            <a:off x="6861015" y="1116693"/>
            <a:ext cx="1" cy="770629"/>
          </a:xfrm>
          <a:prstGeom prst="straightConnector1">
            <a:avLst/>
          </a:prstGeom>
          <a:noFill/>
          <a:ln w="28575">
            <a:solidFill>
              <a:srgbClr val="1E2A78"/>
            </a:solidFill>
            <a:round/>
            <a:headEnd/>
            <a:tailEnd type="triangle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CB51DE6-7A0E-426B-2097-614D92331367}"/>
              </a:ext>
            </a:extLst>
          </p:cNvPr>
          <p:cNvCxnSpPr>
            <a:stCxn id="8" idx="0"/>
          </p:cNvCxnSpPr>
          <p:nvPr/>
        </p:nvCxnSpPr>
        <p:spPr bwMode="auto">
          <a:xfrm flipH="1" flipV="1">
            <a:off x="6722669" y="3664008"/>
            <a:ext cx="1009590" cy="533978"/>
          </a:xfrm>
          <a:prstGeom prst="straightConnector1">
            <a:avLst/>
          </a:prstGeom>
          <a:noFill/>
          <a:ln w="12700">
            <a:solidFill>
              <a:srgbClr val="1E2A78"/>
            </a:solidFill>
            <a:round/>
            <a:headEnd/>
            <a:tailEnd type="triangle"/>
          </a:ln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9D73758-529A-BDEE-D787-E8E99882B016}"/>
              </a:ext>
            </a:extLst>
          </p:cNvPr>
          <p:cNvCxnSpPr>
            <a:stCxn id="6" idx="0"/>
          </p:cNvCxnSpPr>
          <p:nvPr/>
        </p:nvCxnSpPr>
        <p:spPr bwMode="auto">
          <a:xfrm flipV="1">
            <a:off x="838124" y="3664008"/>
            <a:ext cx="643887" cy="480304"/>
          </a:xfrm>
          <a:prstGeom prst="straightConnector1">
            <a:avLst/>
          </a:prstGeom>
          <a:noFill/>
          <a:ln w="12700">
            <a:solidFill>
              <a:srgbClr val="1E2A78"/>
            </a:solidFill>
            <a:round/>
            <a:headEnd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949536282"/>
      </p:ext>
    </p:extLst>
  </p:cSld>
  <p:clrMapOvr>
    <a:masterClrMapping/>
  </p:clrMapOvr>
  <p:transition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98A0183-E99A-6EDA-E0ED-B818A71AFD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4688" y="1239486"/>
            <a:ext cx="7342187" cy="1062354"/>
          </a:xfrm>
        </p:spPr>
        <p:txBody>
          <a:bodyPr/>
          <a:lstStyle/>
          <a:p>
            <a:r>
              <a:rPr lang="en-US" dirty="0"/>
              <a:t>Introduction to Swagger</a:t>
            </a:r>
            <a:endParaRPr lang="en-GB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491D0B5-3B8C-74E3-6F69-0BA924855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8 May 2024, Speaker name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D186113-C121-1E64-7082-36DAC77750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4688" y="2382307"/>
            <a:ext cx="7342187" cy="872164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/>
              <a:t>An open-source framework for API development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/>
              <a:t>Provides a standardized way to describe, produce, consume, and visualize RESTful web services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/>
              <a:t>The Swagger ecosystem includes several tools: </a:t>
            </a:r>
            <a:r>
              <a:rPr lang="en-IN" dirty="0"/>
              <a:t>Swagger UI</a:t>
            </a:r>
            <a:r>
              <a:rPr lang="en-US" dirty="0"/>
              <a:t>, </a:t>
            </a:r>
            <a:r>
              <a:rPr lang="en-IN" dirty="0"/>
              <a:t>Swagger Editor</a:t>
            </a:r>
            <a:r>
              <a:rPr lang="en-US" dirty="0"/>
              <a:t>, </a:t>
            </a:r>
            <a:r>
              <a:rPr lang="en-IN" dirty="0"/>
              <a:t>Swagger </a:t>
            </a:r>
            <a:r>
              <a:rPr lang="en-IN" dirty="0" err="1"/>
              <a:t>Codegen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0027934"/>
      </p:ext>
    </p:extLst>
  </p:cSld>
  <p:clrMapOvr>
    <a:masterClrMapping/>
  </p:clrMapOvr>
  <p:transition>
    <p:wipe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E0CC3D-1A24-1B9C-520D-41C593796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400" dirty="0"/>
              <a:t>Setting Up Swagger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0C8483-713F-18F5-6511-DF9E5CC04EDD}"/>
              </a:ext>
            </a:extLst>
          </p:cNvPr>
          <p:cNvSpPr txBox="1"/>
          <p:nvPr/>
        </p:nvSpPr>
        <p:spPr bwMode="ltGray">
          <a:xfrm>
            <a:off x="3366951" y="971261"/>
            <a:ext cx="4538662" cy="276999"/>
          </a:xfrm>
          <a:prstGeom prst="rect">
            <a:avLst/>
          </a:prstGeom>
          <a:solidFill>
            <a:srgbClr val="00A3E0"/>
          </a:solidFill>
          <a:ln>
            <a:solidFill>
              <a:srgbClr val="1E2A78"/>
            </a:solidFill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sz="1200" dirty="0"/>
              <a:t>Add the dependency to pom.xml</a:t>
            </a:r>
            <a:endParaRPr lang="en-IN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E474FF-271F-E6F2-7CD8-F45CEC945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964" y="2016267"/>
            <a:ext cx="6486525" cy="1276350"/>
          </a:xfrm>
          <a:prstGeom prst="rect">
            <a:avLst/>
          </a:prstGeom>
          <a:solidFill>
            <a:srgbClr val="00A3E0"/>
          </a:solidFill>
          <a:ln>
            <a:solidFill>
              <a:srgbClr val="1E2A78"/>
            </a:solidFill>
          </a:ln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469C680-1620-3497-3DE7-D2A9653B8D10}"/>
              </a:ext>
            </a:extLst>
          </p:cNvPr>
          <p:cNvCxnSpPr>
            <a:cxnSpLocks/>
          </p:cNvCxnSpPr>
          <p:nvPr/>
        </p:nvCxnSpPr>
        <p:spPr bwMode="auto">
          <a:xfrm flipH="1">
            <a:off x="2791351" y="1201450"/>
            <a:ext cx="773723" cy="984739"/>
          </a:xfrm>
          <a:prstGeom prst="straightConnector1">
            <a:avLst/>
          </a:prstGeom>
          <a:ln>
            <a:solidFill>
              <a:srgbClr val="1E2A78"/>
            </a:solidFill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22659"/>
      </p:ext>
    </p:extLst>
  </p:cSld>
  <p:clrMapOvr>
    <a:masterClrMapping/>
  </p:clrMapOvr>
  <p:transition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253AE4-9980-02F0-EC08-68BE1AA7B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56</a:t>
            </a:fld>
            <a:endParaRPr lang="en-GB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BF01A9-B931-DE1B-F765-219244D0F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view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C17B1C-5DB0-8E43-BDFB-5A7865B9A0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EC84AD-7E44-4065-AF15-65180B14A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825" y="1363753"/>
            <a:ext cx="4177230" cy="33870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018985-11F3-8A54-ADD9-E326E6619DE4}"/>
              </a:ext>
            </a:extLst>
          </p:cNvPr>
          <p:cNvSpPr txBox="1"/>
          <p:nvPr/>
        </p:nvSpPr>
        <p:spPr bwMode="ltGray">
          <a:xfrm>
            <a:off x="605667" y="877353"/>
            <a:ext cx="6105945" cy="276999"/>
          </a:xfrm>
          <a:prstGeom prst="rect">
            <a:avLst/>
          </a:prstGeom>
          <a:solidFill>
            <a:srgbClr val="00A3E0"/>
          </a:solidFill>
          <a:ln>
            <a:solidFill>
              <a:srgbClr val="1E2A78"/>
            </a:solidFill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dirty="0" err="1"/>
              <a:t>Url</a:t>
            </a:r>
            <a:r>
              <a:rPr lang="en-US" sz="1200" dirty="0"/>
              <a:t> for swagger: http://localhost:8080/swagger-ui/index.html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E69F6E-F3E9-B2A6-95B0-139F66526087}"/>
              </a:ext>
            </a:extLst>
          </p:cNvPr>
          <p:cNvSpPr txBox="1"/>
          <p:nvPr/>
        </p:nvSpPr>
        <p:spPr bwMode="ltGray">
          <a:xfrm>
            <a:off x="5882726" y="2599566"/>
            <a:ext cx="1899043" cy="276999"/>
          </a:xfrm>
          <a:prstGeom prst="rect">
            <a:avLst/>
          </a:prstGeom>
          <a:solidFill>
            <a:srgbClr val="00A3E0"/>
          </a:solidFill>
          <a:ln>
            <a:solidFill>
              <a:srgbClr val="1E2A78"/>
            </a:solidFill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dirty="0"/>
              <a:t>API’s will be listed here</a:t>
            </a:r>
            <a:endParaRPr lang="en-IN" sz="12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26BF7DA-395E-5135-78C7-BE1093B9B2DD}"/>
              </a:ext>
            </a:extLst>
          </p:cNvPr>
          <p:cNvCxnSpPr>
            <a:cxnSpLocks/>
          </p:cNvCxnSpPr>
          <p:nvPr/>
        </p:nvCxnSpPr>
        <p:spPr bwMode="auto">
          <a:xfrm flipH="1">
            <a:off x="4381805" y="2930813"/>
            <a:ext cx="2248732" cy="1282742"/>
          </a:xfrm>
          <a:prstGeom prst="straightConnector1">
            <a:avLst/>
          </a:prstGeom>
          <a:ln>
            <a:solidFill>
              <a:srgbClr val="1E2A78"/>
            </a:solidFill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6474156"/>
      </p:ext>
    </p:extLst>
  </p:cSld>
  <p:clrMapOvr>
    <a:masterClrMapping/>
  </p:clrMapOvr>
  <p:transition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8F6552F-D25E-5CD9-7A8F-1C0C6C6715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Spring Basics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4A79-4AED-5305-2124-F46367AE4A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8B3AA-0B8F-FF52-DEE1-6FB6A5B33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763420"/>
      </p:ext>
    </p:extLst>
  </p:cSld>
  <p:clrMapOvr>
    <a:masterClrMapping/>
  </p:clrMapOvr>
  <p:transition>
    <p:wipe dir="r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21103-6518-1C7F-E280-5DA5E1921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F2C234-5F38-FC57-90C0-F6D1188E11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ea typeface="ＭＳ Ｐゴシック"/>
              </a:rPr>
              <a:t>Blog Application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E3A1E-1DE8-297C-A68E-A4DCBFDA59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E36D9-F293-2326-EE2F-41147D73C8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81981"/>
      </p:ext>
    </p:extLst>
  </p:cSld>
  <p:clrMapOvr>
    <a:masterClrMapping/>
  </p:clrMapOvr>
  <p:transition>
    <p:wipe dir="r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16C64C-C249-F995-4ADE-A08EA19DC4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Spring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ECAAC-B8E9-233A-F406-B9A76B8396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7C4F8-B9DA-3713-3A6F-1531D2A7BF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86627"/>
      </p:ext>
    </p:extLst>
  </p:cSld>
  <p:clrMapOvr>
    <a:masterClrMapping/>
  </p:clrMapOvr>
  <p:transition>
    <p:wipe dir="r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A880F-28A2-6C87-5F92-14C771173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8278E4-5A61-2AEF-C4A2-73F6D3F668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ea typeface="ＭＳ Ｐゴシック"/>
              </a:rPr>
              <a:t>Spring Boot Creating REST APIs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D4F93-13EF-7BD6-8507-677EFA343D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C97CE-B863-CFD3-2C1F-78761C2579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34586"/>
      </p:ext>
    </p:extLst>
  </p:cSld>
  <p:clrMapOvr>
    <a:masterClrMapping/>
  </p:clrMapOvr>
  <p:transition>
    <p:wipe dir="r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8BD43-F922-0CE3-E7B3-E3C817D78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AF772B-1A43-080D-267D-395C2B4383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ea typeface="ＭＳ Ｐゴシック"/>
              </a:rPr>
              <a:t>Spring Boot Testing Lab: Testing Fitness Application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66EDF-2047-A2EE-63C2-52DD7A0D6F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53FC5-E3DA-0EEA-4596-DA985E8619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07776"/>
      </p:ext>
    </p:extLst>
  </p:cSld>
  <p:clrMapOvr>
    <a:masterClrMapping/>
  </p:clrMapOvr>
  <p:transition>
    <p:wipe dir="r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7CBF52-241B-42E0-2476-2ED2E7C60E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Programmer to API Developer Sandbox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86754-1D08-3DFF-870D-713A4C0D31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AD182-FA90-A4AB-DBC9-C718C0437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887270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Deutsche Bank title master 2024 05">
  <a:themeElements>
    <a:clrScheme name="Deutsche Bank 2024 05">
      <a:dk1>
        <a:srgbClr val="000000"/>
      </a:dk1>
      <a:lt1>
        <a:srgbClr val="FFFFFF"/>
      </a:lt1>
      <a:dk2>
        <a:srgbClr val="16184E"/>
      </a:dk2>
      <a:lt2>
        <a:srgbClr val="CCEDF9"/>
      </a:lt2>
      <a:accent1>
        <a:srgbClr val="1E2A78"/>
      </a:accent1>
      <a:accent2>
        <a:srgbClr val="3BB8B8"/>
      </a:accent2>
      <a:accent3>
        <a:srgbClr val="24778D"/>
      </a:accent3>
      <a:accent4>
        <a:srgbClr val="25A62D"/>
      </a:accent4>
      <a:accent5>
        <a:srgbClr val="C9DD03"/>
      </a:accent5>
      <a:accent6>
        <a:srgbClr val="A1AC05"/>
      </a:accent6>
      <a:hlink>
        <a:srgbClr val="00A3E0"/>
      </a:hlink>
      <a:folHlink>
        <a:srgbClr val="00A3E0"/>
      </a:folHlink>
    </a:clrScheme>
    <a:fontScheme name="Deutsche Bank 04.2024">
      <a:majorFont>
        <a:latin typeface="Deutsche Bank Text"/>
        <a:ea typeface="MS PGothic"/>
        <a:cs typeface=""/>
      </a:majorFont>
      <a:minorFont>
        <a:latin typeface="Deutsche Bank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  <a:miter lim="800000"/>
          <a:headEnd/>
          <a:tailEnd/>
        </a:ln>
      </a:spPr>
      <a:bodyPr lIns="100913" tIns="50457" rIns="100913" bIns="50457" rtlCol="0" anchor="ctr">
        <a:noAutofit/>
      </a:bodyPr>
      <a:lstStyle>
        <a:defPPr algn="ctr" defTabSz="963613" eaLnBrk="0" hangingPunct="0">
          <a:tabLst>
            <a:tab pos="1257300" algn="l"/>
          </a:tabLst>
          <a:defRPr dirty="0" err="1" smtClean="0">
            <a:solidFill>
              <a:srgbClr val="FFFFFF"/>
            </a:solidFill>
            <a:latin typeface="+mn-lt"/>
          </a:defRPr>
        </a:defPPr>
      </a:lstStyle>
    </a:spDef>
    <a:lnDef>
      <a:spPr bwMode="auto">
        <a:noFill/>
        <a:ln w="12700">
          <a:solidFill>
            <a:schemeClr val="tx1"/>
          </a:solidFill>
          <a:round/>
          <a:headEnd/>
          <a:tailEnd/>
        </a:ln>
      </a:spPr>
      <a:bodyPr/>
      <a:lstStyle/>
    </a:lnDef>
    <a:txDef>
      <a:spPr bwMode="ltGray">
        <a:noFill/>
        <a:ln w="6350">
          <a:noFill/>
          <a:miter lim="800000"/>
          <a:headEnd/>
          <a:tailEnd/>
        </a:ln>
      </a:spPr>
      <a:bodyPr wrap="square" lIns="100913" tIns="50457" rIns="100913" bIns="50457" rtlCol="0" anchor="t" anchorCtr="0">
        <a:spAutoFit/>
      </a:bodyPr>
      <a:lstStyle>
        <a:defPPr eaLnBrk="0" hangingPunct="0">
          <a:defRPr dirty="0" err="1" smtClean="0">
            <a:latin typeface="+mn-lt"/>
          </a:defRPr>
        </a:defPPr>
      </a:lstStyle>
    </a:txDef>
  </a:objectDefaults>
  <a:extraClrSchemeLst/>
  <a:custClrLst>
    <a:custClr name="Deep Blue">
      <a:srgbClr val="1E2A78"/>
    </a:custClr>
    <a:custClr name="Dark Blue">
      <a:srgbClr val="16184E"/>
    </a:custClr>
    <a:custClr name="Bright Blue 100">
      <a:srgbClr val="00A3E0"/>
    </a:custClr>
    <a:custClr name="Vibrant Cyan">
      <a:srgbClr val="00D1FF"/>
    </a:custClr>
    <a:custClr name="Light Blue">
      <a:srgbClr val="ADEBFF"/>
    </a:custClr>
    <a:custClr name="Bright Blue 20">
      <a:srgbClr val="CCEDF9"/>
    </a:custClr>
    <a:custClr name="Bright Blue 10">
      <a:srgbClr val="E1F5FA"/>
    </a:custClr>
    <a:custClr name="Grey">
      <a:srgbClr val="EDF1F7"/>
    </a:custClr>
    <a:custClr name="White">
      <a:srgbClr val="FFFFFF"/>
    </a:custClr>
    <a:custClr name="White">
      <a:srgbClr val="FFFFFF"/>
    </a:custClr>
    <a:custClr name="Turquoise">
      <a:srgbClr val="3BB8B8"/>
    </a:custClr>
    <a:custClr name="Petrol">
      <a:srgbClr val="24778D"/>
    </a:custClr>
    <a:custClr name="Summer Green">
      <a:srgbClr val="25A62D"/>
    </a:custClr>
    <a:custClr name="Spring Green">
      <a:srgbClr val="C9DD03"/>
    </a:custClr>
    <a:custClr name="Autumn Green">
      <a:srgbClr val="A1AC05"/>
    </a:custClr>
    <a:custClr name="Yellow">
      <a:srgbClr val="FFE600"/>
    </a:custClr>
    <a:custClr name="Orange">
      <a:srgbClr val="F28011"/>
    </a:custClr>
    <a:custClr name="Red">
      <a:srgbClr val="E7001D"/>
    </a:custClr>
    <a:custClr name="Night Violet">
      <a:srgbClr val="452061"/>
    </a:custClr>
  </a:custClrLst>
  <a:extLst>
    <a:ext uri="{05A4C25C-085E-4340-85A3-A5531E510DB2}">
      <thm15:themeFamily xmlns:thm15="http://schemas.microsoft.com/office/thememl/2012/main" name="DB-ppt-master-16-9-en-2024-0508.potx" id="{03F4F82C-A993-420A-BE3F-9533B8D296BE}" vid="{F9659FAA-5FD8-4348-BAB2-E491194513AB}"/>
    </a:ext>
  </a:extLst>
</a:theme>
</file>

<file path=ppt/theme/theme2.xml><?xml version="1.0" encoding="utf-8"?>
<a:theme xmlns:a="http://schemas.openxmlformats.org/drawingml/2006/main" name="Deutsche Bank content master 2024 05">
  <a:themeElements>
    <a:clrScheme name="Deutsche Bank 2024 05">
      <a:dk1>
        <a:srgbClr val="000000"/>
      </a:dk1>
      <a:lt1>
        <a:srgbClr val="FFFFFF"/>
      </a:lt1>
      <a:dk2>
        <a:srgbClr val="16184E"/>
      </a:dk2>
      <a:lt2>
        <a:srgbClr val="CCEDF9"/>
      </a:lt2>
      <a:accent1>
        <a:srgbClr val="1E2A78"/>
      </a:accent1>
      <a:accent2>
        <a:srgbClr val="3BB8B8"/>
      </a:accent2>
      <a:accent3>
        <a:srgbClr val="24778D"/>
      </a:accent3>
      <a:accent4>
        <a:srgbClr val="25A62D"/>
      </a:accent4>
      <a:accent5>
        <a:srgbClr val="C9DD03"/>
      </a:accent5>
      <a:accent6>
        <a:srgbClr val="A1AC05"/>
      </a:accent6>
      <a:hlink>
        <a:srgbClr val="00A3E0"/>
      </a:hlink>
      <a:folHlink>
        <a:srgbClr val="00A3E0"/>
      </a:folHlink>
    </a:clrScheme>
    <a:fontScheme name="Deutsche Bank 04.2024">
      <a:majorFont>
        <a:latin typeface="Deutsche Bank Text"/>
        <a:ea typeface="MS PGothic"/>
        <a:cs typeface=""/>
      </a:majorFont>
      <a:minorFont>
        <a:latin typeface="Deutsche Bank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  <a:miter lim="800000"/>
          <a:headEnd/>
          <a:tailEnd/>
        </a:ln>
      </a:spPr>
      <a:bodyPr lIns="100913" tIns="50457" rIns="100913" bIns="50457" rtlCol="0" anchor="ctr">
        <a:noAutofit/>
      </a:bodyPr>
      <a:lstStyle>
        <a:defPPr algn="ctr" defTabSz="963613" eaLnBrk="0" hangingPunct="0">
          <a:tabLst>
            <a:tab pos="1257300" algn="l"/>
          </a:tabLst>
          <a:defRPr dirty="0" err="1" smtClean="0">
            <a:solidFill>
              <a:srgbClr val="FFFFFF"/>
            </a:solidFill>
            <a:latin typeface="+mn-lt"/>
          </a:defRPr>
        </a:defPPr>
      </a:lstStyle>
    </a:spDef>
    <a:lnDef>
      <a:spPr bwMode="auto">
        <a:noFill/>
        <a:ln w="12700">
          <a:solidFill>
            <a:schemeClr val="tx1"/>
          </a:solidFill>
          <a:round/>
          <a:headEnd/>
          <a:tailEnd/>
        </a:ln>
      </a:spPr>
      <a:bodyPr/>
      <a:lstStyle/>
    </a:lnDef>
    <a:txDef>
      <a:spPr bwMode="ltGray">
        <a:noFill/>
        <a:ln w="6350">
          <a:noFill/>
          <a:miter lim="800000"/>
          <a:headEnd/>
          <a:tailEnd/>
        </a:ln>
      </a:spPr>
      <a:bodyPr wrap="square" lIns="100913" tIns="50457" rIns="100913" bIns="50457" rtlCol="0" anchor="t" anchorCtr="0">
        <a:spAutoFit/>
      </a:bodyPr>
      <a:lstStyle>
        <a:defPPr eaLnBrk="0" hangingPunct="0">
          <a:defRPr dirty="0" err="1" smtClean="0">
            <a:latin typeface="+mn-lt"/>
          </a:defRPr>
        </a:defPPr>
      </a:lstStyle>
    </a:txDef>
  </a:objectDefaults>
  <a:extraClrSchemeLst/>
  <a:custClrLst>
    <a:custClr name="Deep Blue">
      <a:srgbClr val="1E2A78"/>
    </a:custClr>
    <a:custClr name="Dark Blue">
      <a:srgbClr val="16184E"/>
    </a:custClr>
    <a:custClr name="Bright Blue 100">
      <a:srgbClr val="00A3E0"/>
    </a:custClr>
    <a:custClr name="Vibrant Cyan">
      <a:srgbClr val="00D1FF"/>
    </a:custClr>
    <a:custClr name="Light Blue">
      <a:srgbClr val="ADEBFF"/>
    </a:custClr>
    <a:custClr name="Bright Blue 20">
      <a:srgbClr val="CCEDF9"/>
    </a:custClr>
    <a:custClr name="Bright Blue 10">
      <a:srgbClr val="E1F5FA"/>
    </a:custClr>
    <a:custClr name="Grey">
      <a:srgbClr val="EDF1F7"/>
    </a:custClr>
    <a:custClr name="White">
      <a:srgbClr val="FFFFFF"/>
    </a:custClr>
    <a:custClr name="White">
      <a:srgbClr val="FFFFFF"/>
    </a:custClr>
    <a:custClr name="Turquoise">
      <a:srgbClr val="3BB8B8"/>
    </a:custClr>
    <a:custClr name="Petrol">
      <a:srgbClr val="24778D"/>
    </a:custClr>
    <a:custClr name="Summer Green">
      <a:srgbClr val="25A62D"/>
    </a:custClr>
    <a:custClr name="Spring Green">
      <a:srgbClr val="C9DD03"/>
    </a:custClr>
    <a:custClr name="Autumn Green">
      <a:srgbClr val="A1AC05"/>
    </a:custClr>
    <a:custClr name="Yellow">
      <a:srgbClr val="FFE600"/>
    </a:custClr>
    <a:custClr name="Orange">
      <a:srgbClr val="F28011"/>
    </a:custClr>
    <a:custClr name="Red">
      <a:srgbClr val="E7001D"/>
    </a:custClr>
    <a:custClr name="Night Violet">
      <a:srgbClr val="452061"/>
    </a:custClr>
  </a:custClrLst>
  <a:extLst>
    <a:ext uri="{05A4C25C-085E-4340-85A3-A5531E510DB2}">
      <thm15:themeFamily xmlns:thm15="http://schemas.microsoft.com/office/thememl/2012/main" name="DB-ppt-master-16-9-en-2024-0508.potx" id="{03F4F82C-A993-420A-BE3F-9533B8D296BE}" vid="{F22E8401-D8BC-4370-AC03-B59A9642005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DB-ppt-master-16-9-en-2024-0508</Template>
  <TotalTime>51</TotalTime>
  <Words>2854</Words>
  <Application>Microsoft Office PowerPoint</Application>
  <PresentationFormat>On-screen Show (16:9)</PresentationFormat>
  <Paragraphs>432</Paragraphs>
  <Slides>63</Slides>
  <Notes>37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63</vt:i4>
      </vt:variant>
    </vt:vector>
  </HeadingPairs>
  <TitlesOfParts>
    <vt:vector size="65" baseType="lpstr">
      <vt:lpstr>Deutsche Bank title master 2024 05</vt:lpstr>
      <vt:lpstr>Deutsche Bank content master 2024 05</vt:lpstr>
      <vt:lpstr>PowerPoint Presentation</vt:lpstr>
      <vt:lpstr>Introduction</vt:lpstr>
      <vt:lpstr>Why not Spring?</vt:lpstr>
      <vt:lpstr>Setting up Java</vt:lpstr>
      <vt:lpstr>Setting up Apache Maven</vt:lpstr>
      <vt:lpstr>Getting SpringBoot CLI</vt:lpstr>
      <vt:lpstr>Installation on Windows</vt:lpstr>
      <vt:lpstr>Add Spring Boot CLI to System PATH</vt:lpstr>
      <vt:lpstr>Post-Installation Steps</vt:lpstr>
      <vt:lpstr>On Your First “Hello World” :)</vt:lpstr>
      <vt:lpstr>Start New Project</vt:lpstr>
      <vt:lpstr>Metadata Fields</vt:lpstr>
      <vt:lpstr>Generating the Project</vt:lpstr>
      <vt:lpstr>The Project Structure</vt:lpstr>
      <vt:lpstr>Importing the Project into an IDE</vt:lpstr>
      <vt:lpstr>IntelliJ IDEA</vt:lpstr>
      <vt:lpstr>Get into first code</vt:lpstr>
      <vt:lpstr>First Code</vt:lpstr>
      <vt:lpstr>PowerPoint Presentation</vt:lpstr>
      <vt:lpstr>Inversion of Control (IoC)</vt:lpstr>
      <vt:lpstr>IoC Example</vt:lpstr>
      <vt:lpstr>Dependency Injection (DI)</vt:lpstr>
      <vt:lpstr>Dependency Injection Example</vt:lpstr>
      <vt:lpstr>Loose Coupling</vt:lpstr>
      <vt:lpstr>Loose Coupling Example</vt:lpstr>
      <vt:lpstr>Tight Coupling</vt:lpstr>
      <vt:lpstr>Tight Coupling Example</vt:lpstr>
      <vt:lpstr>PowerPoint Presentation</vt:lpstr>
      <vt:lpstr>PowerPoint Presentation</vt:lpstr>
      <vt:lpstr>What is Spring Boot Autoconfiguration?</vt:lpstr>
      <vt:lpstr>How Does It Work?</vt:lpstr>
      <vt:lpstr>Example: DataSource Autoconfiguration</vt:lpstr>
      <vt:lpstr>Utilizing Powerful Annotations in Spring Boot</vt:lpstr>
      <vt:lpstr>Understanding @SpringBootApplication</vt:lpstr>
      <vt:lpstr>Breaking Down @SpringBootApplication</vt:lpstr>
      <vt:lpstr>The @Configuration Annotation</vt:lpstr>
      <vt:lpstr>The @Bean Annotation</vt:lpstr>
      <vt:lpstr>PowerPoint Presentation</vt:lpstr>
      <vt:lpstr>What is Maven?</vt:lpstr>
      <vt:lpstr>Maven in Spring Boot</vt:lpstr>
      <vt:lpstr>Understanding pom.xml</vt:lpstr>
      <vt:lpstr>Key Sections in pom.xml </vt:lpstr>
      <vt:lpstr>Managing Dependencies</vt:lpstr>
      <vt:lpstr>Understanding Dependency Scope</vt:lpstr>
      <vt:lpstr>PowerPoint Presentation</vt:lpstr>
      <vt:lpstr>Configuring Logging in Spring Boot</vt:lpstr>
      <vt:lpstr>Example usage of logging </vt:lpstr>
      <vt:lpstr>PowerPoint Presentation</vt:lpstr>
      <vt:lpstr>Setting Up Spring Boot Admin</vt:lpstr>
      <vt:lpstr>Monitoring and Managing</vt:lpstr>
      <vt:lpstr>PowerPoint Presentation</vt:lpstr>
      <vt:lpstr>Setting Up Zipkin Server</vt:lpstr>
      <vt:lpstr>Setting Up Zipkin Server</vt:lpstr>
      <vt:lpstr>Zipkin Dashboard</vt:lpstr>
      <vt:lpstr>PowerPoint Presentation</vt:lpstr>
      <vt:lpstr>Setting Up Swagger</vt:lpstr>
      <vt:lpstr>The 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Cynthia Majhi</dc:creator>
  <cp:keywords/>
  <dc:description/>
  <cp:lastModifiedBy>Cynthia Majhi</cp:lastModifiedBy>
  <cp:revision>19</cp:revision>
  <dcterms:created xsi:type="dcterms:W3CDTF">2024-07-09T08:02:51Z</dcterms:created>
  <dcterms:modified xsi:type="dcterms:W3CDTF">2025-07-07T17:36:37Z</dcterms:modified>
  <cp:category/>
</cp:coreProperties>
</file>