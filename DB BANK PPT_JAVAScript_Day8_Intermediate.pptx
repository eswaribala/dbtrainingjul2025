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autoCompressPictures="0">
  <p:sldMasterIdLst>
    <p:sldMasterId id="2147485431" r:id="rId1"/>
    <p:sldMasterId id="2147485382" r:id="rId2"/>
  </p:sldMasterIdLst>
  <p:notesMasterIdLst>
    <p:notesMasterId r:id="rId37"/>
  </p:notesMasterIdLst>
  <p:handoutMasterIdLst>
    <p:handoutMasterId r:id="rId38"/>
  </p:handoutMasterIdLst>
  <p:sldIdLst>
    <p:sldId id="345" r:id="rId3"/>
    <p:sldId id="305" r:id="rId4"/>
    <p:sldId id="382" r:id="rId5"/>
    <p:sldId id="383" r:id="rId6"/>
    <p:sldId id="385" r:id="rId7"/>
    <p:sldId id="386" r:id="rId8"/>
    <p:sldId id="387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408" r:id="rId30"/>
    <p:sldId id="409" r:id="rId31"/>
    <p:sldId id="410" r:id="rId32"/>
    <p:sldId id="411" r:id="rId33"/>
    <p:sldId id="412" r:id="rId34"/>
    <p:sldId id="413" r:id="rId35"/>
    <p:sldId id="414" r:id="rId36"/>
  </p:sldIdLst>
  <p:sldSz cx="9144000" cy="5143500" type="screen16x9"/>
  <p:notesSz cx="6794500" cy="9906000"/>
  <p:embeddedFontLst>
    <p:embeddedFont>
      <p:font typeface="Deutsche Bank Text" panose="020B0604020202020204" charset="0"/>
      <p:regular r:id="rId39"/>
      <p:italic r:id="rId40"/>
    </p:embeddedFont>
    <p:embeddedFont>
      <p:font typeface="Tahoma" panose="020B0604030504040204" pitchFamily="34" charset="0"/>
      <p:regular r:id="rId41"/>
      <p:bold r:id="rId42"/>
    </p:embeddedFont>
  </p:embeddedFontLst>
  <p:defaultTextStyle>
    <a:defPPr>
      <a:defRPr lang="de-DE"/>
    </a:defPPr>
    <a:lvl1pPr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353" indent="-31320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785" indent="-63719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9218" indent="-961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2650" indent="-1285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5pPr>
    <a:lvl6pPr marL="1555166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6pPr>
    <a:lvl7pPr marL="1866199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7pPr>
    <a:lvl8pPr marL="2177232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8pPr>
    <a:lvl9pPr marL="2488265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431A927E-2276-4F6F-8387-D0A93E22D96C}">
          <p14:sldIdLst>
            <p14:sldId id="345"/>
          </p14:sldIdLst>
        </p14:section>
        <p14:section name="Module 3" id="{5289D40A-7689-42EE-AC89-52242C67160D}">
          <p14:sldIdLst>
            <p14:sldId id="305"/>
            <p14:sldId id="382"/>
            <p14:sldId id="383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</p14:sldIdLst>
        </p14:section>
        <p14:section name="LABS" id="{5E7F9899-28D3-4989-BCFC-58E294C96870}">
          <p14:sldIdLst>
            <p14:sldId id="411"/>
            <p14:sldId id="412"/>
            <p14:sldId id="413"/>
            <p14:sldId id="41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56D"/>
    <a:srgbClr val="18246A"/>
    <a:srgbClr val="1B1D5F"/>
    <a:srgbClr val="202272"/>
    <a:srgbClr val="23257B"/>
    <a:srgbClr val="671E75"/>
    <a:srgbClr val="E1F5FA"/>
    <a:srgbClr val="CCEDF9"/>
    <a:srgbClr val="1E2A78"/>
    <a:srgbClr val="121D6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4" autoAdjust="0"/>
    <p:restoredTop sz="96339" autoAdjust="0"/>
  </p:normalViewPr>
  <p:slideViewPr>
    <p:cSldViewPr snapToGrid="0" snapToObjects="1" showGuides="1">
      <p:cViewPr varScale="1">
        <p:scale>
          <a:sx n="92" d="100"/>
          <a:sy n="92" d="100"/>
        </p:scale>
        <p:origin x="56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15" d="100"/>
          <a:sy n="115" d="100"/>
        </p:scale>
        <p:origin x="5491" y="58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BAC376-ACF6-4037-8F33-4FBF19ACBAFA}" type="datetime1">
              <a:rPr lang="en-US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7/4/2024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938E28-B09B-447E-BCAC-DE51036E3ED3}" type="slidenum">
              <a:rPr lang="en-GB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‹#›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513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43EBB1D3-38BD-4B0D-B98C-370541E46E48}" type="datetime1">
              <a:rPr lang="en-US" smtClean="0"/>
              <a:pPr>
                <a:defRPr/>
              </a:pPr>
              <a:t>7/4/2024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ＭＳ Ｐゴシック" pitchFamily="-106" charset="-128"/>
      </a:defRPr>
    </a:lvl1pPr>
    <a:lvl2pPr marL="3110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2pPr>
    <a:lvl3pPr marL="622066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3pPr>
    <a:lvl4pPr marL="933099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4pPr>
    <a:lvl5pPr marL="12441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788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456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3292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5192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5798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7093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7456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045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785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0019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094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1731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1094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15443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3253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6880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78318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03666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973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7179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2947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34840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7065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74002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1051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75094C-6D1B-DA5D-A98F-A3608A45C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</p:spTree>
    <p:extLst>
      <p:ext uri="{BB962C8B-B14F-4D97-AF65-F5344CB8AC3E}">
        <p14:creationId xmlns:p14="http://schemas.microsoft.com/office/powerpoint/2010/main" val="14373733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07441855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EA4A7D6-1DAA-B051-5AED-3861D270795C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047B53F5-4203-E6BF-38DB-A0516B3987A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6326578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2ED9A7C-65FF-4367-8593-09EFEDC37EE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580BBC9-37EC-89A3-2DEA-0582A4D4FC02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5408619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37039A0-AFF2-091B-FE74-0F0F0481FBA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8C05AF85-84F7-FA11-BB3D-37A3D626CA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1531847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1B0E698-121E-1017-754B-BB3D946E242E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9BC94E3-938A-09B3-5E44-CB93EF59C0C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113873569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;p7">
            <a:extLst>
              <a:ext uri="{FF2B5EF4-FFF2-40B4-BE49-F238E27FC236}">
                <a16:creationId xmlns:a16="http://schemas.microsoft.com/office/drawing/2014/main" id="{672C52A1-3847-B8CF-F905-F2666F2B1032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6E28985-449B-BE87-B1A0-7513213870D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BFECFFB-D440-20ED-B182-56633829A3D0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88140168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ark blu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6484FE55-51FD-EE64-5049-84B77457AF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0264273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dark blu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noFill/>
          <a:ln>
            <a:solidFill>
              <a:srgbClr val="1E2A78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1E2A78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1E2A78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ECA304E-EBE3-4C8E-68E1-5712F2D2D80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rgbClr val="1E2A78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5200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ark blue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CA990533-1AB6-AD8B-9943-917D9C9EEF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35863253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55C03535-6265-42EE-6675-8963596CE341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40000">
                <a:srgbClr val="1E2A78">
                  <a:shade val="67500"/>
                  <a:satMod val="115000"/>
                </a:srgbClr>
              </a:gs>
              <a:gs pos="60000">
                <a:srgbClr val="1A2673"/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Textplatzhalter 28">
            <a:extLst>
              <a:ext uri="{FF2B5EF4-FFF2-40B4-BE49-F238E27FC236}">
                <a16:creationId xmlns:a16="http://schemas.microsoft.com/office/drawing/2014/main" id="{98EFC762-1F5A-5D2E-0A3E-4D9CA051CE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7009556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c">
    <p:bg>
      <p:bgPr>
        <a:solidFill>
          <a:srgbClr val="1E2A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478F2925-04D1-4766-6CA4-84070AEF58B6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9256D"/>
              </a:gs>
            </a:gsLst>
            <a:lin ang="5400000" scaled="0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2D154478-B3C3-CC94-6883-38EF02BC6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046412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BB54C801-FE4C-70B2-6F05-BCDA55557D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58351674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4509FB4-19F7-0C11-F4C6-EC7612DD28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28">
            <a:extLst>
              <a:ext uri="{FF2B5EF4-FFF2-40B4-BE49-F238E27FC236}">
                <a16:creationId xmlns:a16="http://schemas.microsoft.com/office/drawing/2014/main" id="{B42C112B-6D63-7D0F-AE00-6B8EC125D9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8661071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9311" cy="3622675"/>
          </a:xfrm>
        </p:spPr>
        <p:txBody>
          <a:bodyPr numCol="2" spcCol="273600"/>
          <a:lstStyle>
            <a:lvl1pPr marL="269875" indent="-269875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38163" indent="-269875">
              <a:lnSpc>
                <a:spcPct val="100000"/>
              </a:lnSpc>
              <a:buFont typeface="+mj-lt"/>
              <a:buNone/>
              <a:tabLst>
                <a:tab pos="538163" algn="l"/>
                <a:tab pos="7175500" algn="r"/>
              </a:tabLst>
              <a:defRPr sz="12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58218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400" y="1015199"/>
            <a:ext cx="8467463" cy="3623475"/>
          </a:xfrm>
        </p:spPr>
        <p:txBody>
          <a:bodyPr numCol="2" spcCol="273600"/>
          <a:lstStyle>
            <a:lvl1pPr marL="252000" indent="-252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04000" indent="-2520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67107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7725" cy="3622675"/>
          </a:xfrm>
        </p:spPr>
        <p:txBody>
          <a:bodyPr numCol="2" spcCol="273600"/>
          <a:lstStyle>
            <a:lvl1pPr marL="179388" indent="-179388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00"/>
            </a:lvl1pPr>
            <a:lvl2pPr marL="446088" indent="-2667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87921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8467725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725823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4144961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1692" y="1015999"/>
            <a:ext cx="41457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476673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6000"/>
            <a:ext cx="4144961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8" y="1016000"/>
            <a:ext cx="4144962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84CC4C7D-7F5D-1ADB-A30E-CEAD08A0BFE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8444" y="2913063"/>
            <a:ext cx="4144961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5C26C813-FC2A-E649-F811-FFA8D670A8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62794" y="2913063"/>
            <a:ext cx="4144962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22893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7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orient="horz" pos="18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7" y="1015999"/>
            <a:ext cx="2685033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5CA372FA-9895-0C5F-1EC7-D1A032F9AA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0967" y="1018599"/>
            <a:ext cx="27394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883BB2EE-32A9-3A08-7709-8604193B1BD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9813" y="1015998"/>
            <a:ext cx="2686049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15490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pos="1905" userDrawn="1">
          <p15:clr>
            <a:srgbClr val="FBAE40"/>
          </p15:clr>
        </p15:guide>
        <p15:guide id="5" pos="2018" userDrawn="1">
          <p15:clr>
            <a:srgbClr val="FBAE40"/>
          </p15:clr>
        </p15:guide>
        <p15:guide id="6" pos="3742" userDrawn="1">
          <p15:clr>
            <a:srgbClr val="FBAE40"/>
          </p15:clr>
        </p15:guide>
        <p15:guide id="7" pos="385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7" name="Inhaltsplatzhalter 13">
            <a:extLst>
              <a:ext uri="{FF2B5EF4-FFF2-40B4-BE49-F238E27FC236}">
                <a16:creationId xmlns:a16="http://schemas.microsoft.com/office/drawing/2014/main" id="{B30ECE1C-C670-6B68-2F14-86A63985F7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400" y="1016000"/>
            <a:ext cx="2684462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EE9A095C-F7B4-ACB2-F2F9-076925C67FC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4474" y="1016000"/>
            <a:ext cx="2736850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353DE1C3-A7F2-83E9-A120-4FE2A1FA9A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7512" y="1016000"/>
            <a:ext cx="2680837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" name="Inhaltsplatzhalter 13">
            <a:extLst>
              <a:ext uri="{FF2B5EF4-FFF2-40B4-BE49-F238E27FC236}">
                <a16:creationId xmlns:a16="http://schemas.microsoft.com/office/drawing/2014/main" id="{E47B2B28-13D4-5795-3ABD-B70AF78F25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726" y="2909888"/>
            <a:ext cx="2684462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0779CD6A-02D9-4FC6-91F7-5992E2F89E9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03575" y="2909888"/>
            <a:ext cx="2736850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62C094EA-31F1-49C8-6434-500F154613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26613" y="2909888"/>
            <a:ext cx="2680837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89673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orient="horz" pos="1833" userDrawn="1">
          <p15:clr>
            <a:srgbClr val="FBAE40"/>
          </p15:clr>
        </p15:guide>
        <p15:guide id="5" pos="1905" userDrawn="1">
          <p15:clr>
            <a:srgbClr val="FBAE40"/>
          </p15:clr>
        </p15:guide>
        <p15:guide id="6" pos="2018" userDrawn="1">
          <p15:clr>
            <a:srgbClr val="FBAE40"/>
          </p15:clr>
        </p15:guide>
        <p15:guide id="7" pos="3742" userDrawn="1">
          <p15:clr>
            <a:srgbClr val="FBAE40"/>
          </p15:clr>
        </p15:guide>
        <p15:guide id="8" pos="385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015999"/>
            <a:ext cx="4144965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0900" y="1015999"/>
            <a:ext cx="4146550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40309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4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857D3E1-ED2A-BFB9-AD11-2FCA92D5B0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9F643515-DC98-8830-840D-88F0A16EF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0896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5100931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8674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09277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  <a:lvl2pPr>
              <a:defRPr sz="1000">
                <a:solidFill>
                  <a:srgbClr val="8794A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800">
                <a:solidFill>
                  <a:schemeClr val="tx1"/>
                </a:solidFill>
              </a:defRPr>
            </a:lvl4pPr>
            <a:lvl5pPr>
              <a:defRPr>
                <a:solidFill>
                  <a:srgbClr val="8794A1"/>
                </a:solidFill>
              </a:defRPr>
            </a:lvl5pPr>
          </a:lstStyle>
          <a:p>
            <a:pPr lvl="0"/>
            <a:r>
              <a:rPr lang="de-DE" dirty="0"/>
              <a:t>Disclaimer </a:t>
            </a:r>
            <a:r>
              <a:rPr lang="de-DE" dirty="0" err="1"/>
              <a:t>text</a:t>
            </a:r>
            <a:endParaRPr lang="de-DE" dirty="0"/>
          </a:p>
          <a:p>
            <a:pPr lvl="2"/>
            <a:r>
              <a:rPr lang="de-DE" dirty="0"/>
              <a:t>Second Level</a:t>
            </a:r>
          </a:p>
          <a:p>
            <a:pPr lvl="3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03837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ntent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0" name="Grafik 9">
            <a:extLst>
              <a:ext uri="{FF2B5EF4-FFF2-40B4-BE49-F238E27FC236}">
                <a16:creationId xmlns:a16="http://schemas.microsoft.com/office/drawing/2014/main" id="{0B884D4E-2E62-A2AC-08DE-431DAE758A58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200">
                <a:solidFill>
                  <a:srgbClr val="00A3E0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E5C55C-FC6F-43BD-470C-E7A30DD15F0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81264078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88" y="1120459"/>
            <a:ext cx="2676862" cy="14512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5C3C28A-B976-B1E4-63A7-9E463F950C8F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80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69" r:id="rId1"/>
    <p:sldLayoutId id="2147485468" r:id="rId2"/>
    <p:sldLayoutId id="2147485455" r:id="rId3"/>
    <p:sldLayoutId id="2147485471" r:id="rId4"/>
    <p:sldLayoutId id="2147485472" r:id="rId5"/>
    <p:sldLayoutId id="2147485475" r:id="rId6"/>
    <p:sldLayoutId id="2147485474" r:id="rId7"/>
    <p:sldLayoutId id="2147485449" r:id="rId8"/>
    <p:sldLayoutId id="2147485476" r:id="rId9"/>
    <p:sldLayoutId id="2147485457" r:id="rId10"/>
    <p:sldLayoutId id="2147485464" r:id="rId11"/>
    <p:sldLayoutId id="2147485465" r:id="rId12"/>
    <p:sldLayoutId id="2147485460" r:id="rId13"/>
    <p:sldLayoutId id="2147485470" r:id="rId14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Display" panose="020F0403020203030304" pitchFamily="34" charset="0"/>
          <a:cs typeface="Deutsche Bank Display" panose="020F04030202030303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bg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bg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476" userDrawn="1">
          <p15:clr>
            <a:srgbClr val="F26B43"/>
          </p15:clr>
        </p15:guide>
        <p15:guide id="12" pos="283" userDrawn="1">
          <p15:clr>
            <a:srgbClr val="F26B43"/>
          </p15:clr>
        </p15:guide>
        <p15:guide id="13" orient="horz" pos="283" userDrawn="1">
          <p15:clr>
            <a:srgbClr val="F26B43"/>
          </p15:clr>
        </p15:guide>
        <p15:guide id="17" orient="horz" pos="565" userDrawn="1">
          <p15:clr>
            <a:srgbClr val="F26B43"/>
          </p15:clr>
        </p15:guide>
        <p15:guide id="18" orient="horz" pos="2958" userDrawn="1">
          <p15:clr>
            <a:srgbClr val="F26B43"/>
          </p15:clr>
        </p15:guide>
        <p15:guide id="19" orient="horz" pos="2822" userDrawn="1">
          <p15:clr>
            <a:srgbClr val="F26B43"/>
          </p15:clr>
        </p15:guide>
        <p15:guide id="22" pos="5050" userDrawn="1">
          <p15:clr>
            <a:srgbClr val="F26B43"/>
          </p15:clr>
        </p15:guide>
        <p15:guide id="23" orient="horz" pos="707" userDrawn="1">
          <p15:clr>
            <a:srgbClr val="F26B43"/>
          </p15:clr>
        </p15:guide>
        <p15:guide id="24" pos="5193" userDrawn="1">
          <p15:clr>
            <a:srgbClr val="F26B43"/>
          </p15:clr>
        </p15:guide>
        <p15:guide id="27" pos="425" userDrawn="1">
          <p15:clr>
            <a:srgbClr val="F26B43"/>
          </p15:clr>
        </p15:guide>
        <p15:guide id="28" orient="horz" pos="16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9FD7A-E47D-464F-908E-0A898F099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38" y="1015199"/>
            <a:ext cx="8467725" cy="3623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429F3B1B-8104-4CBB-A285-B4B3ADCC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EDBBC0-08FC-4FF5-93D8-319C27CD84C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A4B362-19DC-4728-8691-B4DF4C9AA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2" name="Grafik 9">
            <a:extLst>
              <a:ext uri="{FF2B5EF4-FFF2-40B4-BE49-F238E27FC236}">
                <a16:creationId xmlns:a16="http://schemas.microsoft.com/office/drawing/2014/main" id="{B29001C1-63DA-2119-A100-853E4B7B6C6E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rgbClr val="1E2A7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9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423" r:id="rId2"/>
    <p:sldLayoutId id="2147485424" r:id="rId3"/>
    <p:sldLayoutId id="2147485411" r:id="rId4"/>
    <p:sldLayoutId id="2147485422" r:id="rId5"/>
    <p:sldLayoutId id="2147485425" r:id="rId6"/>
    <p:sldLayoutId id="2147485426" r:id="rId7"/>
    <p:sldLayoutId id="2147485427" r:id="rId8"/>
    <p:sldLayoutId id="2147485462" r:id="rId9"/>
    <p:sldLayoutId id="2147485463" r:id="rId10"/>
    <p:sldLayoutId id="2147485428" r:id="rId11"/>
    <p:sldLayoutId id="2147485429" r:id="rId12"/>
    <p:sldLayoutId id="2147485430" r:id="rId13"/>
    <p:sldLayoutId id="2147485466" r:id="rId14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Text" panose="020B0503020202030204" pitchFamily="34" charset="0"/>
          <a:cs typeface="Deutsche Bank Text" panose="020B050302020203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tx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tx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548">
          <p15:clr>
            <a:srgbClr val="F26B43"/>
          </p15:clr>
        </p15:guide>
        <p15:guide id="12" pos="213">
          <p15:clr>
            <a:srgbClr val="F26B43"/>
          </p15:clr>
        </p15:guide>
        <p15:guide id="13" orient="horz" pos="211">
          <p15:clr>
            <a:srgbClr val="F26B43"/>
          </p15:clr>
        </p15:guide>
        <p15:guide id="17" orient="horz" pos="427">
          <p15:clr>
            <a:srgbClr val="F26B43"/>
          </p15:clr>
        </p15:guide>
        <p15:guide id="18" orient="horz" pos="3028">
          <p15:clr>
            <a:srgbClr val="F26B43"/>
          </p15:clr>
        </p15:guide>
        <p15:guide id="19" orient="horz" pos="2599">
          <p15:clr>
            <a:srgbClr val="F26B43"/>
          </p15:clr>
        </p15:guide>
        <p15:guide id="21" orient="horz" pos="2813">
          <p15:clr>
            <a:srgbClr val="F26B43"/>
          </p15:clr>
        </p15:guide>
        <p15:guide id="22" pos="5332">
          <p15:clr>
            <a:srgbClr val="F26B43"/>
          </p15:clr>
        </p15:guide>
        <p15:guide id="23" orient="horz" pos="640">
          <p15:clr>
            <a:srgbClr val="F26B43"/>
          </p15:clr>
        </p15:guide>
        <p15:guide id="24" pos="5119">
          <p15:clr>
            <a:srgbClr val="F26B43"/>
          </p15:clr>
        </p15:guide>
        <p15:guide id="25" orient="horz" pos="1720">
          <p15:clr>
            <a:srgbClr val="F26B43"/>
          </p15:clr>
        </p15:guide>
        <p15:guide id="26" pos="425">
          <p15:clr>
            <a:srgbClr val="F26B43"/>
          </p15:clr>
        </p15:guide>
        <p15:guide id="27" pos="639">
          <p15:clr>
            <a:srgbClr val="F26B43"/>
          </p15:clr>
        </p15:guide>
        <p15:guide id="28" orient="horz" pos="29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0CF02-3B46-4AC8-A1D7-3EE3D59D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Introduction to JavaScript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AE81D8-1F01-456C-B7E9-0E09995C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4D4890-D5F9-46D6-8590-FEE139B99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7" y="2062404"/>
            <a:ext cx="7342187" cy="872164"/>
          </a:xfrm>
        </p:spPr>
        <p:txBody>
          <a:bodyPr/>
          <a:lstStyle/>
          <a:p>
            <a:r>
              <a:rPr lang="en-GB" dirty="0"/>
              <a:t>Day 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9BCC54-58D2-1039-62CB-BE5C4450FB58}"/>
              </a:ext>
            </a:extLst>
          </p:cNvPr>
          <p:cNvSpPr txBox="1"/>
          <p:nvPr/>
        </p:nvSpPr>
        <p:spPr>
          <a:xfrm>
            <a:off x="7531101" y="3201535"/>
            <a:ext cx="1612899" cy="461665"/>
          </a:xfrm>
          <a:prstGeom prst="rect">
            <a:avLst/>
          </a:prstGeom>
          <a:solidFill>
            <a:srgbClr val="FF0027"/>
          </a:solidFill>
          <a:ln>
            <a:solidFill>
              <a:srgbClr val="FF0027"/>
            </a:solidFill>
          </a:ln>
        </p:spPr>
        <p:txBody>
          <a:bodyPr wrap="square">
            <a:spAutoFit/>
          </a:bodyPr>
          <a:lstStyle/>
          <a:p>
            <a:r>
              <a:rPr lang="en-GB" sz="600" dirty="0">
                <a:solidFill>
                  <a:schemeClr val="bg1"/>
                </a:solidFill>
              </a:rPr>
              <a:t>PPT-Master </a:t>
            </a:r>
            <a:r>
              <a:rPr lang="en-GB" sz="600">
                <a:solidFill>
                  <a:schemeClr val="bg1"/>
                </a:solidFill>
              </a:rPr>
              <a:t>Version 01</a:t>
            </a:r>
            <a:r>
              <a:rPr lang="en-GB" sz="600" dirty="0">
                <a:solidFill>
                  <a:schemeClr val="bg1"/>
                </a:solidFill>
              </a:rPr>
              <a:t>. There will be an extensive update with the new Deutsche Bank font and sample charts at the end of August 2024.</a:t>
            </a:r>
          </a:p>
        </p:txBody>
      </p:sp>
    </p:spTree>
    <p:extLst>
      <p:ext uri="{BB962C8B-B14F-4D97-AF65-F5344CB8AC3E}">
        <p14:creationId xmlns:p14="http://schemas.microsoft.com/office/powerpoint/2010/main" val="4039500496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de-DE" sz="1600" noProof="0" dirty="0"/>
              <a:t>What’s a Scripting Language?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Language used to write programs that compute inputs to another language processor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One language embedded in another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Embedded JavaScript computes HTML input to the browser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Shell scripts compute commands executed by the shell</a:t>
            </a:r>
          </a:p>
          <a:p>
            <a:pPr>
              <a:lnSpc>
                <a:spcPct val="150000"/>
              </a:lnSpc>
            </a:pPr>
            <a:r>
              <a:rPr lang="en-US" dirty="0"/>
              <a:t>Common characteristics of scripting languages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String processing – since commands often strings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Simple program structure, define things “on the fly”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Flexibility preferred over efficiency, safety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Is lack of safety a good thing? (Example: JavaScript used for Web applications…)</a:t>
            </a:r>
          </a:p>
        </p:txBody>
      </p:sp>
    </p:spTree>
    <p:extLst>
      <p:ext uri="{BB962C8B-B14F-4D97-AF65-F5344CB8AC3E}">
        <p14:creationId xmlns:p14="http://schemas.microsoft.com/office/powerpoint/2010/main" val="364450273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D81541-B538-D9D0-0E22-5550B3F9A6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“Active” web pages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Web 2.0</a:t>
            </a:r>
          </a:p>
          <a:p>
            <a:pPr lvl="4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AJAX, huge number of Web-based applications</a:t>
            </a:r>
          </a:p>
          <a:p>
            <a:pPr>
              <a:lnSpc>
                <a:spcPct val="150000"/>
              </a:lnSpc>
            </a:pPr>
            <a:r>
              <a:rPr lang="en-US" dirty="0"/>
              <a:t>Some interesting and unusual features</a:t>
            </a:r>
          </a:p>
          <a:p>
            <a:pPr lvl="4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First-class functions                              - interesting</a:t>
            </a:r>
          </a:p>
          <a:p>
            <a:pPr lvl="4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Objects without classes                         - slightly unusual</a:t>
            </a:r>
          </a:p>
          <a:p>
            <a:pPr lvl="4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Powerful modification capabilities           - very unusual</a:t>
            </a:r>
          </a:p>
          <a:p>
            <a:pPr lvl="4">
              <a:lnSpc>
                <a:spcPct val="150000"/>
              </a:lnSpc>
            </a:pPr>
            <a:r>
              <a:rPr lang="en-US" dirty="0"/>
              <a:t>Add new method to object, redefine prototype, …</a:t>
            </a:r>
          </a:p>
          <a:p>
            <a:pPr>
              <a:lnSpc>
                <a:spcPct val="150000"/>
              </a:lnSpc>
            </a:pPr>
            <a:r>
              <a:rPr lang="en-US" dirty="0"/>
              <a:t>Many security and correctness issues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“The world’s most misunderstood prog. language”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C07ED8-1C67-9764-070A-97855F41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590938"/>
            <a:ext cx="7804467" cy="357712"/>
          </a:xfrm>
        </p:spPr>
        <p:txBody>
          <a:bodyPr/>
          <a:lstStyle/>
          <a:p>
            <a:r>
              <a:rPr lang="en-US" sz="1600" b="1" dirty="0"/>
              <a:t>Why JavaScript?</a:t>
            </a:r>
          </a:p>
        </p:txBody>
      </p:sp>
    </p:spTree>
    <p:extLst>
      <p:ext uri="{BB962C8B-B14F-4D97-AF65-F5344CB8AC3E}">
        <p14:creationId xmlns:p14="http://schemas.microsoft.com/office/powerpoint/2010/main" val="1766078114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B56496-90F5-9698-50E4-41747605BAB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Developed by Brendan </a:t>
            </a:r>
            <a:r>
              <a:rPr lang="en-US" altLang="en-US" dirty="0" err="1"/>
              <a:t>Eich</a:t>
            </a:r>
            <a:r>
              <a:rPr lang="en-US" altLang="en-US" dirty="0"/>
              <a:t> at Netscape 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Scripting language for Navigator 2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Later standardized for browser compatibility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ECMAScript Edition 3 (aka JavaScript 1.5)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Related to Java in name only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“JavaScript is to Java as carpet is to car”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Name was part of a marketing deal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Various implementations available</a:t>
            </a:r>
          </a:p>
          <a:p>
            <a:pPr lvl="2">
              <a:lnSpc>
                <a:spcPct val="150000"/>
              </a:lnSpc>
            </a:pPr>
            <a:r>
              <a:rPr lang="en-US" altLang="en-US" dirty="0" err="1"/>
              <a:t>SpiderMonkey</a:t>
            </a:r>
            <a:r>
              <a:rPr lang="en-US" altLang="en-US" dirty="0"/>
              <a:t> C implementation (from Mozilla)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Rhino Java implementation (also from Mozilla)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D7C242-367A-92BC-6B60-0AE4FC13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497945"/>
            <a:ext cx="7804467" cy="357712"/>
          </a:xfrm>
        </p:spPr>
        <p:txBody>
          <a:bodyPr/>
          <a:lstStyle/>
          <a:p>
            <a:r>
              <a:rPr lang="en-US" sz="1600" dirty="0"/>
              <a:t>JavaScript History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19677326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de-DE" sz="1600" noProof="0" dirty="0"/>
              <a:t>Motivation for JavaScript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Netscape, 1995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&gt; 90% browser market share</a:t>
            </a:r>
          </a:p>
          <a:p>
            <a:pPr lvl="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“I hacked the JS prototype in ~1 week in May and it showed! Mistakes were frozen early. Rest of year spent embedding in browser”         	-- Brendan </a:t>
            </a:r>
            <a:r>
              <a:rPr lang="en-US" dirty="0" err="1"/>
              <a:t>Eich</a:t>
            </a:r>
            <a:r>
              <a:rPr lang="en-US" dirty="0"/>
              <a:t>, ICFP talk, 2006</a:t>
            </a:r>
          </a:p>
          <a:p>
            <a:pPr>
              <a:lnSpc>
                <a:spcPct val="150000"/>
              </a:lnSpc>
            </a:pPr>
            <a:r>
              <a:rPr lang="en-US" dirty="0"/>
              <a:t>Design goals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Make it easy to copy/paste snippets of code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Tolerate “minor” errors (missing semicolons)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Simplified onclick, </a:t>
            </a:r>
            <a:r>
              <a:rPr lang="en-US" dirty="0" err="1"/>
              <a:t>onmousedown</a:t>
            </a:r>
            <a:r>
              <a:rPr lang="en-US" dirty="0"/>
              <a:t>, etc., event handling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Pick a few hard-working, powerful primitives</a:t>
            </a:r>
          </a:p>
          <a:p>
            <a:pPr lvl="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First-class functions, objects everywhere, prototype-based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Leave all else out!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1F5E399C-E5B5-339F-63B0-1D1463A7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185" y="1924308"/>
            <a:ext cx="869488" cy="1096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505941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Common Uses of JavaScript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Form validation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Page embellishments and special effects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Navigation systems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Basic math calculations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Dynamic content manipulation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Sample applications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Dashboard widgets in Mac OS X, Google Maps, Philips universal remotes, </a:t>
            </a:r>
            <a:r>
              <a:rPr lang="en-US" dirty="0" err="1"/>
              <a:t>Writely</a:t>
            </a:r>
            <a:r>
              <a:rPr lang="en-US" dirty="0"/>
              <a:t> word processor, hundreds of others…</a:t>
            </a:r>
          </a:p>
        </p:txBody>
      </p:sp>
    </p:spTree>
    <p:extLst>
      <p:ext uri="{BB962C8B-B14F-4D97-AF65-F5344CB8AC3E}">
        <p14:creationId xmlns:p14="http://schemas.microsoft.com/office/powerpoint/2010/main" val="349090895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18B51-3C2B-575F-747A-A8FCA0BF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6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427E82-038A-1689-771C-2BBE36ECB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575074"/>
            <a:ext cx="7804467" cy="357712"/>
          </a:xfrm>
        </p:spPr>
        <p:txBody>
          <a:bodyPr/>
          <a:lstStyle/>
          <a:p>
            <a:r>
              <a:rPr lang="en-US" altLang="en-US" sz="1600" dirty="0"/>
              <a:t>Example 1: Add Two Numbers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F393F-118B-667B-E393-919870694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C2470-A8D8-0785-1C1C-23DBCD6E4A15}"/>
              </a:ext>
            </a:extLst>
          </p:cNvPr>
          <p:cNvSpPr/>
          <p:nvPr/>
        </p:nvSpPr>
        <p:spPr bwMode="auto">
          <a:xfrm>
            <a:off x="572829" y="1098206"/>
            <a:ext cx="5000068" cy="34702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E0362-EB1B-6E59-5EC9-890886E708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212" y="1192427"/>
            <a:ext cx="5488160" cy="1790931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&lt;html&gt;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…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&lt;p&gt;  … &lt;/p&gt;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&lt;script&gt;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      </a:t>
            </a:r>
            <a:r>
              <a:rPr lang="en-US" altLang="en-US" sz="1200" dirty="0"/>
              <a:t>var num1, num2, sum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num1 = prompt("Enter first number")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num2 = prompt("Enter second number")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sum = </a:t>
            </a:r>
            <a:r>
              <a:rPr lang="en-US" altLang="en-US" sz="1200" dirty="0" err="1"/>
              <a:t>parseInt</a:t>
            </a:r>
            <a:r>
              <a:rPr lang="en-US" altLang="en-US" sz="1200" dirty="0"/>
              <a:t>(num1) + </a:t>
            </a:r>
            <a:r>
              <a:rPr lang="en-US" altLang="en-US" sz="1200" dirty="0" err="1"/>
              <a:t>parseInt</a:t>
            </a:r>
            <a:r>
              <a:rPr lang="en-US" altLang="en-US" sz="1200" dirty="0"/>
              <a:t>(num2)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alert("Sum = " + sum)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&lt;/script&gt;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…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&lt;/html&gt;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382252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18B51-3C2B-575F-747A-A8FCA0BF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7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427E82-038A-1689-771C-2BBE36ECB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575074"/>
            <a:ext cx="7804467" cy="357712"/>
          </a:xfrm>
        </p:spPr>
        <p:txBody>
          <a:bodyPr/>
          <a:lstStyle/>
          <a:p>
            <a:r>
              <a:rPr lang="en-US" altLang="en-US" sz="1600" dirty="0"/>
              <a:t>Example 2: Browser Events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F393F-118B-667B-E393-919870694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C2470-A8D8-0785-1C1C-23DBCD6E4A15}"/>
              </a:ext>
            </a:extLst>
          </p:cNvPr>
          <p:cNvSpPr/>
          <p:nvPr/>
        </p:nvSpPr>
        <p:spPr bwMode="auto">
          <a:xfrm>
            <a:off x="572829" y="1098206"/>
            <a:ext cx="5000068" cy="34702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E0362-EB1B-6E59-5EC9-890886E708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212" y="1192427"/>
            <a:ext cx="5488160" cy="1790931"/>
          </a:xfrm>
        </p:spPr>
        <p:txBody>
          <a:bodyPr/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&lt;script type="text/JavaScript"&gt;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function </a:t>
            </a:r>
            <a:r>
              <a:rPr lang="en-US" altLang="en-US" sz="1200" dirty="0" err="1"/>
              <a:t>whichButton</a:t>
            </a:r>
            <a:r>
              <a:rPr lang="en-US" altLang="en-US" sz="1200" dirty="0"/>
              <a:t>(event) {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if (</a:t>
            </a:r>
            <a:r>
              <a:rPr lang="en-US" altLang="en-US" sz="1200" dirty="0" err="1"/>
              <a:t>event.button</a:t>
            </a:r>
            <a:r>
              <a:rPr lang="en-US" altLang="en-US" sz="1200" dirty="0"/>
              <a:t>==1) {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       alert("You clicked the left mouse button!") }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    </a:t>
            </a:r>
            <a:r>
              <a:rPr lang="en-US" altLang="en-US" sz="1200" dirty="0"/>
              <a:t>else {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         alert("You clicked the right mouse button!")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     }}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&lt;/script&gt;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…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&lt;body </a:t>
            </a:r>
            <a:r>
              <a:rPr lang="en-US" altLang="en-US" sz="1200" dirty="0" err="1"/>
              <a:t>onmousedown</a:t>
            </a:r>
            <a:r>
              <a:rPr lang="en-US" altLang="en-US" sz="1200" dirty="0"/>
              <a:t>="</a:t>
            </a:r>
            <a:r>
              <a:rPr lang="en-US" altLang="en-US" sz="1200" dirty="0" err="1"/>
              <a:t>whichButton</a:t>
            </a:r>
            <a:r>
              <a:rPr lang="en-US" altLang="en-US" sz="1200" dirty="0"/>
              <a:t>(event)"&gt;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…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1200" dirty="0"/>
              <a:t>&lt;/body&gt;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DCD46D8-92BC-499C-7939-C526442DE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251" y="3778814"/>
            <a:ext cx="2594920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lg" len="med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lang="en-US" sz="1200" dirty="0">
                <a:solidFill>
                  <a:srgbClr val="00A3E0"/>
                </a:solidFill>
                <a:latin typeface="+mn-lt"/>
              </a:rPr>
              <a:t>Other events: </a:t>
            </a:r>
            <a:r>
              <a:rPr lang="en-US" sz="1200" dirty="0" err="1">
                <a:solidFill>
                  <a:srgbClr val="00A3E0"/>
                </a:solidFill>
                <a:latin typeface="+mn-lt"/>
              </a:rPr>
              <a:t>onLoad</a:t>
            </a:r>
            <a:r>
              <a:rPr lang="en-US" sz="1200" dirty="0">
                <a:solidFill>
                  <a:srgbClr val="00A3E0"/>
                </a:solidFill>
                <a:latin typeface="+mn-lt"/>
              </a:rPr>
              <a:t>, </a:t>
            </a:r>
            <a:r>
              <a:rPr lang="en-US" sz="1200" dirty="0" err="1">
                <a:solidFill>
                  <a:srgbClr val="00A3E0"/>
                </a:solidFill>
                <a:latin typeface="+mn-lt"/>
              </a:rPr>
              <a:t>onMouseMove</a:t>
            </a:r>
            <a:r>
              <a:rPr lang="en-US" sz="1200" dirty="0">
                <a:solidFill>
                  <a:srgbClr val="00A3E0"/>
                </a:solidFill>
                <a:latin typeface="+mn-lt"/>
              </a:rPr>
              <a:t>, </a:t>
            </a:r>
            <a:r>
              <a:rPr lang="en-US" sz="1200" dirty="0" err="1">
                <a:solidFill>
                  <a:srgbClr val="00A3E0"/>
                </a:solidFill>
                <a:latin typeface="+mn-lt"/>
              </a:rPr>
              <a:t>onKeyPress</a:t>
            </a:r>
            <a:r>
              <a:rPr lang="en-US" sz="1200" dirty="0">
                <a:solidFill>
                  <a:srgbClr val="00A3E0"/>
                </a:solidFill>
                <a:latin typeface="+mn-lt"/>
              </a:rPr>
              <a:t>, </a:t>
            </a:r>
            <a:r>
              <a:rPr lang="en-US" sz="1200" dirty="0" err="1">
                <a:solidFill>
                  <a:srgbClr val="00A3E0"/>
                </a:solidFill>
                <a:latin typeface="+mn-lt"/>
              </a:rPr>
              <a:t>onUnLoad</a:t>
            </a:r>
            <a:endParaRPr lang="en-US" sz="1200" dirty="0">
              <a:solidFill>
                <a:srgbClr val="00A3E0"/>
              </a:solidFill>
              <a:latin typeface="+mn-lt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7BDAAF2F-5833-4162-FF72-2B58468D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251" y="1162601"/>
            <a:ext cx="1977081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lg" len="med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 dirty="0">
                <a:solidFill>
                  <a:srgbClr val="00A3E0"/>
                </a:solidFill>
                <a:latin typeface="+mn-lt"/>
              </a:rPr>
              <a:t>Mouse event causes  page-defined function to be called </a:t>
            </a:r>
          </a:p>
        </p:txBody>
      </p:sp>
    </p:spTree>
    <p:extLst>
      <p:ext uri="{BB962C8B-B14F-4D97-AF65-F5344CB8AC3E}">
        <p14:creationId xmlns:p14="http://schemas.microsoft.com/office/powerpoint/2010/main" val="1318831393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18B51-3C2B-575F-747A-A8FCA0BF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8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427E82-038A-1689-771C-2BBE36ECB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575074"/>
            <a:ext cx="7804467" cy="357712"/>
          </a:xfrm>
        </p:spPr>
        <p:txBody>
          <a:bodyPr/>
          <a:lstStyle/>
          <a:p>
            <a:r>
              <a:rPr lang="en-US" altLang="en-US" sz="1600" dirty="0"/>
              <a:t>Example 3: Page Manipulation</a:t>
            </a: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F393F-118B-667B-E393-919870694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E0362-EB1B-6E59-5EC9-890886E708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091" y="1002942"/>
            <a:ext cx="5488160" cy="1790931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Some possibilities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createElement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elementName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createTextNode</a:t>
            </a:r>
            <a:r>
              <a:rPr lang="en-US" dirty="0">
                <a:solidFill>
                  <a:schemeClr val="bg1"/>
                </a:solidFill>
              </a:rPr>
              <a:t>(text)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appendChild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newChild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removeChild</a:t>
            </a:r>
            <a:r>
              <a:rPr lang="en-US" dirty="0">
                <a:solidFill>
                  <a:schemeClr val="bg1"/>
                </a:solidFill>
              </a:rPr>
              <a:t>(node)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Example: add a new list item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DCD46D8-92BC-499C-7939-C526442DE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005" y="2935663"/>
            <a:ext cx="3061751" cy="1168333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lg" len="med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  <a:defRPr/>
            </a:pPr>
            <a:r>
              <a:rPr lang="en-US" sz="1200" dirty="0">
                <a:solidFill>
                  <a:srgbClr val="00A3E0"/>
                </a:solidFill>
                <a:latin typeface="+mn-lt"/>
              </a:rPr>
              <a:t>This uses the browser Document Object Model (DOM). We will focus on JavaScript as a language, not its use in the browser.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62C6495-CA08-A5AF-BAE2-6B72C5AF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12" y="2840360"/>
            <a:ext cx="3391260" cy="144595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kumimoji="1"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200" dirty="0">
                <a:solidFill>
                  <a:schemeClr val="bg1"/>
                </a:solidFill>
              </a:rPr>
              <a:t>var list = </a:t>
            </a:r>
            <a:r>
              <a:rPr lang="en-US" altLang="en-US" sz="1200" dirty="0" err="1">
                <a:solidFill>
                  <a:schemeClr val="bg1"/>
                </a:solidFill>
              </a:rPr>
              <a:t>document.getElementById</a:t>
            </a:r>
            <a:r>
              <a:rPr lang="en-US" altLang="en-US" sz="1200" dirty="0">
                <a:solidFill>
                  <a:schemeClr val="bg1"/>
                </a:solidFill>
              </a:rPr>
              <a:t>('t1')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 var </a:t>
            </a:r>
            <a:r>
              <a:rPr lang="en-US" altLang="en-US" sz="1200" dirty="0" err="1">
                <a:solidFill>
                  <a:schemeClr val="bg1"/>
                </a:solidFill>
              </a:rPr>
              <a:t>newitem</a:t>
            </a:r>
            <a:r>
              <a:rPr lang="en-US" altLang="en-US" sz="1200" dirty="0">
                <a:solidFill>
                  <a:schemeClr val="bg1"/>
                </a:solidFill>
              </a:rPr>
              <a:t> = </a:t>
            </a:r>
            <a:r>
              <a:rPr lang="en-US" altLang="en-US" sz="1200" dirty="0" err="1">
                <a:solidFill>
                  <a:schemeClr val="bg1"/>
                </a:solidFill>
              </a:rPr>
              <a:t>document.createElement</a:t>
            </a:r>
            <a:r>
              <a:rPr lang="en-US" altLang="en-US" sz="1200" dirty="0">
                <a:solidFill>
                  <a:schemeClr val="bg1"/>
                </a:solidFill>
              </a:rPr>
              <a:t>('li')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 var </a:t>
            </a:r>
            <a:r>
              <a:rPr lang="en-US" altLang="en-US" sz="1200" dirty="0" err="1">
                <a:solidFill>
                  <a:schemeClr val="bg1"/>
                </a:solidFill>
              </a:rPr>
              <a:t>newtext</a:t>
            </a:r>
            <a:r>
              <a:rPr lang="en-US" altLang="en-US" sz="1200" dirty="0">
                <a:solidFill>
                  <a:schemeClr val="bg1"/>
                </a:solidFill>
              </a:rPr>
              <a:t> = </a:t>
            </a:r>
            <a:r>
              <a:rPr lang="en-US" altLang="en-US" sz="1200" dirty="0" err="1">
                <a:solidFill>
                  <a:schemeClr val="bg1"/>
                </a:solidFill>
              </a:rPr>
              <a:t>document.createTextNode</a:t>
            </a:r>
            <a:r>
              <a:rPr lang="en-US" altLang="en-US" sz="1200" dirty="0">
                <a:solidFill>
                  <a:schemeClr val="bg1"/>
                </a:solidFill>
              </a:rPr>
              <a:t>(text)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</a:rPr>
              <a:t>list.appendChild</a:t>
            </a:r>
            <a:r>
              <a:rPr lang="en-US" altLang="en-US" sz="1200" dirty="0">
                <a:solidFill>
                  <a:schemeClr val="bg1"/>
                </a:solidFill>
              </a:rPr>
              <a:t>(</a:t>
            </a:r>
            <a:r>
              <a:rPr lang="en-US" altLang="en-US" sz="1200" dirty="0" err="1">
                <a:solidFill>
                  <a:schemeClr val="bg1"/>
                </a:solidFill>
              </a:rPr>
              <a:t>newitem</a:t>
            </a:r>
            <a:r>
              <a:rPr lang="en-US" altLang="en-US" sz="1200" dirty="0">
                <a:solidFill>
                  <a:schemeClr val="bg1"/>
                </a:solidFill>
              </a:rPr>
              <a:t>)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</a:rPr>
              <a:t>newitem.appendChild</a:t>
            </a:r>
            <a:r>
              <a:rPr lang="en-US" altLang="en-US" sz="1200" dirty="0">
                <a:solidFill>
                  <a:schemeClr val="bg1"/>
                </a:solidFill>
              </a:rPr>
              <a:t>(</a:t>
            </a:r>
            <a:r>
              <a:rPr lang="en-US" altLang="en-US" sz="1200" dirty="0" err="1">
                <a:solidFill>
                  <a:schemeClr val="bg1"/>
                </a:solidFill>
              </a:rPr>
              <a:t>newtext</a:t>
            </a:r>
            <a:r>
              <a:rPr lang="en-US" altLang="en-US" sz="12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027044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Document Object Model (DOM)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HTML page is structured data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DOM provides representation of this hierarchy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Examples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Properties:  </a:t>
            </a:r>
            <a:r>
              <a:rPr lang="en-US" dirty="0" err="1"/>
              <a:t>document.alinkColor</a:t>
            </a:r>
            <a:r>
              <a:rPr lang="en-US" dirty="0"/>
              <a:t>, document.URL, </a:t>
            </a:r>
            <a:r>
              <a:rPr lang="en-US" dirty="0" err="1"/>
              <a:t>document.forms</a:t>
            </a:r>
            <a:r>
              <a:rPr lang="en-US" dirty="0"/>
              <a:t>[ ], </a:t>
            </a:r>
            <a:r>
              <a:rPr lang="en-US" dirty="0" err="1"/>
              <a:t>document.links</a:t>
            </a:r>
            <a:r>
              <a:rPr lang="en-US" dirty="0"/>
              <a:t>[ ], </a:t>
            </a:r>
            <a:r>
              <a:rPr lang="en-US" dirty="0" err="1"/>
              <a:t>document.anchors</a:t>
            </a:r>
            <a:r>
              <a:rPr lang="en-US" dirty="0"/>
              <a:t>[ ], …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Methods:  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document.referrer</a:t>
            </a:r>
            <a:r>
              <a:rPr lang="en-US" dirty="0"/>
              <a:t>)</a:t>
            </a:r>
          </a:p>
          <a:p>
            <a:pPr marL="639450" lvl="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These change the content of the page!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Also Browser Object Model (BOM)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Window, Document, Frames[], History, Location, Navigator (type and version of browser)</a:t>
            </a:r>
          </a:p>
        </p:txBody>
      </p:sp>
    </p:spTree>
    <p:extLst>
      <p:ext uri="{BB962C8B-B14F-4D97-AF65-F5344CB8AC3E}">
        <p14:creationId xmlns:p14="http://schemas.microsoft.com/office/powerpoint/2010/main" val="754880874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10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Browser and Document Structure 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4" name="Picture 2" descr="http://msconline.maconstate.edu/Tutorials/JSDHTML/JSDHTML01/Fig13.gif">
            <a:extLst>
              <a:ext uri="{FF2B5EF4-FFF2-40B4-BE49-F238E27FC236}">
                <a16:creationId xmlns:a16="http://schemas.microsoft.com/office/drawing/2014/main" id="{BE8ED0A3-5F73-2F4E-C888-010BE2D37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0690" y="1015999"/>
            <a:ext cx="4431122" cy="36332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98E493-E366-A106-DA88-BD9C3C215EB4}"/>
              </a:ext>
            </a:extLst>
          </p:cNvPr>
          <p:cNvSpPr txBox="1"/>
          <p:nvPr/>
        </p:nvSpPr>
        <p:spPr bwMode="ltGray">
          <a:xfrm>
            <a:off x="6397883" y="3658571"/>
            <a:ext cx="2409567" cy="8913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FontTx/>
              <a:buNone/>
              <a:defRPr/>
            </a:pPr>
            <a:r>
              <a:rPr lang="en-US" sz="1200" dirty="0">
                <a:solidFill>
                  <a:srgbClr val="00A3E0"/>
                </a:solidFill>
                <a:latin typeface="+mn-lt"/>
              </a:rPr>
              <a:t>W3C standard differs from models supported in existing browsers.</a:t>
            </a:r>
          </a:p>
        </p:txBody>
      </p:sp>
    </p:spTree>
    <p:extLst>
      <p:ext uri="{BB962C8B-B14F-4D97-AF65-F5344CB8AC3E}">
        <p14:creationId xmlns:p14="http://schemas.microsoft.com/office/powerpoint/2010/main" val="3379913845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Reading Properties with JavaScript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dirty="0"/>
              <a:t>Sample script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lvl="3">
              <a:lnSpc>
                <a:spcPct val="150000"/>
              </a:lnSpc>
            </a:pPr>
            <a:r>
              <a:rPr lang="en-US" altLang="en-US" sz="1100" dirty="0"/>
              <a:t>Example 1 returns "</a:t>
            </a:r>
            <a:r>
              <a:rPr lang="en-US" altLang="en-US" sz="1100" dirty="0" err="1"/>
              <a:t>ul</a:t>
            </a:r>
            <a:r>
              <a:rPr lang="en-US" altLang="en-US" sz="1100" dirty="0"/>
              <a:t>"</a:t>
            </a:r>
          </a:p>
          <a:p>
            <a:pPr lvl="3">
              <a:lnSpc>
                <a:spcPct val="150000"/>
              </a:lnSpc>
            </a:pPr>
            <a:r>
              <a:rPr lang="en-US" altLang="en-US" sz="1100" dirty="0"/>
              <a:t>Example 2 returns "null"</a:t>
            </a:r>
          </a:p>
          <a:p>
            <a:pPr lvl="3">
              <a:lnSpc>
                <a:spcPct val="150000"/>
              </a:lnSpc>
            </a:pPr>
            <a:r>
              <a:rPr lang="en-US" altLang="en-US" sz="1100" dirty="0"/>
              <a:t>Example 3 returns "li"</a:t>
            </a:r>
          </a:p>
          <a:p>
            <a:pPr lvl="3">
              <a:lnSpc>
                <a:spcPct val="150000"/>
              </a:lnSpc>
            </a:pPr>
            <a:r>
              <a:rPr lang="en-US" altLang="en-US" sz="1100" dirty="0"/>
              <a:t>Example 4 returns "text"</a:t>
            </a:r>
          </a:p>
          <a:p>
            <a:pPr lvl="4">
              <a:lnSpc>
                <a:spcPct val="150000"/>
              </a:lnSpc>
            </a:pPr>
            <a:r>
              <a:rPr lang="en-US" altLang="en-US" sz="1050" dirty="0"/>
              <a:t>A text node below the "li" which holds the actual text data as its value</a:t>
            </a:r>
          </a:p>
          <a:p>
            <a:pPr lvl="3">
              <a:lnSpc>
                <a:spcPct val="150000"/>
              </a:lnSpc>
            </a:pPr>
            <a:r>
              <a:rPr lang="en-US" altLang="en-US" sz="1100" dirty="0"/>
              <a:t>Example 5 returns " Item 1 "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36684F7-970A-AD0C-11B8-71AD77ACC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836" y="1301578"/>
            <a:ext cx="3947314" cy="132577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1. 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nodeName</a:t>
            </a:r>
            <a:endParaRPr kumimoji="1" lang="en-US" sz="105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2. 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nodeValue</a:t>
            </a:r>
            <a:endParaRPr kumimoji="1" lang="en-US" sz="105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3. 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firstChild.nodeName</a:t>
            </a:r>
            <a:endParaRPr kumimoji="1" lang="en-US" sz="105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4. 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firstChild.firstChild.nodeName</a:t>
            </a:r>
            <a:endParaRPr kumimoji="1" lang="en-US" sz="1050" dirty="0">
              <a:solidFill>
                <a:schemeClr val="tx1"/>
              </a:solidFill>
              <a:cs typeface="Tahom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None/>
              <a:defRPr/>
            </a:pP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5. 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document.getElementById</a:t>
            </a:r>
            <a:r>
              <a:rPr kumimoji="1" lang="en-US" sz="1050" dirty="0">
                <a:solidFill>
                  <a:schemeClr val="tx1"/>
                </a:solidFill>
                <a:cs typeface="Tahoma" pitchFamily="34" charset="0"/>
              </a:rPr>
              <a:t>('t1').</a:t>
            </a:r>
            <a:r>
              <a:rPr kumimoji="1" lang="en-US" sz="1050" dirty="0" err="1">
                <a:solidFill>
                  <a:schemeClr val="tx1"/>
                </a:solidFill>
                <a:cs typeface="Tahoma" pitchFamily="34" charset="0"/>
              </a:rPr>
              <a:t>firstChild.firstChild.nodeValue</a:t>
            </a:r>
            <a:endParaRPr kumimoji="1" lang="en-US" sz="1050" dirty="0">
              <a:solidFill>
                <a:schemeClr val="tx1"/>
              </a:solidFill>
              <a:cs typeface="Tahoma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CFE4EC0-0C2A-C3ED-9B57-72FACB11E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562" y="1240567"/>
            <a:ext cx="1874108" cy="9280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&lt;</a:t>
            </a:r>
            <a:r>
              <a:rPr lang="en-US" dirty="0" err="1">
                <a:solidFill>
                  <a:schemeClr val="bg1"/>
                </a:solidFill>
                <a:latin typeface="+mn-lt"/>
              </a:rPr>
              <a:t>ul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id="t1"&gt;</a:t>
            </a:r>
          </a:p>
          <a:p>
            <a:pPr>
              <a:buFontTx/>
              <a:buNone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&lt;</a:t>
            </a:r>
            <a:r>
              <a:rPr lang="en-US" dirty="0" err="1">
                <a:solidFill>
                  <a:schemeClr val="bg1"/>
                </a:solidFill>
                <a:latin typeface="+mn-lt"/>
              </a:rPr>
              <a:t>li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&gt; Item 1 &lt;/</a:t>
            </a:r>
            <a:r>
              <a:rPr lang="en-US" dirty="0" err="1">
                <a:solidFill>
                  <a:schemeClr val="bg1"/>
                </a:solidFill>
                <a:latin typeface="+mn-lt"/>
              </a:rPr>
              <a:t>li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&gt;</a:t>
            </a:r>
          </a:p>
          <a:p>
            <a:pPr>
              <a:buFontTx/>
              <a:buNone/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&lt;/</a:t>
            </a:r>
            <a:r>
              <a:rPr lang="en-US" dirty="0" err="1">
                <a:solidFill>
                  <a:schemeClr val="bg1"/>
                </a:solidFill>
                <a:latin typeface="+mn-lt"/>
              </a:rPr>
              <a:t>ul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1D796-CCE9-0DB5-3A04-93601EFB5124}"/>
              </a:ext>
            </a:extLst>
          </p:cNvPr>
          <p:cNvSpPr txBox="1"/>
          <p:nvPr/>
        </p:nvSpPr>
        <p:spPr bwMode="ltGray">
          <a:xfrm>
            <a:off x="5165124" y="936539"/>
            <a:ext cx="2922374" cy="2807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chemeClr val="accent1"/>
                </a:solidFill>
                <a:latin typeface="+mn-lt"/>
              </a:rPr>
              <a:t>Sample HTML</a:t>
            </a:r>
          </a:p>
        </p:txBody>
      </p:sp>
    </p:spTree>
    <p:extLst>
      <p:ext uri="{BB962C8B-B14F-4D97-AF65-F5344CB8AC3E}">
        <p14:creationId xmlns:p14="http://schemas.microsoft.com/office/powerpoint/2010/main" val="2850669156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Language Basics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JavaScript is case sensitive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 err="1"/>
              <a:t>onClick</a:t>
            </a:r>
            <a:r>
              <a:rPr lang="en-US" altLang="en-US" dirty="0"/>
              <a:t>, ONCLICK, … are HTML, thus not case-sensitive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Statements terminated by returns or semi-colons 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x = x+1;     same as      x = x+1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“Blocks” of statements enclosed in { …}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Variables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Define using the var statement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Define implicitly by its first use, which must be an assignment</a:t>
            </a:r>
          </a:p>
          <a:p>
            <a:pPr marL="639450" lvl="3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dirty="0"/>
              <a:t>Implicit </a:t>
            </a:r>
            <a:r>
              <a:rPr lang="en-US" altLang="en-US" dirty="0" err="1"/>
              <a:t>defn</a:t>
            </a:r>
            <a:r>
              <a:rPr lang="en-US" altLang="en-US" dirty="0"/>
              <a:t> has global scope, even if occurs in nested scope!</a:t>
            </a:r>
          </a:p>
        </p:txBody>
      </p:sp>
    </p:spTree>
    <p:extLst>
      <p:ext uri="{BB962C8B-B14F-4D97-AF65-F5344CB8AC3E}">
        <p14:creationId xmlns:p14="http://schemas.microsoft.com/office/powerpoint/2010/main" val="2725969528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JavaScript Blocks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Use { } for grouping; </a:t>
            </a:r>
            <a:r>
              <a:rPr lang="en-US" altLang="en-US" b="1" dirty="0">
                <a:solidFill>
                  <a:schemeClr val="hlink"/>
                </a:solidFill>
              </a:rPr>
              <a:t>not a separate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Not blocks in the sense of other languages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EA8ABC-64ED-B56B-7B39-BE3AF7CCF392}"/>
              </a:ext>
            </a:extLst>
          </p:cNvPr>
          <p:cNvSpPr txBox="1"/>
          <p:nvPr/>
        </p:nvSpPr>
        <p:spPr bwMode="ltGray">
          <a:xfrm>
            <a:off x="549876" y="1297459"/>
            <a:ext cx="3330146" cy="15678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lvl="1">
              <a:buFontTx/>
              <a:buNone/>
            </a:pPr>
            <a:r>
              <a:rPr lang="en-US" altLang="en-US" dirty="0" err="1">
                <a:solidFill>
                  <a:schemeClr val="bg1"/>
                </a:solidFill>
              </a:rPr>
              <a:t>js</a:t>
            </a:r>
            <a:r>
              <a:rPr lang="en-US" altLang="en-US" dirty="0">
                <a:solidFill>
                  <a:schemeClr val="bg1"/>
                </a:solidFill>
              </a:rPr>
              <a:t>&gt; var x=3;</a:t>
            </a:r>
          </a:p>
          <a:p>
            <a:pPr lvl="1">
              <a:buFontTx/>
              <a:buNone/>
            </a:pPr>
            <a:r>
              <a:rPr lang="en-US" altLang="en-US" dirty="0" err="1">
                <a:solidFill>
                  <a:schemeClr val="bg1"/>
                </a:solidFill>
              </a:rPr>
              <a:t>js</a:t>
            </a:r>
            <a:r>
              <a:rPr lang="en-US" altLang="en-US" dirty="0">
                <a:solidFill>
                  <a:schemeClr val="bg1"/>
                </a:solidFill>
              </a:rPr>
              <a:t>&gt; x</a:t>
            </a:r>
          </a:p>
          <a:p>
            <a:pPr lvl="1"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3</a:t>
            </a:r>
          </a:p>
          <a:p>
            <a:pPr lvl="1">
              <a:buFontTx/>
              <a:buNone/>
            </a:pPr>
            <a:r>
              <a:rPr lang="en-US" altLang="en-US" dirty="0" err="1">
                <a:solidFill>
                  <a:schemeClr val="bg1"/>
                </a:solidFill>
              </a:rPr>
              <a:t>js</a:t>
            </a:r>
            <a:r>
              <a:rPr lang="en-US" altLang="en-US" dirty="0">
                <a:solidFill>
                  <a:schemeClr val="bg1"/>
                </a:solidFill>
              </a:rPr>
              <a:t>&gt; {var x=4; x}</a:t>
            </a:r>
          </a:p>
          <a:p>
            <a:pPr lvl="1"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4</a:t>
            </a:r>
          </a:p>
          <a:p>
            <a:pPr lvl="1">
              <a:buFontTx/>
              <a:buNone/>
            </a:pPr>
            <a:r>
              <a:rPr lang="en-US" altLang="en-US" dirty="0" err="1">
                <a:solidFill>
                  <a:schemeClr val="bg1"/>
                </a:solidFill>
              </a:rPr>
              <a:t>js</a:t>
            </a:r>
            <a:r>
              <a:rPr lang="en-US" altLang="en-US" dirty="0">
                <a:solidFill>
                  <a:schemeClr val="bg1"/>
                </a:solidFill>
              </a:rPr>
              <a:t>&gt; x</a:t>
            </a:r>
          </a:p>
          <a:p>
            <a:pPr lvl="1">
              <a:buFontTx/>
              <a:buNone/>
            </a:pPr>
            <a:r>
              <a:rPr lang="en-US" altLang="en-US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61592906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JavaScript Primitive Datatypes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Boolean: true and false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Number: 64-bit floating point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Similar to Java double and Double 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No integer type 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Special values </a:t>
            </a:r>
            <a:r>
              <a:rPr lang="en-US" altLang="en-US" dirty="0" err="1"/>
              <a:t>NaN</a:t>
            </a:r>
            <a:r>
              <a:rPr lang="en-US" altLang="en-US" dirty="0"/>
              <a:t> (not a number) and Infinity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String: sequence of zero or more Unicode chars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No separate character type (just strings of length 1)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Literal strings using ' or " characters  (must match)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Special objects: null and undefined</a:t>
            </a:r>
          </a:p>
        </p:txBody>
      </p:sp>
    </p:spTree>
    <p:extLst>
      <p:ext uri="{BB962C8B-B14F-4D97-AF65-F5344CB8AC3E}">
        <p14:creationId xmlns:p14="http://schemas.microsoft.com/office/powerpoint/2010/main" val="3086335395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Objects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An object is a collection of named properties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Think of it as an associative array or hash table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Set of </a:t>
            </a:r>
            <a:r>
              <a:rPr lang="en-US" altLang="en-US" dirty="0" err="1"/>
              <a:t>name:value</a:t>
            </a:r>
            <a:r>
              <a:rPr lang="en-US" altLang="en-US" dirty="0"/>
              <a:t> pairs</a:t>
            </a:r>
          </a:p>
          <a:p>
            <a:pPr lvl="3">
              <a:lnSpc>
                <a:spcPct val="150000"/>
              </a:lnSpc>
            </a:pPr>
            <a:r>
              <a:rPr lang="en-US" altLang="en-US" dirty="0" err="1"/>
              <a:t>objBob</a:t>
            </a:r>
            <a:r>
              <a:rPr lang="en-US" altLang="en-US" dirty="0"/>
              <a:t> = {name: “Bob", grade: 'A', level: 3};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Play a role similar to lists in Lisp / Scheme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New members can be added at any time</a:t>
            </a:r>
          </a:p>
          <a:p>
            <a:pPr lvl="3">
              <a:lnSpc>
                <a:spcPct val="150000"/>
              </a:lnSpc>
            </a:pPr>
            <a:r>
              <a:rPr lang="en-US" altLang="en-US" dirty="0" err="1"/>
              <a:t>objBob.fullname</a:t>
            </a:r>
            <a:r>
              <a:rPr lang="en-US" altLang="en-US" dirty="0"/>
              <a:t> = 'Robert';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Can have methods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Can refer to </a:t>
            </a:r>
            <a:r>
              <a:rPr lang="en-US" altLang="en-US" b="1" dirty="0"/>
              <a:t>this </a:t>
            </a:r>
          </a:p>
        </p:txBody>
      </p:sp>
    </p:spTree>
    <p:extLst>
      <p:ext uri="{BB962C8B-B14F-4D97-AF65-F5344CB8AC3E}">
        <p14:creationId xmlns:p14="http://schemas.microsoft.com/office/powerpoint/2010/main" val="2716667397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Functions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Functions are objects with method called “( )”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 property of an object may be a function (=method)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function max(</a:t>
            </a:r>
            <a:r>
              <a:rPr lang="en-US" altLang="en-US" dirty="0" err="1"/>
              <a:t>x,y</a:t>
            </a:r>
            <a:r>
              <a:rPr lang="en-US" altLang="en-US" dirty="0"/>
              <a:t>) { if (x&gt;y) return x; else return y;};</a:t>
            </a:r>
          </a:p>
          <a:p>
            <a:pPr lvl="3">
              <a:lnSpc>
                <a:spcPct val="150000"/>
              </a:lnSpc>
            </a:pPr>
            <a:r>
              <a:rPr lang="en-US" altLang="en-US" dirty="0" err="1"/>
              <a:t>max.description</a:t>
            </a:r>
            <a:r>
              <a:rPr lang="en-US" altLang="en-US" dirty="0"/>
              <a:t> = “return the maximum of two arguments”;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Local declarations may appear in function body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Call can supply any number of arguments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 err="1"/>
              <a:t>functionname.length</a:t>
            </a:r>
            <a:r>
              <a:rPr lang="en-US" altLang="en-US" dirty="0"/>
              <a:t> : # of arguments in definition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 err="1"/>
              <a:t>functionname.arguments.length</a:t>
            </a:r>
            <a:r>
              <a:rPr lang="en-US" altLang="en-US" dirty="0"/>
              <a:t> : # arguments in call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Basic types are passed by value, objects by reference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“Anonymous” functions 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(function (</a:t>
            </a:r>
            <a:r>
              <a:rPr lang="en-US" altLang="en-US" dirty="0" err="1"/>
              <a:t>x,y</a:t>
            </a:r>
            <a:r>
              <a:rPr lang="en-US" altLang="en-US" dirty="0"/>
              <a:t>) {return </a:t>
            </a:r>
            <a:r>
              <a:rPr lang="en-US" altLang="en-US" dirty="0" err="1"/>
              <a:t>x+y</a:t>
            </a:r>
            <a:r>
              <a:rPr lang="en-US" altLang="en-US" dirty="0"/>
              <a:t>}) (2,3);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34532631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17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Examples of Functions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Curried functions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function </a:t>
            </a:r>
            <a:r>
              <a:rPr lang="en-US" altLang="en-US" dirty="0" err="1"/>
              <a:t>CurriedAdd</a:t>
            </a:r>
            <a:r>
              <a:rPr lang="en-US" altLang="en-US" dirty="0"/>
              <a:t>(x) { return function(y){ return </a:t>
            </a:r>
            <a:r>
              <a:rPr lang="en-US" altLang="en-US" dirty="0" err="1"/>
              <a:t>x+y</a:t>
            </a:r>
            <a:r>
              <a:rPr lang="en-US" altLang="en-US" dirty="0"/>
              <a:t>} };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g = </a:t>
            </a:r>
            <a:r>
              <a:rPr lang="en-US" altLang="en-US" dirty="0" err="1"/>
              <a:t>CurriedAdd</a:t>
            </a:r>
            <a:r>
              <a:rPr lang="en-US" altLang="en-US" dirty="0"/>
              <a:t>(2);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g(3)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Variable number of arguments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function </a:t>
            </a:r>
            <a:r>
              <a:rPr lang="en-US" altLang="en-US" dirty="0" err="1"/>
              <a:t>sumAll</a:t>
            </a:r>
            <a:r>
              <a:rPr lang="en-US" altLang="en-US" dirty="0"/>
              <a:t>() {</a:t>
            </a:r>
          </a:p>
          <a:p>
            <a:pPr marL="252000" lvl="3" indent="0">
              <a:lnSpc>
                <a:spcPct val="150000"/>
              </a:lnSpc>
              <a:buNone/>
            </a:pPr>
            <a:r>
              <a:rPr lang="en-US" altLang="en-US" dirty="0"/>
              <a:t>          var total=0;</a:t>
            </a:r>
          </a:p>
          <a:p>
            <a:pPr marL="252000" lvl="3" indent="0">
              <a:lnSpc>
                <a:spcPct val="150000"/>
              </a:lnSpc>
              <a:buNone/>
            </a:pPr>
            <a:r>
              <a:rPr lang="en-US" altLang="en-US" dirty="0"/>
              <a:t>          for (var </a:t>
            </a:r>
            <a:r>
              <a:rPr lang="en-US" altLang="en-US" dirty="0" err="1"/>
              <a:t>i</a:t>
            </a:r>
            <a:r>
              <a:rPr lang="en-US" altLang="en-US" dirty="0"/>
              <a:t>=0; </a:t>
            </a:r>
            <a:r>
              <a:rPr lang="en-US" altLang="en-US" dirty="0" err="1"/>
              <a:t>i</a:t>
            </a:r>
            <a:r>
              <a:rPr lang="en-US" altLang="en-US" dirty="0"/>
              <a:t>&lt; </a:t>
            </a:r>
            <a:r>
              <a:rPr lang="en-US" altLang="en-US" dirty="0" err="1"/>
              <a:t>sumAll.arguments.length</a:t>
            </a:r>
            <a:r>
              <a:rPr lang="en-US" altLang="en-US" dirty="0"/>
              <a:t>; </a:t>
            </a:r>
            <a:r>
              <a:rPr lang="en-US" altLang="en-US" dirty="0" err="1"/>
              <a:t>i</a:t>
            </a:r>
            <a:r>
              <a:rPr lang="en-US" altLang="en-US" dirty="0"/>
              <a:t>++) </a:t>
            </a:r>
          </a:p>
          <a:p>
            <a:pPr marL="252000" lvl="3" indent="0">
              <a:lnSpc>
                <a:spcPct val="150000"/>
              </a:lnSpc>
              <a:buNone/>
            </a:pPr>
            <a:r>
              <a:rPr lang="en-US" altLang="en-US" dirty="0"/>
              <a:t>                total+=</a:t>
            </a:r>
            <a:r>
              <a:rPr lang="en-US" altLang="en-US" dirty="0" err="1"/>
              <a:t>sumAll.arguments</a:t>
            </a:r>
            <a:r>
              <a:rPr lang="en-US" altLang="en-US" dirty="0"/>
              <a:t>[</a:t>
            </a:r>
            <a:r>
              <a:rPr lang="en-US" altLang="en-US" dirty="0" err="1"/>
              <a:t>i</a:t>
            </a:r>
            <a:r>
              <a:rPr lang="en-US" altLang="en-US" dirty="0"/>
              <a:t>];</a:t>
            </a:r>
          </a:p>
          <a:p>
            <a:pPr marL="252000" lvl="3" indent="0">
              <a:lnSpc>
                <a:spcPct val="150000"/>
              </a:lnSpc>
              <a:buNone/>
            </a:pPr>
            <a:r>
              <a:rPr lang="en-US" altLang="en-US" dirty="0"/>
              <a:t>          return(total); }</a:t>
            </a:r>
          </a:p>
          <a:p>
            <a:pPr lvl="3">
              <a:lnSpc>
                <a:spcPct val="150000"/>
              </a:lnSpc>
            </a:pPr>
            <a:r>
              <a:rPr lang="en-US" altLang="en-US" dirty="0" err="1"/>
              <a:t>sumAll</a:t>
            </a:r>
            <a:r>
              <a:rPr lang="en-US" altLang="en-US" dirty="0"/>
              <a:t>(3,5,3,5,3,2,6)</a:t>
            </a:r>
          </a:p>
        </p:txBody>
      </p:sp>
    </p:spTree>
    <p:extLst>
      <p:ext uri="{BB962C8B-B14F-4D97-AF65-F5344CB8AC3E}">
        <p14:creationId xmlns:p14="http://schemas.microsoft.com/office/powerpoint/2010/main" val="3614663539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18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Anonymous Functions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Anonymous functions very useful for callbacks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 err="1"/>
              <a:t>setTimeout</a:t>
            </a:r>
            <a:r>
              <a:rPr lang="en-US" altLang="en-US" dirty="0"/>
              <a:t>(function() { alert("done"); }, 10000)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Evaluation of alert("done") delayed until function call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Simulate blocks by function definition and call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var u = { a:1, b:2 }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var v = { a:3, b:4 }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(function (</a:t>
            </a:r>
            <a:r>
              <a:rPr lang="en-US" altLang="en-US" dirty="0" err="1"/>
              <a:t>x,y</a:t>
            </a:r>
            <a:r>
              <a:rPr lang="en-US" altLang="en-US" dirty="0"/>
              <a:t>) { </a:t>
            </a:r>
          </a:p>
          <a:p>
            <a:pPr lvl="2" indent="0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folHlink"/>
                </a:solidFill>
              </a:rPr>
              <a:t>         var </a:t>
            </a:r>
            <a:r>
              <a:rPr lang="en-US" altLang="en-US" dirty="0" err="1">
                <a:solidFill>
                  <a:schemeClr val="folHlink"/>
                </a:solidFill>
              </a:rPr>
              <a:t>tempA</a:t>
            </a:r>
            <a:r>
              <a:rPr lang="en-US" altLang="en-US" dirty="0">
                <a:solidFill>
                  <a:schemeClr val="folHlink"/>
                </a:solidFill>
              </a:rPr>
              <a:t> = </a:t>
            </a:r>
            <a:r>
              <a:rPr lang="en-US" altLang="en-US" dirty="0" err="1">
                <a:solidFill>
                  <a:schemeClr val="folHlink"/>
                </a:solidFill>
              </a:rPr>
              <a:t>x.a</a:t>
            </a:r>
            <a:r>
              <a:rPr lang="en-US" altLang="en-US" dirty="0">
                <a:solidFill>
                  <a:schemeClr val="folHlink"/>
                </a:solidFill>
              </a:rPr>
              <a:t>; var </a:t>
            </a:r>
            <a:r>
              <a:rPr lang="en-US" altLang="en-US" dirty="0" err="1">
                <a:solidFill>
                  <a:schemeClr val="folHlink"/>
                </a:solidFill>
              </a:rPr>
              <a:t>tempB</a:t>
            </a:r>
            <a:r>
              <a:rPr lang="en-US" altLang="en-US" dirty="0">
                <a:solidFill>
                  <a:schemeClr val="folHlink"/>
                </a:solidFill>
              </a:rPr>
              <a:t> =</a:t>
            </a:r>
            <a:r>
              <a:rPr lang="en-US" altLang="en-US" dirty="0" err="1">
                <a:solidFill>
                  <a:schemeClr val="folHlink"/>
                </a:solidFill>
              </a:rPr>
              <a:t>x.b</a:t>
            </a:r>
            <a:r>
              <a:rPr lang="en-US" altLang="en-US" dirty="0">
                <a:solidFill>
                  <a:schemeClr val="folHlink"/>
                </a:solidFill>
              </a:rPr>
              <a:t>;  // local variables</a:t>
            </a:r>
          </a:p>
          <a:p>
            <a:pPr lvl="2" indent="0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folHlink"/>
                </a:solidFill>
              </a:rPr>
              <a:t>         </a:t>
            </a:r>
            <a:r>
              <a:rPr lang="en-US" altLang="en-US" dirty="0" err="1">
                <a:solidFill>
                  <a:schemeClr val="folHlink"/>
                </a:solidFill>
              </a:rPr>
              <a:t>x.a</a:t>
            </a:r>
            <a:r>
              <a:rPr lang="en-US" altLang="en-US" dirty="0">
                <a:solidFill>
                  <a:schemeClr val="folHlink"/>
                </a:solidFill>
              </a:rPr>
              <a:t>=</a:t>
            </a:r>
            <a:r>
              <a:rPr lang="en-US" altLang="en-US" dirty="0" err="1">
                <a:solidFill>
                  <a:schemeClr val="folHlink"/>
                </a:solidFill>
              </a:rPr>
              <a:t>y.a</a:t>
            </a:r>
            <a:r>
              <a:rPr lang="en-US" altLang="en-US" dirty="0">
                <a:solidFill>
                  <a:schemeClr val="folHlink"/>
                </a:solidFill>
              </a:rPr>
              <a:t>; </a:t>
            </a:r>
            <a:r>
              <a:rPr lang="en-US" altLang="en-US" dirty="0" err="1">
                <a:solidFill>
                  <a:schemeClr val="folHlink"/>
                </a:solidFill>
              </a:rPr>
              <a:t>x.b</a:t>
            </a:r>
            <a:r>
              <a:rPr lang="en-US" altLang="en-US" dirty="0">
                <a:solidFill>
                  <a:schemeClr val="folHlink"/>
                </a:solidFill>
              </a:rPr>
              <a:t>=</a:t>
            </a:r>
            <a:r>
              <a:rPr lang="en-US" altLang="en-US" dirty="0" err="1">
                <a:solidFill>
                  <a:schemeClr val="folHlink"/>
                </a:solidFill>
              </a:rPr>
              <a:t>y.b</a:t>
            </a:r>
            <a:r>
              <a:rPr lang="en-US" altLang="en-US" dirty="0">
                <a:solidFill>
                  <a:schemeClr val="folHlink"/>
                </a:solidFill>
              </a:rPr>
              <a:t>; </a:t>
            </a:r>
          </a:p>
          <a:p>
            <a:pPr lvl="2" indent="0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folHlink"/>
                </a:solidFill>
              </a:rPr>
              <a:t>         </a:t>
            </a:r>
            <a:r>
              <a:rPr lang="en-US" altLang="en-US" dirty="0" err="1">
                <a:solidFill>
                  <a:schemeClr val="folHlink"/>
                </a:solidFill>
              </a:rPr>
              <a:t>y.a</a:t>
            </a:r>
            <a:r>
              <a:rPr lang="en-US" altLang="en-US" dirty="0">
                <a:solidFill>
                  <a:schemeClr val="folHlink"/>
                </a:solidFill>
              </a:rPr>
              <a:t>=</a:t>
            </a:r>
            <a:r>
              <a:rPr lang="en-US" altLang="en-US" dirty="0" err="1">
                <a:solidFill>
                  <a:schemeClr val="folHlink"/>
                </a:solidFill>
              </a:rPr>
              <a:t>tempA</a:t>
            </a:r>
            <a:r>
              <a:rPr lang="en-US" altLang="en-US" dirty="0">
                <a:solidFill>
                  <a:schemeClr val="folHlink"/>
                </a:solidFill>
              </a:rPr>
              <a:t>; </a:t>
            </a:r>
            <a:r>
              <a:rPr lang="en-US" altLang="en-US" dirty="0" err="1">
                <a:solidFill>
                  <a:schemeClr val="folHlink"/>
                </a:solidFill>
              </a:rPr>
              <a:t>y.b</a:t>
            </a:r>
            <a:r>
              <a:rPr lang="en-US" altLang="en-US" dirty="0">
                <a:solidFill>
                  <a:schemeClr val="folHlink"/>
                </a:solidFill>
              </a:rPr>
              <a:t>=</a:t>
            </a:r>
            <a:r>
              <a:rPr lang="en-US" altLang="en-US" dirty="0" err="1">
                <a:solidFill>
                  <a:schemeClr val="folHlink"/>
                </a:solidFill>
              </a:rPr>
              <a:t>tempB</a:t>
            </a:r>
            <a:r>
              <a:rPr lang="en-US" altLang="en-US" dirty="0">
                <a:solidFill>
                  <a:schemeClr val="folHlink"/>
                </a:solidFill>
              </a:rPr>
              <a:t> </a:t>
            </a:r>
          </a:p>
          <a:p>
            <a:pPr lvl="2" indent="0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folHlink"/>
                </a:solidFill>
              </a:rPr>
              <a:t>   }) (</a:t>
            </a:r>
            <a:r>
              <a:rPr lang="en-US" altLang="en-US" dirty="0" err="1">
                <a:solidFill>
                  <a:schemeClr val="folHlink"/>
                </a:solidFill>
              </a:rPr>
              <a:t>u,v</a:t>
            </a:r>
            <a:r>
              <a:rPr lang="en-US" altLang="en-US" dirty="0">
                <a:solidFill>
                  <a:schemeClr val="folHlink"/>
                </a:solidFill>
              </a:rPr>
              <a:t>)   // Works because </a:t>
            </a:r>
            <a:r>
              <a:rPr lang="en-US" altLang="en-US" dirty="0" err="1">
                <a:solidFill>
                  <a:schemeClr val="folHlink"/>
                </a:solidFill>
              </a:rPr>
              <a:t>objs</a:t>
            </a:r>
            <a:r>
              <a:rPr lang="en-US" altLang="en-US" dirty="0">
                <a:solidFill>
                  <a:schemeClr val="folHlink"/>
                </a:solidFill>
              </a:rPr>
              <a:t> are passed by ref</a:t>
            </a:r>
          </a:p>
        </p:txBody>
      </p:sp>
    </p:spTree>
    <p:extLst>
      <p:ext uri="{BB962C8B-B14F-4D97-AF65-F5344CB8AC3E}">
        <p14:creationId xmlns:p14="http://schemas.microsoft.com/office/powerpoint/2010/main" val="995674718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Basic Object Features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Use a function to construct an object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function car(make, model, year) { 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         </a:t>
            </a:r>
            <a:r>
              <a:rPr lang="en-US" altLang="en-US" dirty="0" err="1"/>
              <a:t>this.make</a:t>
            </a:r>
            <a:r>
              <a:rPr lang="en-US" altLang="en-US" dirty="0"/>
              <a:t> = make; 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         </a:t>
            </a:r>
            <a:r>
              <a:rPr lang="en-US" altLang="en-US" dirty="0" err="1"/>
              <a:t>this.model</a:t>
            </a:r>
            <a:r>
              <a:rPr lang="en-US" altLang="en-US" dirty="0"/>
              <a:t> = model; 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         </a:t>
            </a:r>
            <a:r>
              <a:rPr lang="en-US" altLang="en-US" dirty="0" err="1"/>
              <a:t>this.year</a:t>
            </a:r>
            <a:r>
              <a:rPr lang="en-US" altLang="en-US" dirty="0"/>
              <a:t> = year; }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Objects have prototypes, can be changed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>
                <a:solidFill>
                  <a:schemeClr val="folHlink"/>
                </a:solidFill>
              </a:rPr>
              <a:t>var c = new car(“Ford”,”Taurus”,1988);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 err="1">
                <a:solidFill>
                  <a:schemeClr val="folHlink"/>
                </a:solidFill>
              </a:rPr>
              <a:t>car.prototype.print</a:t>
            </a:r>
            <a:r>
              <a:rPr lang="en-US" altLang="en-US" dirty="0">
                <a:solidFill>
                  <a:schemeClr val="folHlink"/>
                </a:solidFill>
              </a:rPr>
              <a:t> = function () {</a:t>
            </a:r>
          </a:p>
          <a:p>
            <a:pPr marL="0" lvl="2" indent="0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folHlink"/>
                </a:solidFill>
              </a:rPr>
              <a:t>                return </a:t>
            </a:r>
            <a:r>
              <a:rPr lang="en-US" altLang="en-US" dirty="0" err="1">
                <a:solidFill>
                  <a:schemeClr val="folHlink"/>
                </a:solidFill>
              </a:rPr>
              <a:t>this.year</a:t>
            </a:r>
            <a:r>
              <a:rPr lang="en-US" altLang="en-US" dirty="0">
                <a:solidFill>
                  <a:schemeClr val="folHlink"/>
                </a:solidFill>
              </a:rPr>
              <a:t> + “ “ + </a:t>
            </a:r>
            <a:r>
              <a:rPr lang="en-US" altLang="en-US" dirty="0" err="1">
                <a:solidFill>
                  <a:schemeClr val="folHlink"/>
                </a:solidFill>
              </a:rPr>
              <a:t>this.make</a:t>
            </a:r>
            <a:r>
              <a:rPr lang="en-US" altLang="en-US" dirty="0">
                <a:solidFill>
                  <a:schemeClr val="folHlink"/>
                </a:solidFill>
              </a:rPr>
              <a:t> + “ “ + </a:t>
            </a:r>
            <a:r>
              <a:rPr lang="en-US" altLang="en-US" dirty="0" err="1">
                <a:solidFill>
                  <a:schemeClr val="folHlink"/>
                </a:solidFill>
              </a:rPr>
              <a:t>this.model</a:t>
            </a:r>
            <a:r>
              <a:rPr lang="en-US" altLang="en-US" dirty="0">
                <a:solidFill>
                  <a:schemeClr val="folHlink"/>
                </a:solidFill>
              </a:rPr>
              <a:t>;}</a:t>
            </a:r>
          </a:p>
          <a:p>
            <a:pPr marL="423450" lvl="2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 err="1">
                <a:solidFill>
                  <a:schemeClr val="folHlink"/>
                </a:solidFill>
              </a:rPr>
              <a:t>c.print</a:t>
            </a:r>
            <a:r>
              <a:rPr lang="en-US" altLang="en-US" dirty="0">
                <a:solidFill>
                  <a:schemeClr val="folHlink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417854617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20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JavaScript in Web Pages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Embedded in HTML page as &lt;script&gt; element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JavaScript written directly inside &lt;script&gt; element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&lt;script&gt; alert("Hello World!") &lt;/script&gt;</a:t>
            </a:r>
          </a:p>
          <a:p>
            <a:pPr marL="423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Linked file as </a:t>
            </a:r>
            <a:r>
              <a:rPr lang="en-US" altLang="en-US" dirty="0" err="1"/>
              <a:t>src</a:t>
            </a:r>
            <a:r>
              <a:rPr lang="en-US" altLang="en-US" dirty="0"/>
              <a:t> attribute of the &lt;script&gt; element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&lt;script type="text/JavaScript" </a:t>
            </a:r>
            <a:r>
              <a:rPr lang="en-US" altLang="en-US" dirty="0" err="1"/>
              <a:t>src</a:t>
            </a:r>
            <a:r>
              <a:rPr lang="en-US" altLang="en-US" dirty="0"/>
              <a:t>=“functions.js"&gt;&lt;/script&gt;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Event handler attribute</a:t>
            </a:r>
          </a:p>
          <a:p>
            <a:pPr marL="252000" lvl="3" indent="0">
              <a:lnSpc>
                <a:spcPct val="150000"/>
              </a:lnSpc>
              <a:buNone/>
            </a:pPr>
            <a:r>
              <a:rPr lang="en-US" altLang="en-US" dirty="0"/>
              <a:t>      &lt;a </a:t>
            </a:r>
            <a:r>
              <a:rPr lang="en-US" altLang="en-US" dirty="0" err="1"/>
              <a:t>href</a:t>
            </a:r>
            <a:r>
              <a:rPr lang="en-US" altLang="en-US" dirty="0"/>
              <a:t>="http://www.yahoo.com "  </a:t>
            </a:r>
            <a:r>
              <a:rPr lang="en-US" altLang="en-US" dirty="0" err="1"/>
              <a:t>onmouseover</a:t>
            </a:r>
            <a:r>
              <a:rPr lang="en-US" altLang="en-US" dirty="0"/>
              <a:t>="alert('hi');"&gt;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Pseudo-URL referenced by a link</a:t>
            </a:r>
          </a:p>
          <a:p>
            <a:pPr marL="252000" lvl="3" indent="0">
              <a:lnSpc>
                <a:spcPct val="150000"/>
              </a:lnSpc>
              <a:buNone/>
            </a:pPr>
            <a:r>
              <a:rPr lang="en-US" altLang="en-US" dirty="0"/>
              <a:t>      &lt;a </a:t>
            </a:r>
            <a:r>
              <a:rPr lang="en-US" altLang="en-US" dirty="0" err="1"/>
              <a:t>href</a:t>
            </a:r>
            <a:r>
              <a:rPr lang="en-US" altLang="en-US" dirty="0"/>
              <a:t>=“JavaScript: alert(‘You clicked’);”&gt;Click me&lt;/a&gt;</a:t>
            </a:r>
          </a:p>
          <a:p>
            <a:pPr lvl="2">
              <a:lnSpc>
                <a:spcPct val="150000"/>
              </a:lnSpc>
            </a:pPr>
            <a:endParaRPr lang="en-US" altLang="en-US" dirty="0"/>
          </a:p>
          <a:p>
            <a:pPr lvl="1" algn="ctr">
              <a:lnSpc>
                <a:spcPct val="150000"/>
              </a:lnSpc>
            </a:pPr>
            <a:r>
              <a:rPr lang="en-US" altLang="en-US" dirty="0"/>
              <a:t>We are looking at JavaScript as a language; ignore BOM, DOM, AJAX</a:t>
            </a: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47545446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Language Features in This Class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8836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Stack memory management</a:t>
            </a:r>
          </a:p>
          <a:p>
            <a:pPr marL="639450" lvl="3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Parameters, local variables in activation records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Garbage collection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Closures</a:t>
            </a:r>
          </a:p>
          <a:p>
            <a:pPr marL="639450" lvl="3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Function together with environment (global variables)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Exceptions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Object features</a:t>
            </a:r>
          </a:p>
          <a:p>
            <a:pPr marL="639450" lvl="3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dirty="0"/>
              <a:t>Dynamic lookup, encapsulation, subtyping, inheritance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Concurrency</a:t>
            </a:r>
          </a:p>
        </p:txBody>
      </p:sp>
    </p:spTree>
    <p:extLst>
      <p:ext uri="{BB962C8B-B14F-4D97-AF65-F5344CB8AC3E}">
        <p14:creationId xmlns:p14="http://schemas.microsoft.com/office/powerpoint/2010/main" val="3315511522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Stack Memory Management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63B34-855F-1EBD-5923-86ECFA8BF90C}"/>
              </a:ext>
            </a:extLst>
          </p:cNvPr>
          <p:cNvSpPr/>
          <p:nvPr/>
        </p:nvSpPr>
        <p:spPr bwMode="auto">
          <a:xfrm>
            <a:off x="451022" y="1373711"/>
            <a:ext cx="2607275" cy="19152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1022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Local variables in activation record of function</a:t>
            </a:r>
          </a:p>
          <a:p>
            <a:pPr lvl="3">
              <a:lnSpc>
                <a:spcPct val="150000"/>
              </a:lnSpc>
              <a:buNone/>
            </a:pPr>
            <a:endParaRPr lang="en-US" altLang="en-US" dirty="0"/>
          </a:p>
          <a:p>
            <a:pPr lvl="3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function f(x) {</a:t>
            </a:r>
          </a:p>
          <a:p>
            <a:pPr lvl="3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    var y = 3;</a:t>
            </a:r>
          </a:p>
          <a:p>
            <a:pPr lvl="3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    function g(z) { return </a:t>
            </a:r>
            <a:r>
              <a:rPr lang="en-US" altLang="en-US" dirty="0" err="1">
                <a:solidFill>
                  <a:schemeClr val="bg1"/>
                </a:solidFill>
              </a:rPr>
              <a:t>y+z</a:t>
            </a:r>
            <a:r>
              <a:rPr lang="en-US" altLang="en-US" dirty="0">
                <a:solidFill>
                  <a:schemeClr val="bg1"/>
                </a:solidFill>
              </a:rPr>
              <a:t>;};</a:t>
            </a:r>
          </a:p>
          <a:p>
            <a:pPr lvl="3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    return g(x);</a:t>
            </a:r>
          </a:p>
          <a:p>
            <a:pPr lvl="3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}</a:t>
            </a:r>
          </a:p>
          <a:p>
            <a:pPr lvl="3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var x= 1; var y =2;</a:t>
            </a:r>
          </a:p>
          <a:p>
            <a:pPr lvl="3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</a:rPr>
              <a:t>f(x) + y;</a:t>
            </a:r>
          </a:p>
          <a:p>
            <a:pPr lvl="1">
              <a:lnSpc>
                <a:spcPct val="150000"/>
              </a:lnSpc>
              <a:buFontTx/>
              <a:buNone/>
            </a:pPr>
            <a:endParaRPr lang="en-US" altLang="en-US" dirty="0">
              <a:solidFill>
                <a:schemeClr val="folHlink"/>
              </a:solidFill>
            </a:endParaRPr>
          </a:p>
          <a:p>
            <a:pPr>
              <a:lnSpc>
                <a:spcPct val="15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12630993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Garbage Collection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8613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Automatic reclamation of unused memory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Navigator 2: per-page memory management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Reclaim memory when browser changes page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Navigator 3: reference counting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Each memory region has associated count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Count modified when pointers are changed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Reclaim memory when count reaches zero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Navigator 4: mark-and-sweep, or equivalent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Garbage collector marks reachable memory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Sweep and reclaim unreachable memory</a:t>
            </a:r>
          </a:p>
        </p:txBody>
      </p:sp>
    </p:spTree>
    <p:extLst>
      <p:ext uri="{BB962C8B-B14F-4D97-AF65-F5344CB8AC3E}">
        <p14:creationId xmlns:p14="http://schemas.microsoft.com/office/powerpoint/2010/main" val="1973549040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Closures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8613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Return a function from function call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function f(x) {</a:t>
            </a:r>
          </a:p>
          <a:p>
            <a:pPr lvl="2">
              <a:lnSpc>
                <a:spcPct val="150000"/>
              </a:lnSpc>
              <a:buNone/>
            </a:pPr>
            <a:r>
              <a:rPr lang="en-US" altLang="en-US" dirty="0"/>
              <a:t>    		var y = x;</a:t>
            </a:r>
          </a:p>
          <a:p>
            <a:pPr lvl="2">
              <a:lnSpc>
                <a:spcPct val="150000"/>
              </a:lnSpc>
              <a:buNone/>
            </a:pPr>
            <a:r>
              <a:rPr lang="en-US" altLang="en-US" dirty="0"/>
              <a:t>    		return function (z){y += z; return y;} </a:t>
            </a:r>
          </a:p>
          <a:p>
            <a:pPr lvl="2">
              <a:lnSpc>
                <a:spcPct val="150000"/>
              </a:lnSpc>
              <a:buNone/>
            </a:pPr>
            <a:r>
              <a:rPr lang="en-US" altLang="en-US" dirty="0"/>
              <a:t>       }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var h = f(5);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h(3);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Can use this idea to define objects with “private” fields (subtle)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See </a:t>
            </a:r>
            <a:r>
              <a:rPr lang="en-US" altLang="en-US" dirty="0">
                <a:solidFill>
                  <a:schemeClr val="accent2"/>
                </a:solidFill>
              </a:rPr>
              <a:t>http://www.crockford.com/JavaScript/private.html</a:t>
            </a:r>
          </a:p>
        </p:txBody>
      </p:sp>
    </p:spTree>
    <p:extLst>
      <p:ext uri="{BB962C8B-B14F-4D97-AF65-F5344CB8AC3E}">
        <p14:creationId xmlns:p14="http://schemas.microsoft.com/office/powerpoint/2010/main" val="3775606724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Exceptions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8613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Throw an expression of any type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dirty="0">
                <a:solidFill>
                  <a:schemeClr val="folHlink"/>
                </a:solidFill>
              </a:rPr>
              <a:t>	</a:t>
            </a:r>
            <a:r>
              <a:rPr lang="en-US" altLang="en-US" sz="1100" dirty="0"/>
              <a:t>throw "Error2";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1100" dirty="0"/>
              <a:t>	throw 42;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1100" dirty="0"/>
              <a:t>	throw {</a:t>
            </a:r>
            <a:r>
              <a:rPr lang="en-US" altLang="en-US" sz="1100" dirty="0" err="1"/>
              <a:t>toString</a:t>
            </a:r>
            <a:r>
              <a:rPr lang="en-US" altLang="en-US" sz="1100" dirty="0"/>
              <a:t>: function() { return "I'm an object!"; } };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Catch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2000" dirty="0">
                <a:solidFill>
                  <a:schemeClr val="folHlink"/>
                </a:solidFill>
              </a:rPr>
              <a:t>	</a:t>
            </a:r>
            <a:r>
              <a:rPr lang="en-US" altLang="en-US" sz="1100" dirty="0"/>
              <a:t>try {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1100" dirty="0">
                <a:solidFill>
                  <a:schemeClr val="folHlink"/>
                </a:solidFill>
              </a:rPr>
              <a:t>	</a:t>
            </a:r>
            <a:r>
              <a:rPr lang="en-US" altLang="en-US" sz="1100" dirty="0"/>
              <a:t>} catch (e if e == “</a:t>
            </a:r>
            <a:r>
              <a:rPr lang="en-US" altLang="en-US" sz="1100" dirty="0" err="1"/>
              <a:t>FirstException</a:t>
            </a:r>
            <a:r>
              <a:rPr lang="en-US" altLang="en-US" sz="1100" dirty="0"/>
              <a:t>") {        </a:t>
            </a:r>
            <a:r>
              <a:rPr lang="en-US" altLang="en-US" sz="1100" dirty="0">
                <a:solidFill>
                  <a:srgbClr val="CCCCD4"/>
                </a:solidFill>
              </a:rPr>
              <a:t>// do something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1100" dirty="0"/>
              <a:t>	} catch (e if e == “</a:t>
            </a:r>
            <a:r>
              <a:rPr lang="en-US" altLang="en-US" sz="1100" dirty="0" err="1"/>
              <a:t>SecondException</a:t>
            </a:r>
            <a:r>
              <a:rPr lang="en-US" altLang="en-US" sz="1100" dirty="0"/>
              <a:t>") {    </a:t>
            </a:r>
            <a:r>
              <a:rPr lang="en-US" altLang="en-US" sz="1100" dirty="0">
                <a:solidFill>
                  <a:srgbClr val="CCCCD4"/>
                </a:solidFill>
              </a:rPr>
              <a:t>// do something else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1100" dirty="0"/>
              <a:t>	} catch (e){                               </a:t>
            </a:r>
            <a:r>
              <a:rPr lang="en-US" altLang="en-US" sz="1100" dirty="0">
                <a:solidFill>
                  <a:srgbClr val="CCCCD4"/>
                </a:solidFill>
              </a:rPr>
              <a:t>// executed if no match above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en-US" sz="1100" dirty="0">
                <a:solidFill>
                  <a:schemeClr val="folHlink"/>
                </a:solidFill>
              </a:rPr>
              <a:t>	</a:t>
            </a:r>
            <a:r>
              <a:rPr lang="en-US" altLang="en-US" sz="1100" dirty="0"/>
              <a:t>} </a:t>
            </a:r>
            <a:endParaRPr lang="en-US" altLang="en-US" dirty="0"/>
          </a:p>
          <a:p>
            <a:pPr lvl="1">
              <a:buFontTx/>
              <a:buNone/>
            </a:pPr>
            <a:endParaRPr lang="en-US" altLang="en-US" dirty="0"/>
          </a:p>
          <a:p>
            <a:pPr lvl="1"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sz="1100" dirty="0">
                <a:solidFill>
                  <a:schemeClr val="tx1"/>
                </a:solidFill>
              </a:rPr>
              <a:t>Reference: http://developer.mozilla.org/en/docs/Core_JavaScript_1.5_Guide :</a:t>
            </a:r>
            <a:r>
              <a:rPr lang="en-US" altLang="en-US" sz="1100" dirty="0" err="1">
                <a:solidFill>
                  <a:schemeClr val="tx1"/>
                </a:solidFill>
              </a:rPr>
              <a:t>Exception_Handling_Statements</a:t>
            </a:r>
            <a:endParaRPr lang="en-US" altLang="en-US" sz="11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endParaRPr lang="en-US" altLang="en-US" sz="1100" dirty="0">
              <a:solidFill>
                <a:schemeClr val="tx1"/>
              </a:solidFill>
            </a:endParaRPr>
          </a:p>
          <a:p>
            <a:pPr lvl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9787096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Object features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8613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Dynamic lookup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Method depends on run-time value of object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Encapsulation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Object contains private data, public operations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Subtyping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Object of one type can be used in place of another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Inheritance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Use implementation of one kind of object to implement another kind of object</a:t>
            </a:r>
          </a:p>
          <a:p>
            <a:pPr>
              <a:lnSpc>
                <a:spcPct val="15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2493793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27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Concurrency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8613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JavaScript itself is single-threaded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How can we tell if a language provides concurrency?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AJAX provides a form of concurrency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Create </a:t>
            </a:r>
            <a:r>
              <a:rPr lang="en-US" altLang="en-US" dirty="0" err="1"/>
              <a:t>XMLHttpRequest</a:t>
            </a:r>
            <a:r>
              <a:rPr lang="en-US" altLang="en-US" dirty="0"/>
              <a:t> object, set callback function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Call request method, which continues asynchronously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Reply from remote site executes callback function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Event waits in event queue…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Closures important for proper execution of callbacks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Another form of concurrency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Use </a:t>
            </a:r>
            <a:r>
              <a:rPr lang="en-US" altLang="en-US" dirty="0" err="1"/>
              <a:t>SetTimeout</a:t>
            </a:r>
            <a:r>
              <a:rPr lang="en-US" altLang="en-US" dirty="0"/>
              <a:t> to do cooperative multi-tasking</a:t>
            </a:r>
          </a:p>
        </p:txBody>
      </p:sp>
    </p:spTree>
    <p:extLst>
      <p:ext uri="{BB962C8B-B14F-4D97-AF65-F5344CB8AC3E}">
        <p14:creationId xmlns:p14="http://schemas.microsoft.com/office/powerpoint/2010/main" val="2289075031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28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JavaScript eval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8613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Evaluate string as code </a:t>
            </a:r>
            <a:r>
              <a:rPr lang="en-US" altLang="en-US" dirty="0">
                <a:solidFill>
                  <a:schemeClr val="hlink"/>
                </a:solidFill>
              </a:rPr>
              <a:t>(seen this before?)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The </a:t>
            </a:r>
            <a:r>
              <a:rPr lang="en-US" altLang="en-US" dirty="0">
                <a:solidFill>
                  <a:schemeClr val="hlink"/>
                </a:solidFill>
              </a:rPr>
              <a:t>eval </a:t>
            </a:r>
            <a:r>
              <a:rPr lang="en-US" altLang="en-US" dirty="0"/>
              <a:t>function evaluates a string of JavaScript code, in scope of the calling code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var code = "var a = 1";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eval(code); // a is now '1‘</a:t>
            </a:r>
          </a:p>
          <a:p>
            <a:pPr lvl="3">
              <a:lnSpc>
                <a:spcPct val="150000"/>
              </a:lnSpc>
            </a:pPr>
            <a:r>
              <a:rPr lang="en-US" altLang="en-US" dirty="0"/>
              <a:t>var obj = new Object(); </a:t>
            </a:r>
          </a:p>
          <a:p>
            <a:pPr lvl="3">
              <a:lnSpc>
                <a:spcPct val="150000"/>
              </a:lnSpc>
            </a:pPr>
            <a:r>
              <a:rPr lang="en-US" altLang="en-US" dirty="0" err="1"/>
              <a:t>obj.eval</a:t>
            </a:r>
            <a:r>
              <a:rPr lang="en-US" altLang="en-US" dirty="0"/>
              <a:t>(code); // </a:t>
            </a:r>
            <a:r>
              <a:rPr lang="en-US" altLang="en-US" dirty="0" err="1"/>
              <a:t>obj.a</a:t>
            </a:r>
            <a:r>
              <a:rPr lang="en-US" altLang="en-US" dirty="0"/>
              <a:t> is now 1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Common use: efficiently deserialize a complicated data structure received over network via </a:t>
            </a:r>
            <a:r>
              <a:rPr lang="en-US" altLang="en-US" dirty="0" err="1"/>
              <a:t>XMLHttpRequest</a:t>
            </a:r>
            <a:r>
              <a:rPr lang="en-US" altLang="en-US" dirty="0"/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What does it cost to have </a:t>
            </a:r>
            <a:r>
              <a:rPr lang="en-US" altLang="en-US" dirty="0">
                <a:solidFill>
                  <a:schemeClr val="hlink"/>
                </a:solidFill>
              </a:rPr>
              <a:t>eval</a:t>
            </a:r>
            <a:r>
              <a:rPr lang="en-US" altLang="en-US" dirty="0"/>
              <a:t> in the language?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Can you do this in C? What would it take to implement?</a:t>
            </a:r>
          </a:p>
        </p:txBody>
      </p:sp>
    </p:spTree>
    <p:extLst>
      <p:ext uri="{BB962C8B-B14F-4D97-AF65-F5344CB8AC3E}">
        <p14:creationId xmlns:p14="http://schemas.microsoft.com/office/powerpoint/2010/main" val="1103301798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658287"/>
            <a:ext cx="7804467" cy="357712"/>
          </a:xfrm>
        </p:spPr>
        <p:txBody>
          <a:bodyPr/>
          <a:lstStyle/>
          <a:p>
            <a:r>
              <a:rPr lang="en-US" altLang="en-US" sz="1600" dirty="0"/>
              <a:t>Unusual Features of JavaScript</a:t>
            </a:r>
            <a:endParaRPr lang="en-GB" sz="1600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8613" y="1015999"/>
            <a:ext cx="7530953" cy="3622675"/>
          </a:xfr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Eval, run-time type checking functions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Support for pattern matching (reg. expressions)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Can add methods to an object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Can </a:t>
            </a:r>
            <a:r>
              <a:rPr lang="en-US" altLang="en-US" u="sng" dirty="0"/>
              <a:t>delete</a:t>
            </a:r>
            <a:r>
              <a:rPr lang="en-US" altLang="en-US" dirty="0"/>
              <a:t> methods of an object</a:t>
            </a:r>
          </a:p>
          <a:p>
            <a:pPr lvl="2">
              <a:lnSpc>
                <a:spcPct val="150000"/>
              </a:lnSpc>
            </a:pPr>
            <a:r>
              <a:rPr lang="en-US" altLang="en-US" dirty="0" err="1"/>
              <a:t>myobj.a</a:t>
            </a:r>
            <a:r>
              <a:rPr lang="en-US" altLang="en-US" dirty="0"/>
              <a:t> = 5; </a:t>
            </a:r>
            <a:r>
              <a:rPr lang="en-US" altLang="en-US" dirty="0" err="1"/>
              <a:t>myobj.b</a:t>
            </a:r>
            <a:r>
              <a:rPr lang="en-US" altLang="en-US" dirty="0"/>
              <a:t> = 12; delete </a:t>
            </a:r>
            <a:r>
              <a:rPr lang="en-US" altLang="en-US" dirty="0" err="1"/>
              <a:t>myobj.a</a:t>
            </a:r>
            <a:r>
              <a:rPr lang="en-US" altLang="en-US" dirty="0"/>
              <a:t>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Iterate over methods of an object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for (variable in object) { statements 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With statement (“considered harmful” – </a:t>
            </a:r>
            <a:r>
              <a:rPr lang="en-US" altLang="en-US" b="1" dirty="0">
                <a:solidFill>
                  <a:schemeClr val="hlink"/>
                </a:solidFill>
              </a:rPr>
              <a:t>why</a:t>
            </a:r>
            <a:r>
              <a:rPr lang="en-US" altLang="en-US" dirty="0">
                <a:solidFill>
                  <a:schemeClr val="hlink"/>
                </a:solidFill>
              </a:rPr>
              <a:t>?</a:t>
            </a:r>
            <a:r>
              <a:rPr lang="en-US" altLang="en-US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en-US" dirty="0"/>
              <a:t>with (object) { statements }</a:t>
            </a:r>
          </a:p>
          <a:p>
            <a:pPr lvl="1">
              <a:lnSpc>
                <a:spcPct val="15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2198835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BB822-9387-E234-60A5-7FF99D7814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JavaScript Loops Lab: Whale Talk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08CC8-BB05-EC52-0BBD-E1631E039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016CE-BC30-8EE3-E3E4-EC035DB706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40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FCDD6F-0D1D-E3C6-2112-CC69B5390A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JavaScript Objects Lab: Meal Maker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68DDB-0D42-DF61-356B-B2D0FCD4EB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7280A-6EF1-8560-DD25-7CA30D9C93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9293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77A84F-E591-6497-0A2D-4657954375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JavaScript Objects Lab: Team Stats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B08E7-D29A-1DB5-8621-9C0BEDBE8C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BEF60-4017-7B58-30EC-70C9698F78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43397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4E0FC-9AA1-3B4B-8AB1-1BA87299C5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JavaScript Scope Lab: Training Days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01ED5-1937-6753-FDA0-0A6180409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F36FA-57E8-E668-AB9B-AEF949EB8C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57493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utsche Bank title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9659FAA-5FD8-4348-BAB2-E491194513AB}"/>
    </a:ext>
  </a:extLst>
</a:theme>
</file>

<file path=ppt/theme/theme2.xml><?xml version="1.0" encoding="utf-8"?>
<a:theme xmlns:a="http://schemas.openxmlformats.org/drawingml/2006/main" name="Deutsche Bank content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22E8401-D8BC-4370-AC03-B59A964200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DB-ppt-master-16-9-en-2024-0508</Template>
  <TotalTime>374</TotalTime>
  <Words>2675</Words>
  <Application>Microsoft Office PowerPoint</Application>
  <PresentationFormat>On-screen Show (16:9)</PresentationFormat>
  <Paragraphs>419</Paragraphs>
  <Slides>34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Wingdings</vt:lpstr>
      <vt:lpstr>Monotype Sorts</vt:lpstr>
      <vt:lpstr>Times New Roman</vt:lpstr>
      <vt:lpstr>Courier New</vt:lpstr>
      <vt:lpstr>Deutsche Bank Text</vt:lpstr>
      <vt:lpstr>Arial</vt:lpstr>
      <vt:lpstr>Tahoma</vt:lpstr>
      <vt:lpstr>Deutsche Bank title master 2024 05</vt:lpstr>
      <vt:lpstr>Deutsche Bank content master 2024 05</vt:lpstr>
      <vt:lpstr>PowerPoint Presentation</vt:lpstr>
      <vt:lpstr>What’s a Scripting Language?</vt:lpstr>
      <vt:lpstr>Why JavaScript?</vt:lpstr>
      <vt:lpstr>JavaScript History </vt:lpstr>
      <vt:lpstr>Motivation for JavaScript</vt:lpstr>
      <vt:lpstr>Common Uses of JavaScript</vt:lpstr>
      <vt:lpstr>Example 1: Add Two Numbers</vt:lpstr>
      <vt:lpstr>Example 2: Browser Events</vt:lpstr>
      <vt:lpstr>Example 3: Page Manipulation</vt:lpstr>
      <vt:lpstr>Document Object Model (DOM)</vt:lpstr>
      <vt:lpstr>Browser and Document Structure </vt:lpstr>
      <vt:lpstr>Reading Properties with JavaScript</vt:lpstr>
      <vt:lpstr>Language Basics</vt:lpstr>
      <vt:lpstr>JavaScript Blocks</vt:lpstr>
      <vt:lpstr>JavaScript Primitive Datatypes</vt:lpstr>
      <vt:lpstr>Objects</vt:lpstr>
      <vt:lpstr>Functions</vt:lpstr>
      <vt:lpstr>Examples of Functions</vt:lpstr>
      <vt:lpstr>Anonymous Functions</vt:lpstr>
      <vt:lpstr>Basic Object Features</vt:lpstr>
      <vt:lpstr>JavaScript in Web Pages</vt:lpstr>
      <vt:lpstr>Language Features in This Class</vt:lpstr>
      <vt:lpstr>Stack Memory Management</vt:lpstr>
      <vt:lpstr>Garbage Collection</vt:lpstr>
      <vt:lpstr>Closures</vt:lpstr>
      <vt:lpstr>Exceptions</vt:lpstr>
      <vt:lpstr>Object features</vt:lpstr>
      <vt:lpstr>Concurrency</vt:lpstr>
      <vt:lpstr>JavaScript eval</vt:lpstr>
      <vt:lpstr>Unusual Features of JavaScript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 Majhi</dc:creator>
  <cp:keywords/>
  <dc:description/>
  <cp:lastModifiedBy>Cynthia Majhi</cp:lastModifiedBy>
  <cp:revision>7</cp:revision>
  <dcterms:created xsi:type="dcterms:W3CDTF">2024-07-01T15:40:41Z</dcterms:created>
  <dcterms:modified xsi:type="dcterms:W3CDTF">2024-07-04T14:22:06Z</dcterms:modified>
  <cp:category/>
</cp:coreProperties>
</file>